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 snapToObjects="1">
      <p:cViewPr varScale="1">
        <p:scale>
          <a:sx n="103" d="100"/>
          <a:sy n="103" d="100"/>
        </p:scale>
        <p:origin x="200" y="5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310128"/>
            <a:ext cx="2011680" cy="508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VMIND | STAJ PROJESI KONSEPT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EBF0FA"/>
                </a:solidFill>
                <a:latin typeface="Calibri"/>
              </a:rPr>
              <a:t>VMind Agentic Operations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Calibri"/>
              </a:rPr>
              <a:t>Kurum içi yapay zeka operasyon asistanı: soruları şirket kaynaklarına dayanarak cevaplayan,</a:t>
            </a:r>
          </a:p>
          <a:p>
            <a:pPr algn="l"/>
            <a:r>
              <a:rPr sz="1800" b="0">
                <a:solidFill>
                  <a:srgbClr val="94A3B8"/>
                </a:solidFill>
                <a:latin typeface="Calibri"/>
              </a:rPr>
              <a:t>sistemlerden veri okuyan ve riskli işlemleri insana bırakan bir çalışma aracı.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Hazırlayan: Emir (Stajyer)   ·   4 Temmuz 2026   ·   Çalışan prototip ile birlikte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1 /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Operasyon bilgisi dağınık, aynı sorular tekrar tekrar çözülüyor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EBF0FA"/>
                </a:solidFill>
                <a:latin typeface="Calibri"/>
              </a:rPr>
              <a:t>•  Bilgi 5 ayrı yerde</a:t>
            </a:r>
            <a:r>
              <a:rPr sz="1400" b="0">
                <a:solidFill>
                  <a:srgbClr val="94A3B8"/>
                </a:solidFill>
                <a:latin typeface="Calibri"/>
              </a:rPr>
              <a:t> — SMAX ticketları, vRPMind süreçleri, PortvMind cloud console, Logo muhasebe akışları ve runbook/prosedür dokümanları birbirinden kopuk.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BF0FA"/>
                </a:solidFill>
                <a:latin typeface="Calibri"/>
              </a:rPr>
              <a:t>•  Tekrar eden incident'lar</a:t>
            </a:r>
            <a:r>
              <a:rPr sz="1400" b="0">
                <a:solidFill>
                  <a:srgbClr val="94A3B8"/>
                </a:solidFill>
                <a:latin typeface="Calibri"/>
              </a:rPr>
              <a:t> — Network ekibi daha önce çözülmüş sorunların cevabını her seferinde yeniden arıyor; çözüm bilgisi ticket geçmişinde kayboluyor.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BF0FA"/>
                </a:solidFill>
                <a:latin typeface="Calibri"/>
              </a:rPr>
              <a:t>•  Yeni başlayan / stajyer bariyeri</a:t>
            </a:r>
            <a:r>
              <a:rPr sz="1400" b="0">
                <a:solidFill>
                  <a:srgbClr val="94A3B8"/>
                </a:solidFill>
                <a:latin typeface="Calibri"/>
              </a:rPr>
              <a:t> — Doğru dokümanı ve doğru kişiyi bulmak uzun sürüyor; onboarding yavaş ilerliyor.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EBF0FA"/>
                </a:solidFill>
                <a:latin typeface="Calibri"/>
              </a:rPr>
              <a:t>•  Süreç soruları kişiye bağımlı</a:t>
            </a:r>
            <a:r>
              <a:rPr sz="1400" b="0">
                <a:solidFill>
                  <a:srgbClr val="94A3B8"/>
                </a:solidFill>
                <a:latin typeface="Calibri"/>
              </a:rPr>
              <a:t> — "Cari mutabakat için hangi belge lazım?" gibi soruların cevabı belirli kişilerin bilgisine bağlı.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4846320" cy="402336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0" y="196596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SONUÇ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331720"/>
            <a:ext cx="42976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BF0FA"/>
                </a:solidFill>
                <a:latin typeface="Calibri"/>
              </a:rPr>
              <a:t>Aynı bilgi defalarca aranıyor,</a:t>
            </a:r>
          </a:p>
          <a:p>
            <a:pPr algn="l"/>
            <a:r>
              <a:rPr sz="2000" b="1">
                <a:solidFill>
                  <a:srgbClr val="EBF0FA"/>
                </a:solidFill>
                <a:latin typeface="Calibri"/>
              </a:rPr>
              <a:t>çözüm süresi uzuyor,</a:t>
            </a:r>
          </a:p>
          <a:p>
            <a:pPr algn="l"/>
            <a:r>
              <a:rPr sz="2000" b="1">
                <a:solidFill>
                  <a:srgbClr val="EBF0FA"/>
                </a:solidFill>
                <a:latin typeface="Calibri"/>
              </a:rPr>
              <a:t>kurumsal hafıza kullanılamıyor.</a:t>
            </a:r>
          </a:p>
          <a:p>
            <a:pPr algn="l"/>
            <a:endParaRPr sz="2000" b="1">
              <a:solidFill>
                <a:srgbClr val="EBF0FA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Bu hafıza aslında VMind'in en değerli varlıklarından biri: gerçek ticket geçmişi, gerçek süreçler, gerçek cloud operasyon verisi.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2 / ÇÖZÜM ÖNERISI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Tek bir güvenli AI operasyon katmanı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01B3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BF0FA"/>
                </a:solidFill>
                <a:latin typeface="Calibri"/>
              </a:rPr>
              <a:t>VMind Agentic Operations Hub; cloud, ticket, süreç ve finans bilgisini tek yerde toplar: cevap verir, kaynak gösterir, sistemden veri okur, onaylı taslak aksiyon hazırlar ve kritik durumda doğru ekibe devreder.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1. Kaynaklı cevap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2240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Calibri"/>
              </a:rPr>
              <a:t>Soruları doküman, runbook ve geçmiş ticketlara dayanarak cevaplar. Her cevapta kaynak (dosya, ticket no) gösterir. Kaynak yoksa tahmin uydurmaz, "bilmiyorum" 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880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31089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2. Read-only veri okuma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611880"/>
            <a:ext cx="2240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Calibri"/>
              </a:rPr>
              <a:t>Yetkili kullanıcı için SMAX ticket durumu, PortvMind kota/kaynak durumu, vRPMind süreç aşaması gibi bilgileri sadece okuma modunda sorgular.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31089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3. Taslak aksiyon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611880"/>
            <a:ext cx="2240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Calibri"/>
              </a:rPr>
              <a:t>Ticket taslağı, görev taslağı, kontrol listesi hazırlar. Hiçbir şeyi otomatik göndermez; yetkili onayı olmadan işlem yapılmaz.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288036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31089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4. İnsana devir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3611880"/>
            <a:ext cx="2240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Calibri"/>
              </a:rPr>
              <a:t>Emin olamadığı veya riskli durumlarda soruyu, denenen adımları ve kaynakları özetleyip doğru ekibe temiz bir devir yapar.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3 / NASIL ÇALIŞIR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Her soru aynı güvenlik hattından geçer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Kullanıcı sorusu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70048"/>
            <a:ext cx="1783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Web chat / işbaşı ekranı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87752" y="2651760"/>
            <a:ext cx="237744" cy="27432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52928" y="210312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2A1E10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24028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670048"/>
            <a:ext cx="1783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KVKK, rol (RBAC), veri sınıfı kontrolü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37760" y="2651760"/>
            <a:ext cx="237744" cy="27432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02936" y="210312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0096" y="224028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096" y="2670048"/>
            <a:ext cx="1783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Niyeti anlar, doğru kaynağa yönlendirir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7768" y="2651760"/>
            <a:ext cx="237744" cy="27432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52944" y="210312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90104" y="224028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RAG + Tool katmanı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2670048"/>
            <a:ext cx="1783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Doküman/ticket arama + read-only API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637776" y="2651760"/>
            <a:ext cx="237744" cy="274320"/>
          </a:xfrm>
          <a:prstGeom prst="right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902952" y="210312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0F241A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40112" y="224028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Cevap veya devir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0112" y="2670048"/>
            <a:ext cx="1783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Kaynaklı cevap, taslak aksiyon ya da insana devir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77639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BOTUN HER CEVAPTA İZLEDİĞİ SIRA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5720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Niyeti belirle, yetki ve veri sınıfını kontrol et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Kaynak ara; kaynak yeterliyse kaynaklı cevap ver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Kaynak yetersizse tahmin üretme, eksiği söyle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5720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Riskli işlem varsa onay iste, asla otomatik yapma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Edge-case durumunda insana temiz özetle devret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Her karar için audit (iz) kaydı oluştur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4 / VERI KAYNAKLARI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Beş kaynak, kontrollü başlangıç modları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Kaynak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737360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İlk kullanım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37360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MVP modu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11064240" cy="658368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BF0FA"/>
                </a:solidFill>
                <a:latin typeface="Calibri"/>
              </a:rPr>
              <a:t>SMAX ticketları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395728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Incident çözüm hafızası, benzer ticket önerisi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395728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Anonimleştirilmiş export +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54096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BF0FA"/>
                </a:solidFill>
                <a:latin typeface="Calibri"/>
              </a:rPr>
              <a:t>vRPMind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54096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Süreç, görev, teklif ve departman akışları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054096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RAG + read-only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11064240" cy="658368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712464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BF0FA"/>
                </a:solidFill>
                <a:latin typeface="Calibri"/>
              </a:rPr>
              <a:t>PortvMind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712464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Cloud kaynak rehberi: compute, volume, network, K8s, kota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12464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RAG + read-only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70832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BF0FA"/>
                </a:solidFill>
                <a:latin typeface="Calibri"/>
              </a:rPr>
              <a:t>Logo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370832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Fatura, cari, mutabakat süreç soruları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70832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Sadece süreç dokümanı (API sonra)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74336"/>
            <a:ext cx="11064240" cy="658368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25603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BF0FA"/>
                </a:solidFill>
                <a:latin typeface="Calibri"/>
              </a:rPr>
              <a:t>Runbook / prosedürler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029200"/>
            <a:ext cx="5029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Network ve operasyon çözüm adımları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29200"/>
            <a:ext cx="31089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RAG + rol bazlı erişim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Calibri"/>
              </a:rPr>
              <a:t>Prototipte tüm kaynaklar mock (örnek) veriyle çalışıyor; gerçek bağlantılar aynı yapı üzerine eklenecek şekilde kurgulandı.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5 / GÜVENLIK VE YETKI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Önce güvenlik: KVKK, rol bazlı erişim, otomatik işlem yok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566160" cy="42976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VERİ SINIFLARI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public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web, ürün sayfaları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internal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prosedür, kılavuz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confidential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sözleşme, fiyat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pii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kişi verisi (maskeli)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financial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fatura, cari, ödeme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secret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şifre/anahtar: asla girmez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976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ROL BAZLI ERİŞİM (RBAC)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Stajyer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public + onboarding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Network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runbook + anonim ticket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Muhasebe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Logo süreç + finans özet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Cloud Ops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PortvMind read-only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Satış/CS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vRPMind süreç + müşteri notu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Admin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ayar, audit, connector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566160" cy="429768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1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BOT ASLA YAPMAZ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Otomatik muhasebe kaydı / ödeme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Silme, release, yetki değişikliği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Şifre, token, anahtar paylaşımı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Kaynaksız kesin cevap (uydurma)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Yetkisiz veri gösterme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EBF0FA"/>
                </a:solidFill>
                <a:latin typeface="Calibri"/>
              </a:rPr>
              <a:t>•  Onaysız yazma işlemi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6 / ÇALIŞAN PROTOTIP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Bu sadece fikir değil: workbench ekranı çalışıyor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age-2026-07-03T15-48-15-759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772400" cy="4371975"/>
          </a:xfrm>
          <a:prstGeom prst="rect">
            <a:avLst/>
          </a:prstGeom>
          <a:ln w="12700">
            <a:solidFill>
              <a:srgbClr val="2A3A5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68680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Sol menü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5 veri kaynağı, kapsam filtresi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Orta alan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soru-cevap çalışma alanı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Kaynak etiketi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her cevapta ticket/doküman referansı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Benzer ticketlar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geçmiş çözüm adımlarıyla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Taslak aksiyon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"otomatik gönderilmez" etiketiyle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EBF0FA"/>
                </a:solidFill>
                <a:latin typeface="Calibri"/>
              </a:rPr>
              <a:t>•  Sağ panel</a:t>
            </a:r>
            <a:r>
              <a:rPr sz="1250" b="0">
                <a:solidFill>
                  <a:srgbClr val="94A3B8"/>
                </a:solidFill>
                <a:latin typeface="Calibri"/>
              </a:rPr>
              <a:t> — rol, veri sınıfı, audit izi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7 / GÜVENLIK DAVRANIŞI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Yetkisiz istek gerçekten reddediliyor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age-2026-07-03T15-49-19-287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772400" cy="4371975"/>
          </a:xfrm>
          <a:prstGeom prst="rect">
            <a:avLst/>
          </a:prstGeom>
          <a:ln w="12700">
            <a:solidFill>
              <a:srgbClr val="2A3A5C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595360" y="1737360"/>
            <a:ext cx="3200400" cy="41148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23960" y="19202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ÖRNEK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286000"/>
            <a:ext cx="274320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BF0FA"/>
                </a:solidFill>
                <a:latin typeface="Calibri"/>
              </a:rPr>
              <a:t>Stajyer rolüyle "Cari mutabakat için hangi belgeler lazım?" sorulduğunda:</a:t>
            </a:r>
          </a:p>
          <a:p>
            <a:pPr algn="l"/>
            <a:endParaRPr sz="1300" b="0">
              <a:solidFill>
                <a:srgbClr val="EBF0FA"/>
              </a:solidFill>
              <a:latin typeface="Calibr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Bot cevabı biliyor ama vermiyor; "financial" veri sınıfına yetkiniz yok diyor ve doğru ekibe yönlendiriyor.</a:t>
            </a:r>
          </a:p>
          <a:p>
            <a:pPr algn="l"/>
            <a:endParaRPr sz="1300" b="0">
              <a:solidFill>
                <a:srgbClr val="94A3B8"/>
              </a:solidFill>
              <a:latin typeface="Calibr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Aynı soru Muhasebe rolüyle sorulunca kaynaklı cevap + belge kontrol listesi taslağı dönüyor.</a:t>
            </a:r>
          </a:p>
          <a:p>
            <a:pPr algn="l"/>
            <a:endParaRPr sz="1300" b="0">
              <a:solidFill>
                <a:srgbClr val="94A3B8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22C55E"/>
                </a:solidFill>
                <a:latin typeface="Calibri"/>
              </a:rPr>
              <a:t>Bu davranışlar otomatik testlerle de doğrulanıyor (19 test).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8 / DEMO SENARYOLARI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Prototipte şu an denenebilen dört akış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Calibri"/>
              </a:rPr>
              <a:t>Network — Ticket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BF0FA"/>
                </a:solidFill>
                <a:latin typeface="Calibri"/>
              </a:rPr>
              <a:t>"Müşteri VPN kopuyor diyor, benzer ticket var mı?"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Benzer SMAX ticketlarını benzerlik skoruyla listeler, geçmişte işe yaramış kontrol adımlarını kaynaklı özetler, ticket taslağı hazırlar.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Calibri"/>
              </a:rPr>
              <a:t>Cloud Ops — Backup/restore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BF0FA"/>
                </a:solidFill>
                <a:latin typeface="Calibri"/>
              </a:rPr>
              <a:t>"Volume backup restore nasıl yapılır, riskleri neler?"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9748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PortvMind dokümanından adımları verir, "mevcut verinin üzerine yazar" riskini vurgular, işlemi başlatmaz; onaylı görev taslağı önerir.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Calibri"/>
              </a:rPr>
              <a:t>Satış/CS — Süreç takibi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BF0FA"/>
                </a:solidFill>
                <a:latin typeface="Calibri"/>
              </a:rPr>
              <a:t>"Teklif süreci muhasebe onayı bekliyor, sonraki adım ne?"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vRPMind süreç mantığını açıklar; sorumlu, termin (SLA) ve gerekli belgeleri listeler, hatırlatma görevi taslağı hazırlar.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02336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Calibri"/>
              </a:rPr>
              <a:t>Muhasebe — Süreç sorusu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5262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EBF0FA"/>
                </a:solidFill>
                <a:latin typeface="Calibri"/>
              </a:rPr>
              <a:t>"Cari mutabakat için hangi belgeler lazım?"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029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Logo süreç dokümanından belge listesini kaynaklı verir; muhasebe kaydı oluşturmaz, sadece kontrol listesi taslağı çıkarır.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9 / 30 GÜNLÜK YOL HARITASI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Prototipten pilota dört haftalık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42062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HAFTA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7627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BF0FA"/>
                </a:solidFill>
                <a:latin typeface="Calibri"/>
              </a:rPr>
              <a:t>Kaynak ve izin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50-100 anonim SMAX ticket export'u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Runbook ve süreç dokümanlarını toplama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Veri sınıfı + RBAC tablosunu onaylatma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30-50 soruluk eval (test) seti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691640"/>
            <a:ext cx="2651760" cy="42062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39312" y="1874519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HAFTA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17627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BF0FA"/>
                </a:solidFill>
                <a:latin typeface="Calibri"/>
              </a:rPr>
              <a:t>RAG temel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6974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Kaynak deposu + metadata şeması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Vector DB seçimi (Qdrant / pgvector)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Hybrid arama: vector + keyword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"Kaynak yoksa cevap yok" testi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691640"/>
            <a:ext cx="2651760" cy="42062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55664" y="1874519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HAFTA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17627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BF0FA"/>
                </a:solidFill>
                <a:latin typeface="Calibri"/>
              </a:rPr>
              <a:t>Tool/API taslakları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6974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SMAX benzer ticket arama (read-only)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PortvMind read-only mock API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Taslak üreten, göndermeyen aksiyonlar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Audit log: soru, kaynak, karar, kullanıcı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9136" y="1691640"/>
            <a:ext cx="2651760" cy="420624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72016" y="1874519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HAFTA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17627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BF0FA"/>
                </a:solidFill>
                <a:latin typeface="Calibri"/>
              </a:rPr>
              <a:t>Pilot ve ölçüm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6974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Network ekibiyle 10-20 gerçek soru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Halüsinasyon ve yetki reddi testleri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Eksik doküman listesi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94A3B8"/>
                </a:solidFill>
                <a:latin typeface="Calibri"/>
              </a:rPr>
              <a:t>•  Yönetici özeti + demo anlatımı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10 / BAŞARI ÖLÇÜTLERI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Pilotun başarısını nasıl ölçeceğiz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9019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%85+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Kaynaklı cevap doğruluğu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7373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8" y="19019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%95+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5603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Kaynak yokken uydurmama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7373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03336" y="19019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%70+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3336" y="25603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Benzer ticket bulma isabeti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5021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&lt; 5 sn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605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İlk cevap süresi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8" y="33375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36008" y="35021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%100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8" y="41605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Yetkisiz veri reddi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333756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03336" y="3502152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2C55E"/>
                </a:solidFill>
                <a:latin typeface="Calibri"/>
              </a:rPr>
              <a:t>4/5+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41605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Pilot kullanıcı memnuniyeti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20640"/>
            <a:ext cx="10881360" cy="11430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BİLİNÇLİ OLARAK KAPSAM DIŞI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Otomatik muhasebe kaydı · riskli cloud işlemleri (silme, release, ödeme, yetki) · müşteri verisiyle geniş pilot · fine-tuning · tüm sistemlere aynı anda entegrasyon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11 / SONRAKI ADIMLAR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EBF0FA"/>
                </a:solidFill>
                <a:latin typeface="Calibri"/>
              </a:rPr>
              <a:t>Devam etmek için ihtiyacım olanlar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61872"/>
            <a:ext cx="8229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440680" cy="41148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2C55E"/>
                </a:solidFill>
                <a:latin typeface="Calibri"/>
              </a:rPr>
              <a:t>ŞU AN HAZIR OLAN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Çalışan workbench prototipi (örnek veriyle)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Yetki (RBAC) ve veri sınıfı modeli kodda uygulanmış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Kaynaklı cevap + red davranışları otomatik testli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4 demo senaryosu canlı denenebilir durumda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440680" cy="4114800"/>
          </a:xfrm>
          <a:prstGeom prst="roundRect">
            <a:avLst>
              <a:gd name="adj" fmla="val 6000"/>
            </a:avLst>
          </a:prstGeom>
          <a:solidFill>
            <a:srgbClr val="141D33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ONAY / DESTEK İHTİYACI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5029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15 dk canlı demo için uygun bir zaman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50-100 adet anonimleştirilmiş SMAX ticket export'u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Network runbook/prosedürlerine okuma erişimi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Pilot için 2-3 kişilik network ekibi gönüllüsü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F0FA"/>
                </a:solidFill>
                <a:latin typeface="Calibri"/>
              </a:rPr>
              <a:t>•  Veri sınıfı ve RBAC tablosunun gözden geçirilmesi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BF0FA"/>
                </a:solidFill>
                <a:latin typeface="Calibri"/>
              </a:rPr>
              <a:t>Teşekkürler — geri bildirimlerinizi bekliyorum. Demo her an gösterilebilir durumda.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1319</Words>
  <Application>Microsoft Macintosh PowerPoint</Application>
  <PresentationFormat>Widescreen</PresentationFormat>
  <Paragraphs>179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Emir Duman</cp:lastModifiedBy>
  <cp:revision>1</cp:revision>
  <dcterms:created xsi:type="dcterms:W3CDTF">2013-01-27T09:14:16Z</dcterms:created>
  <dcterms:modified xsi:type="dcterms:W3CDTF">2026-07-04T17:21:42Z</dcterms:modified>
  <cp:category/>
</cp:coreProperties>
</file>