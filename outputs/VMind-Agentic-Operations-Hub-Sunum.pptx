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8"/>
  </p:normalViewPr>
  <p:slideViewPr>
    <p:cSldViewPr snapToGrid="0" snapToObjects="1">
      <p:cViewPr varScale="1">
        <p:scale>
          <a:sx n="103" d="100"/>
          <a:sy n="103" d="100"/>
        </p:scale>
        <p:origin x="200" y="5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310128"/>
            <a:ext cx="201168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Calibri"/>
              </a:rPr>
              <a:t>VMIND | STAJ PROJESI KONSEPT SUNUMU — V2 (GERI BILDIRIM SONRASI GUNCELLENDI)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EBF0FA"/>
                </a:solidFill>
                <a:latin typeface="Calibri"/>
              </a:rPr>
              <a:t>VMind Agentic Operations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Kurum içi yapay zeka operasyon asistanı: soruları dokümante edilmiş knowledge base</a:t>
            </a:r>
          </a:p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makalelerine dayanarak cevaplayan, sistemleri okuyan ve riskli işleri insana bırakan araç.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Hazırlayan: Emir (Stajyer)   ·   5 Temmuz 2026   ·   Çalışan prototip ile birlikte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Calibri"/>
              </a:rPr>
              <a:t>1 / GERI BILDIRIM VE REVIZYON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BF0FA"/>
                </a:solidFill>
                <a:latin typeface="Calibri"/>
              </a:rPr>
              <a:t>Geri bildirim üzerine yaklaşım güncellendi: knowledge base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82296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440680" cy="411480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ALINAN GERI BILDIRIM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49377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BF0FA"/>
                </a:solidFill>
                <a:latin typeface="Calibri"/>
              </a:rPr>
              <a:t>"Ticketlardan yola çıkarak yapamazsın; knowledge base üzerinden problemler dokümante edilerek ilerlenebilir. Ticketlardan çözüm çıkmaz."</a:t>
            </a:r>
          </a:p>
          <a:p>
            <a:pPr algn="l"/>
            <a:endParaRPr sz="1500" b="0">
              <a:solidFill>
                <a:srgbClr val="EBF0FA"/>
              </a:solidFill>
              <a:latin typeface="Calibri"/>
            </a:endParaRPr>
          </a:p>
          <a:p>
            <a:pPr algn="l"/>
            <a:r>
              <a:rPr sz="1300" b="1">
                <a:solidFill>
                  <a:srgbClr val="94A3B8"/>
                </a:solidFill>
                <a:latin typeface="Calibri"/>
              </a:rPr>
              <a:t>Neden haklı bir tespit: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Ticket çözüm alanları çoğu zaman boş veya bağlamsız ("restart atıldı, geçti"). İçerik doğrulanmamış ve kişi verisi içeriyor. Cevap üretmek için güvenilir zemin değil.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5440680" cy="411480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874519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Calibri"/>
              </a:rPr>
              <a:t>YAPILAN REVIZYON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EBF0FA"/>
                </a:solidFill>
                <a:latin typeface="Calibri"/>
              </a:rPr>
              <a:t>•  KB birincil kaynak</a:t>
            </a:r>
            <a:r>
              <a:rPr sz="1300" b="0">
                <a:solidFill>
                  <a:srgbClr val="94A3B8"/>
                </a:solidFill>
                <a:latin typeface="Calibri"/>
              </a:rPr>
              <a:t> — cevaplar dokümante edilmiş problem/çözüm makalelerinden gelir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EBF0FA"/>
                </a:solidFill>
                <a:latin typeface="Calibri"/>
              </a:rPr>
              <a:t>•  Ticket = sinyal</a:t>
            </a:r>
            <a:r>
              <a:rPr sz="1300" b="0">
                <a:solidFill>
                  <a:srgbClr val="94A3B8"/>
                </a:solidFill>
                <a:latin typeface="Calibri"/>
              </a:rPr>
              <a:t> — en sık tekrar eden problemler dokümantasyon kuyruğunu besler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EBF0FA"/>
                </a:solidFill>
                <a:latin typeface="Calibri"/>
              </a:rPr>
              <a:t>•  Kaynak vaka referansı</a:t>
            </a:r>
            <a:r>
              <a:rPr sz="1300" b="0">
                <a:solidFill>
                  <a:srgbClr val="94A3B8"/>
                </a:solidFill>
                <a:latin typeface="Calibri"/>
              </a:rPr>
              <a:t> — KB makalesi hangi geçmiş vakalardan doğduğunu gösterir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EBF0FA"/>
                </a:solidFill>
                <a:latin typeface="Calibri"/>
              </a:rPr>
              <a:t>•  Prototip güncellendi</a:t>
            </a:r>
            <a:r>
              <a:rPr sz="1300" b="0">
                <a:solidFill>
                  <a:srgbClr val="94A3B8"/>
                </a:solidFill>
                <a:latin typeface="Calibri"/>
              </a:rPr>
              <a:t> — kod, testler ve ekranlar KB-first çalışıyor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Calibri"/>
              </a:rPr>
              <a:t>2 /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BF0FA"/>
                </a:solidFill>
                <a:latin typeface="Calibri"/>
              </a:rPr>
              <a:t>Operasyon bilgisi dağınık ve dokümante edilmemiş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82296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EBF0FA"/>
                </a:solidFill>
                <a:latin typeface="Calibri"/>
              </a:rPr>
              <a:t>•  Bilgi 5 ayrı yerde</a:t>
            </a:r>
            <a:r>
              <a:rPr sz="1400" b="0">
                <a:solidFill>
                  <a:srgbClr val="94A3B8"/>
                </a:solidFill>
                <a:latin typeface="Calibri"/>
              </a:rPr>
              <a:t> — Knowledge base/runbook'lar, vRPMind süreçleri, PortvMind cloud console, Logo muhasebe akışları ve SMAX ticket sistemi birbirinden kopuk.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EBF0FA"/>
                </a:solidFill>
                <a:latin typeface="Calibri"/>
              </a:rPr>
              <a:t>•  Çözümler dokümante edilmiyor</a:t>
            </a:r>
            <a:r>
              <a:rPr sz="1400" b="0">
                <a:solidFill>
                  <a:srgbClr val="94A3B8"/>
                </a:solidFill>
                <a:latin typeface="Calibri"/>
              </a:rPr>
              <a:t> — Tekrar eden incident'ların çözümü kişilerin aklında veya bağlamsız ticket notlarında kalıyor; kurumsal hafızaya dönüşmüyor.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EBF0FA"/>
                </a:solidFill>
                <a:latin typeface="Calibri"/>
              </a:rPr>
              <a:t>•  Yeni başlayan / stajyer bariyeri</a:t>
            </a:r>
            <a:r>
              <a:rPr sz="1400" b="0">
                <a:solidFill>
                  <a:srgbClr val="94A3B8"/>
                </a:solidFill>
                <a:latin typeface="Calibri"/>
              </a:rPr>
              <a:t> — Doğru dokümanı ve doğru kişiyi bulmak uzun sürüyor; onboarding yavaş ilerliyor.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EBF0FA"/>
                </a:solidFill>
                <a:latin typeface="Calibri"/>
              </a:rPr>
              <a:t>•  Süreç soruları kişiye bağımlı</a:t>
            </a:r>
            <a:r>
              <a:rPr sz="1400" b="0">
                <a:solidFill>
                  <a:srgbClr val="94A3B8"/>
                </a:solidFill>
                <a:latin typeface="Calibri"/>
              </a:rPr>
              <a:t> — "Cari mutabakat için hangi belge lazım?" gibi soruların cevabı belirli kişilerin bilgisine bağlı.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737360"/>
            <a:ext cx="4846320" cy="402336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0" y="1965960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Calibri"/>
              </a:rPr>
              <a:t>SONUÇ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331720"/>
            <a:ext cx="42976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BF0FA"/>
                </a:solidFill>
                <a:latin typeface="Calibri"/>
              </a:rPr>
              <a:t>Aynı bilgi defalarca aranıyor,</a:t>
            </a:r>
          </a:p>
          <a:p>
            <a:pPr algn="l"/>
            <a:r>
              <a:rPr sz="2000" b="1">
                <a:solidFill>
                  <a:srgbClr val="EBF0FA"/>
                </a:solidFill>
                <a:latin typeface="Calibri"/>
              </a:rPr>
              <a:t>çözüm süresi uzuyor,</a:t>
            </a:r>
          </a:p>
          <a:p>
            <a:pPr algn="l"/>
            <a:r>
              <a:rPr sz="2000" b="1">
                <a:solidFill>
                  <a:srgbClr val="EBF0FA"/>
                </a:solidFill>
                <a:latin typeface="Calibri"/>
              </a:rPr>
              <a:t>bilgi kişilerde kalıyor.</a:t>
            </a:r>
          </a:p>
          <a:p>
            <a:pPr algn="l"/>
            <a:endParaRPr sz="2000" b="1">
              <a:solidFill>
                <a:srgbClr val="EBF0FA"/>
              </a:solidFill>
              <a:latin typeface="Calibri"/>
            </a:endParaRPr>
          </a:p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Çözümün iki ayağı var: problemleri knowledge base'de dokümante etmek ve bu bilgiyi herkese güvenli, kaynaklı şekilde açan bir asistan.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Calibri"/>
              </a:rPr>
              <a:t>3 / ÇÖZÜM ÖNERISI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BF0FA"/>
                </a:solidFill>
                <a:latin typeface="Calibri"/>
              </a:rPr>
              <a:t>Knowledge base + güvenli AI operasyon katmanı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82296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101B3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BF0FA"/>
                </a:solidFill>
                <a:latin typeface="Calibri"/>
              </a:rPr>
              <a:t>VMind Agentic Operations Hub; dokümante edilmiş problem/çözüm makalelerini, runbook ve süreç dokümanlarını tek katmanda toplar: kaynaklı cevap verir, sistemden read-only veri okur, taslak aksiyon hazırlar ve kritik durumda doğru ekibe devreder.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Calibri"/>
              </a:rPr>
              <a:t>1. KB'den kaynaklı cevap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22402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Calibri"/>
              </a:rPr>
              <a:t>Soruları knowledge base makaleleri, runbook ve süreç dokümanlarına dayanarak cevaplar. Her cevapta makale numarası (KB-001 gibi) ve doküman referansı gösterir. Kaynak yoksa uydurmaz.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88036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310896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Calibri"/>
              </a:rPr>
              <a:t>2. Read-only veri okuma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611880"/>
            <a:ext cx="22402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Calibri"/>
              </a:rPr>
              <a:t>Yetkili kullanıcı için PortvMind kota/kaynak durumu, vRPMind süreç aşaması gibi bilgileri sadece okuma modunda sorgular.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88036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310896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Calibri"/>
              </a:rPr>
              <a:t>3. Taslak aksiyon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80"/>
            <a:ext cx="22402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Calibri"/>
              </a:rPr>
              <a:t>Yeni KB makale taslağı, görev taslağı, kontrol listesi hazırlar. Hiçbir şeyi otomatik yayınlamaz/göndermez; ekip doğrulaması gerekir.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288036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52560" y="310896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Calibri"/>
              </a:rPr>
              <a:t>4. İnsana devir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611880"/>
            <a:ext cx="22402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Calibri"/>
              </a:rPr>
              <a:t>Emin olamadığı veya riskli durumlarda soruyu, denenen adımları ve kaynakları özetleyip doğru ekibe temiz bir devir yapar.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Calibri"/>
              </a:rPr>
              <a:t>4 / NASIL ÇALIŞIR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BF0FA"/>
                </a:solidFill>
                <a:latin typeface="Calibri"/>
              </a:rPr>
              <a:t>Ticket sinyalinden doğrulanmış bilgiye: dokümantasyon döngüsü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82296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BF0FA"/>
                </a:solidFill>
                <a:latin typeface="Calibri"/>
              </a:rPr>
              <a:t>SMAX sinyali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70048"/>
            <a:ext cx="1783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En sık tekrar eden problem kategorileri (anonim)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87752" y="2651760"/>
            <a:ext cx="237744" cy="274320"/>
          </a:xfrm>
          <a:prstGeom prst="rightArrow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852928" y="210312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90088" y="224028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BF0FA"/>
                </a:solidFill>
                <a:latin typeface="Calibri"/>
              </a:rPr>
              <a:t>Dokümantasyon kuyruğu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8" y="2670048"/>
            <a:ext cx="1783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Hangi problem KB'ye yazılacak, önceliklendirme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937760" y="2651760"/>
            <a:ext cx="237744" cy="274320"/>
          </a:xfrm>
          <a:prstGeom prst="rightArrow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202936" y="210312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0F241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40096" y="224028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BF0FA"/>
                </a:solidFill>
                <a:latin typeface="Calibri"/>
              </a:rPr>
              <a:t>KB makalesi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2670048"/>
            <a:ext cx="1783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Ekip yazar: kök neden, çözüm, doğrulama, sahip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287768" y="2651760"/>
            <a:ext cx="237744" cy="274320"/>
          </a:xfrm>
          <a:prstGeom prst="rightArrow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552944" y="210312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90104" y="224028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BF0FA"/>
                </a:solidFill>
                <a:latin typeface="Calibri"/>
              </a:rPr>
              <a:t>Asistan cevabı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0104" y="2670048"/>
            <a:ext cx="1783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KB + runbook kaynaklı, guardrails'ten geçer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637776" y="2651760"/>
            <a:ext cx="237744" cy="274320"/>
          </a:xfrm>
          <a:prstGeom prst="rightArrow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902952" y="210312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2A1E10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40112" y="224028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BF0FA"/>
                </a:solidFill>
                <a:latin typeface="Calibri"/>
              </a:rPr>
              <a:t>Geri besleme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40112" y="2670048"/>
            <a:ext cx="1783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Cevapsız sorular kuyruğa yeni madde ekler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77639"/>
            <a:ext cx="10881360" cy="210312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1605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Calibri"/>
              </a:rPr>
              <a:t>HER CEVAPTA UYGULANAN GUVENLIK SIRASI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57200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EBF0FA"/>
                </a:solidFill>
                <a:latin typeface="Calibri"/>
              </a:rPr>
              <a:t>•  Niyeti belirle, yetki ve veri sınıfını kontrol et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EBF0FA"/>
                </a:solidFill>
                <a:latin typeface="Calibri"/>
              </a:rPr>
              <a:t>•  KB/runbook/süreç dokümanında kaynak ara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EBF0FA"/>
                </a:solidFill>
                <a:latin typeface="Calibri"/>
              </a:rPr>
              <a:t>•  Kaynak yetersizse tahmin üretme; kuyruğa ekle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57200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EBF0FA"/>
                </a:solidFill>
                <a:latin typeface="Calibri"/>
              </a:rPr>
              <a:t>•  Ham ticket metninden asla çözüm üretme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EBF0FA"/>
                </a:solidFill>
                <a:latin typeface="Calibri"/>
              </a:rPr>
              <a:t>•  Riskli işlemde onay iste; edge-case'te insana devret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EBF0FA"/>
                </a:solidFill>
                <a:latin typeface="Calibri"/>
              </a:rPr>
              <a:t>•  Her karar için audit (iz) kaydı oluştur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Calibri"/>
              </a:rPr>
              <a:t>5 / VERI KAYNAKLARI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BF0FA"/>
                </a:solidFill>
                <a:latin typeface="Calibri"/>
              </a:rPr>
              <a:t>Knowledge base birincil kaynak, SMAX sadece sinyal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82296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256032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Calibri"/>
              </a:rPr>
              <a:t>Kaynak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691640"/>
            <a:ext cx="50292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Calibri"/>
              </a:rPr>
              <a:t>Rolü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91640"/>
            <a:ext cx="31089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Calibri"/>
              </a:rPr>
              <a:t>MVP modu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1064240" cy="603504"/>
          </a:xfrm>
          <a:prstGeom prst="rect">
            <a:avLst/>
          </a:prstGeom>
          <a:solidFill>
            <a:srgbClr val="14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295144"/>
            <a:ext cx="256032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BF0FA"/>
                </a:solidFill>
                <a:latin typeface="Calibri"/>
              </a:rPr>
              <a:t>Knowledge 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295144"/>
            <a:ext cx="50292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Dokümante edilmiş problem/çözüm makaleleri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295144"/>
            <a:ext cx="31089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Birincil cevap kaynağı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98648"/>
            <a:ext cx="256032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BF0FA"/>
                </a:solidFill>
                <a:latin typeface="Calibri"/>
              </a:rPr>
              <a:t>Runbook / prosedürler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898648"/>
            <a:ext cx="50292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Network ve operasyon çözüm adımları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898648"/>
            <a:ext cx="31089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RAG + rol bazlı erişim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47288"/>
            <a:ext cx="11064240" cy="603504"/>
          </a:xfrm>
          <a:prstGeom prst="rect">
            <a:avLst/>
          </a:prstGeom>
          <a:solidFill>
            <a:srgbClr val="14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502152"/>
            <a:ext cx="256032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BF0FA"/>
                </a:solidFill>
                <a:latin typeface="Calibri"/>
              </a:rPr>
              <a:t>vRPMind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502152"/>
            <a:ext cx="50292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Süreç, görev, teklif ve departman akışları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502152"/>
            <a:ext cx="31089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RAG + read-only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05656"/>
            <a:ext cx="256032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BF0FA"/>
                </a:solidFill>
                <a:latin typeface="Calibri"/>
              </a:rPr>
              <a:t>PortvMind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105656"/>
            <a:ext cx="50292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Cloud kaynak rehberi: compute, volume, network, kota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105656"/>
            <a:ext cx="31089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RAG + read-only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654296"/>
            <a:ext cx="11064240" cy="603504"/>
          </a:xfrm>
          <a:prstGeom prst="rect">
            <a:avLst/>
          </a:prstGeom>
          <a:solidFill>
            <a:srgbClr val="14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709160"/>
            <a:ext cx="256032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BF0FA"/>
                </a:solidFill>
                <a:latin typeface="Calibri"/>
              </a:rPr>
              <a:t>Logo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709160"/>
            <a:ext cx="50292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Fatura, cari, mutabakat süreç dokümanları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709160"/>
            <a:ext cx="31089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Sadece süreç dokümanı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312664"/>
            <a:ext cx="256032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Calibri"/>
              </a:rPr>
              <a:t>SMAX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5312664"/>
            <a:ext cx="50292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Cevap kaynağı DEĞİL; problem trend sinyali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312664"/>
            <a:ext cx="31089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Sinyal - dokümantasyon kuyruğu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035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  <a:latin typeface="Calibri"/>
              </a:rPr>
              <a:t>Prototipte tüm kaynaklar mock (örnek) veriyle çalışıyor; gerçek bağlantılar aynı yapı üzerine eklenecek şekilde kurgulandı.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Calibri"/>
              </a:rPr>
              <a:t>6 / KB MAKALE ŞABLONU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BF0FA"/>
                </a:solidFill>
                <a:latin typeface="Calibri"/>
              </a:rPr>
              <a:t>Her problem bu formatta dokümante edilir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82296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440680" cy="96012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80136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B82F6"/>
                </a:solidFill>
                <a:latin typeface="Calibri"/>
              </a:rPr>
              <a:t>Problem tanımı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1488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Calibri"/>
              </a:rPr>
              <a:t>Ne oluyor? Örn: "IPsec VPN tüneli belirli aralıklarla düşüyor"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91640"/>
            <a:ext cx="5440680" cy="96012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8" y="180136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B82F6"/>
                </a:solidFill>
                <a:latin typeface="Calibri"/>
              </a:rPr>
              <a:t>Belirtiler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21488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Calibri"/>
              </a:rPr>
              <a:t>Kullanıcının/operasyonun gördüğü semptomlar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88920"/>
            <a:ext cx="5440680" cy="96012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289864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B82F6"/>
                </a:solidFill>
                <a:latin typeface="Calibri"/>
              </a:rPr>
              <a:t>Kök neden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24612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Calibri"/>
              </a:rPr>
              <a:t>Doğrulanmış teknik neden; en sık nedenden başlayarak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788920"/>
            <a:ext cx="5440680" cy="96012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8" y="289864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B82F6"/>
                </a:solidFill>
                <a:latin typeface="Calibri"/>
              </a:rPr>
              <a:t>Çözüm adımları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324612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Calibri"/>
              </a:rPr>
              <a:t>Sıralı, uygulanabilir kontrol listesi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86200"/>
            <a:ext cx="5440680" cy="96012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" y="399592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B82F6"/>
                </a:solidFill>
                <a:latin typeface="Calibri"/>
              </a:rPr>
              <a:t>Doğrulama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3434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Calibri"/>
              </a:rPr>
              <a:t>Çözümün başarılı sayılma kriteri (örn: 24 saat kesintisiz)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886200"/>
            <a:ext cx="5440680" cy="96012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64808" y="399592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B82F6"/>
                </a:solidFill>
                <a:latin typeface="Calibri"/>
              </a:rPr>
              <a:t>Sahip + son doğrulama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43434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Calibri"/>
              </a:rPr>
              <a:t>Hangi ekip sorumlu, en son ne zaman doğrulandı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983480"/>
            <a:ext cx="5440680" cy="96012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" y="509320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B82F6"/>
                </a:solidFill>
                <a:latin typeface="Calibri"/>
              </a:rPr>
              <a:t>Kaynak vakalar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4406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Calibri"/>
              </a:rPr>
              <a:t>Makalenin doğduğu geçmiş ticket referansları (anonim)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Örnek: KB-001 "Site-to-site VPN tüneli periyodik kopuyor" — 3 geçmiş vakadan üretildi, Network Operasyon sahipliğinde, 18.06.2026'da doğrulandı.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Calibri"/>
              </a:rPr>
              <a:t>7 / ÇALIŞAN PROTOTIP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BF0FA"/>
                </a:solidFill>
                <a:latin typeface="Calibri"/>
              </a:rPr>
              <a:t>KB kaynaklı cevap: makale, kaynak ve taslak birlikte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82296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age-2026-07-05T07-38-37-228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772400" cy="4371975"/>
          </a:xfrm>
          <a:prstGeom prst="rect">
            <a:avLst/>
          </a:prstGeom>
          <a:ln w="12700">
            <a:solidFill>
              <a:srgbClr val="2A3A5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686800" y="17830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1">
                <a:solidFill>
                  <a:srgbClr val="EBF0FA"/>
                </a:solidFill>
                <a:latin typeface="Calibri"/>
              </a:rPr>
              <a:t>•  Sol menü</a:t>
            </a:r>
            <a:r>
              <a:rPr sz="1250" b="0">
                <a:solidFill>
                  <a:srgbClr val="94A3B8"/>
                </a:solidFill>
                <a:latin typeface="Calibri"/>
              </a:rPr>
              <a:t> — Knowledge Base en üstte; SMAX 'sinyal' etiketiyle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EBF0FA"/>
                </a:solidFill>
                <a:latin typeface="Calibri"/>
              </a:rPr>
              <a:t>•  Cevap</a:t>
            </a:r>
            <a:r>
              <a:rPr sz="1250" b="0">
                <a:solidFill>
                  <a:srgbClr val="94A3B8"/>
                </a:solidFill>
                <a:latin typeface="Calibri"/>
              </a:rPr>
              <a:t> — KB-001 makalesine dayalı, kök neden + kontrol sırası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EBF0FA"/>
                </a:solidFill>
                <a:latin typeface="Calibri"/>
              </a:rPr>
              <a:t>•  Kaynak etiketi</a:t>
            </a:r>
            <a:r>
              <a:rPr sz="1250" b="0">
                <a:solidFill>
                  <a:srgbClr val="94A3B8"/>
                </a:solidFill>
                <a:latin typeface="Calibri"/>
              </a:rPr>
              <a:t> — KB makale no + runbook referansı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EBF0FA"/>
                </a:solidFill>
                <a:latin typeface="Calibri"/>
              </a:rPr>
              <a:t>•  KB makale kartı</a:t>
            </a:r>
            <a:r>
              <a:rPr sz="1250" b="0">
                <a:solidFill>
                  <a:srgbClr val="94A3B8"/>
                </a:solidFill>
                <a:latin typeface="Calibri"/>
              </a:rPr>
              <a:t> — kök neden, doğrulama kriteri, sahip, kaynak vakalar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EBF0FA"/>
                </a:solidFill>
                <a:latin typeface="Calibri"/>
              </a:rPr>
              <a:t>•  Taslak</a:t>
            </a:r>
            <a:r>
              <a:rPr sz="1250" b="0">
                <a:solidFill>
                  <a:srgbClr val="94A3B8"/>
                </a:solidFill>
                <a:latin typeface="Calibri"/>
              </a:rPr>
              <a:t> — yeni KB maddesi önerisi; 'otomatik gönderilmez'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EBF0FA"/>
                </a:solidFill>
                <a:latin typeface="Calibri"/>
              </a:rPr>
              <a:t>•  Sağ panel</a:t>
            </a:r>
            <a:r>
              <a:rPr sz="1250" b="0">
                <a:solidFill>
                  <a:srgbClr val="94A3B8"/>
                </a:solidFill>
                <a:latin typeface="Calibri"/>
              </a:rPr>
              <a:t> — rol, veri sınıfı, audit izi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Calibri"/>
              </a:rPr>
              <a:t>8 / GÜVENLIK DAVRANIŞI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BF0FA"/>
                </a:solidFill>
                <a:latin typeface="Calibri"/>
              </a:rPr>
              <a:t>Yetkisiz istek gerçekten reddediliyor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82296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age-2026-07-05T07-39-10-541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772400" cy="4371975"/>
          </a:xfrm>
          <a:prstGeom prst="rect">
            <a:avLst/>
          </a:prstGeom>
          <a:ln w="12700">
            <a:solidFill>
              <a:srgbClr val="2A3A5C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8595360" y="1737360"/>
            <a:ext cx="3200400" cy="411480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23960" y="192024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Calibri"/>
              </a:rPr>
              <a:t>ÖRNEK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2286000"/>
            <a:ext cx="274320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BF0FA"/>
                </a:solidFill>
                <a:latin typeface="Calibri"/>
              </a:rPr>
              <a:t>Stajyer rolüyle "Cari mutabakat için hangi belgeler lazım?" sorulduğunda:</a:t>
            </a:r>
          </a:p>
          <a:p>
            <a:pPr algn="l"/>
            <a:endParaRPr sz="1300" b="0">
              <a:solidFill>
                <a:srgbClr val="EBF0FA"/>
              </a:solidFill>
              <a:latin typeface="Calibri"/>
            </a:endParaRP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Bot cevabı biliyor ama vermiyor; "financial" veri sınıfına yetkiniz yok diyor ve doğru ekibe yönlendiriyor.</a:t>
            </a:r>
          </a:p>
          <a:p>
            <a:pPr algn="l"/>
            <a:endParaRPr sz="1300" b="0">
              <a:solidFill>
                <a:srgbClr val="94A3B8"/>
              </a:solidFill>
              <a:latin typeface="Calibri"/>
            </a:endParaRP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Ayrıca: şifre/token istekleri her rolde reddedilir, riskli işlemler (silme, ödeme, release) otomatik yapılmaz.</a:t>
            </a:r>
          </a:p>
          <a:p>
            <a:pPr algn="l"/>
            <a:endParaRPr sz="1300" b="0">
              <a:solidFill>
                <a:srgbClr val="94A3B8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22C55E"/>
                </a:solidFill>
                <a:latin typeface="Calibri"/>
              </a:rPr>
              <a:t>Bu davranışlar otomatik testlerle doğrulanıyor (24 test).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Calibri"/>
              </a:rPr>
              <a:t>9 / DEMO SENARYOLARI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BF0FA"/>
                </a:solidFill>
                <a:latin typeface="Calibri"/>
              </a:rPr>
              <a:t>Prototipte şu an denenebilen dört akış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82296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Calibri"/>
              </a:rPr>
              <a:t>Network — Problem çözümü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BF0FA"/>
                </a:solidFill>
                <a:latin typeface="Calibri"/>
              </a:rPr>
              <a:t>"Müşteri VPN kopuyor diyor, hangi runbook'a bakmalıyım?"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KB-001 makalesinden dokümante kök neden ve kontrol sırasını kaynaklı verir; makale kartında sahip, doğrulama kriteri ve kaynak vakalar görünür.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Calibri"/>
              </a:rPr>
              <a:t>Cloud Ops — Backup/restore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BF0FA"/>
                </a:solidFill>
                <a:latin typeface="Calibri"/>
              </a:rPr>
              <a:t>"Volume backup restore nasıl yapılır, riskleri neler?"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9748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KB-002 + PortvMind rehberinden adımları verir, "mevcut verinin üzerine yazar" riskini vurgular; işlemi başlatmaz, onaylı görev taslağı önerir.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2336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Calibri"/>
              </a:rPr>
              <a:t>Satış/CS — Süreç takibi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BF0FA"/>
                </a:solidFill>
                <a:latin typeface="Calibri"/>
              </a:rPr>
              <a:t>"Teklif süreci muhasebe onayı bekliyor, sonraki adım ne?"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2920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vRPMind süreç dokümanı + KB-004'ten sorumlu, termin (SLA) ve belgeleri listeler, hatırlatma görevi taslağı hazırlar.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02336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416052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Calibri"/>
              </a:rPr>
              <a:t>Muhasebe — Süreç sorusu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5262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BF0FA"/>
                </a:solidFill>
                <a:latin typeface="Calibri"/>
              </a:rPr>
              <a:t>"Cari mutabakat için hangi belgeler lazım?"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02920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Logo süreç dokümanı + KB-005'ten belge listesini kaynaklı verir; muhasebe kaydı oluşturmaz, kontrol listesi taslağı çıkarır.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Calibri"/>
              </a:rPr>
              <a:t>10 / 30 GÜNLÜK YOL HARITASI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BF0FA"/>
                </a:solidFill>
                <a:latin typeface="Calibri"/>
              </a:rPr>
              <a:t>Önce knowledge base, sonra 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82296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2651760" cy="420624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Calibri"/>
              </a:rPr>
              <a:t>HAFTA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76272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BF0FA"/>
                </a:solidFill>
                <a:latin typeface="Calibri"/>
              </a:rPr>
              <a:t>Knowledge base kurulumu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2377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50">
                <a:solidFill>
                  <a:srgbClr val="94A3B8"/>
                </a:solidFill>
                <a:latin typeface="Calibri"/>
              </a:rPr>
              <a:t>•  Problem dokümantasyon şablonunu onaylat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94A3B8"/>
                </a:solidFill>
                <a:latin typeface="Calibri"/>
              </a:rPr>
              <a:t>•  SMAX'tan en sık problem kategorileri (sadece sinyal)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94A3B8"/>
                </a:solidFill>
                <a:latin typeface="Calibri"/>
              </a:rPr>
              <a:t>•  İlk 20-30 KB makalesini ekiplerle yaz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94A3B8"/>
                </a:solidFill>
                <a:latin typeface="Calibri"/>
              </a:rPr>
              <a:t>•  Veri sınıfı + RBAC onayı, eval seti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691640"/>
            <a:ext cx="2651760" cy="420624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9312" y="1874519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Calibri"/>
              </a:rPr>
              <a:t>HAFTA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176272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BF0FA"/>
                </a:solidFill>
                <a:latin typeface="Calibri"/>
              </a:rPr>
              <a:t>RAG temel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697480"/>
            <a:ext cx="2377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50">
                <a:solidFill>
                  <a:srgbClr val="94A3B8"/>
                </a:solidFill>
                <a:latin typeface="Calibri"/>
              </a:rPr>
              <a:t>•  Markdown tabanlı Problem KB deposu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94A3B8"/>
                </a:solidFill>
                <a:latin typeface="Calibri"/>
              </a:rPr>
              <a:t>•  Vector DB seçimi (Qdrant / pgvector)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94A3B8"/>
                </a:solidFill>
                <a:latin typeface="Calibri"/>
              </a:rPr>
              <a:t>•  Hybrid arama: vector + keyword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94A3B8"/>
                </a:solidFill>
                <a:latin typeface="Calibri"/>
              </a:rPr>
              <a:t>•  "Kaynak yoksa cevap yok" testi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4" y="1691640"/>
            <a:ext cx="2651760" cy="420624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5664" y="1874519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Calibri"/>
              </a:rPr>
              <a:t>HAFTA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176272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BF0FA"/>
                </a:solidFill>
                <a:latin typeface="Calibri"/>
              </a:rPr>
              <a:t>Tool/API taslakları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697480"/>
            <a:ext cx="2377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50">
                <a:solidFill>
                  <a:srgbClr val="94A3B8"/>
                </a:solidFill>
                <a:latin typeface="Calibri"/>
              </a:rPr>
              <a:t>•  Cevapsız soruları dokümantasyon kuyruğuna düşüren akış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94A3B8"/>
                </a:solidFill>
                <a:latin typeface="Calibri"/>
              </a:rPr>
              <a:t>•  PortvMind read-only mock API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94A3B8"/>
                </a:solidFill>
                <a:latin typeface="Calibri"/>
              </a:rPr>
              <a:t>•  KB taslağı üreten ama yayınlamayan aksiyon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94A3B8"/>
                </a:solidFill>
                <a:latin typeface="Calibri"/>
              </a:rPr>
              <a:t>•  Audit log: soru, kaynak, karar, kullanıcı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89136" y="1691640"/>
            <a:ext cx="2651760" cy="420624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72016" y="1874519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Calibri"/>
              </a:rPr>
              <a:t>HAFTA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2016" y="2176272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BF0FA"/>
                </a:solidFill>
                <a:latin typeface="Calibri"/>
              </a:rPr>
              <a:t>Pilot ve ölçüm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2016" y="2697480"/>
            <a:ext cx="2377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50">
                <a:solidFill>
                  <a:srgbClr val="94A3B8"/>
                </a:solidFill>
                <a:latin typeface="Calibri"/>
              </a:rPr>
              <a:t>•  Network ekibiyle 10-20 gerçek soru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94A3B8"/>
                </a:solidFill>
                <a:latin typeface="Calibri"/>
              </a:rPr>
              <a:t>•  Halüsinasyon ve yetki reddi testleri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94A3B8"/>
                </a:solidFill>
                <a:latin typeface="Calibri"/>
              </a:rPr>
              <a:t>•  KB kapsam skoru: soruların % kaçı makaleyle karşılanıyor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94A3B8"/>
                </a:solidFill>
                <a:latin typeface="Calibri"/>
              </a:rPr>
              <a:t>•  Yönetici özeti + demo anlatımı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Calibri"/>
              </a:rPr>
              <a:t>11 / BAŞARI ÖLÇÜTLERI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BF0FA"/>
                </a:solidFill>
                <a:latin typeface="Calibri"/>
              </a:rPr>
              <a:t>Pilotun başarısını nasıl ölçeceğiz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82296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01952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2C55E"/>
                </a:solidFill>
                <a:latin typeface="Calibri"/>
              </a:rPr>
              <a:t>%85+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Kaynaklı cevap doğruluğu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73736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8" y="1901952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2C55E"/>
                </a:solidFill>
                <a:latin typeface="Calibri"/>
              </a:rPr>
              <a:t>%95+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5603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Kaynak yokken uydurmama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74736" y="173736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03336" y="1901952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2C55E"/>
                </a:solidFill>
                <a:latin typeface="Calibri"/>
              </a:rPr>
              <a:t>%70+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3336" y="25603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Problem KB kapsama oranı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3756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502152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2C55E"/>
                </a:solidFill>
                <a:latin typeface="Calibri"/>
              </a:rPr>
              <a:t>&lt; 5 sn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605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İlk cevap süresi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7408" y="333756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36008" y="3502152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2C55E"/>
                </a:solidFill>
                <a:latin typeface="Calibri"/>
              </a:rPr>
              <a:t>%100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8" y="41605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Yetkisiz veri reddi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333756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03336" y="3502152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2C55E"/>
                </a:solidFill>
                <a:latin typeface="Calibri"/>
              </a:rPr>
              <a:t>4/5+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3336" y="41605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Pilot kullanıcı memnuniyeti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120640"/>
            <a:ext cx="10881360" cy="114300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25780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BİLİNÇLİ OLARAK KAPSAM DIŞI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Ticket metninden otomatik çözüm üretme · otomatik muhasebe kaydı · riskli cloud işlemleri (silme, release, ödeme, yetki) · müşteri verisiyle geniş pilot · fine-tuning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Calibri"/>
              </a:rPr>
              <a:t>12 / SONRAKI ADIMLAR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BF0FA"/>
                </a:solidFill>
                <a:latin typeface="Calibri"/>
              </a:rPr>
              <a:t>Devam etmek için ihtiyacım olanlar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82296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440680" cy="411480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Calibri"/>
              </a:rPr>
              <a:t>ŞU AN HAZIR OLAN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EBF0FA"/>
                </a:solidFill>
                <a:latin typeface="Calibri"/>
              </a:rPr>
              <a:t>•  KB-first çalışan workbench prototipi (örnek veriyle)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EBF0FA"/>
                </a:solidFill>
                <a:latin typeface="Calibri"/>
              </a:rPr>
              <a:t>•  KB makale şablonu ve örnek 5 makale modeli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EBF0FA"/>
                </a:solidFill>
                <a:latin typeface="Calibri"/>
              </a:rPr>
              <a:t>•  Yetki (RBAC) ve veri sınıfı modeli kodda uygulanmış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EBF0FA"/>
                </a:solidFill>
                <a:latin typeface="Calibri"/>
              </a:rPr>
              <a:t>•  Kaynaklı cevap + red davranışları otomatik testli (24 test)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EBF0FA"/>
                </a:solidFill>
                <a:latin typeface="Calibri"/>
              </a:rPr>
              <a:t>•  4 demo senaryosu canlı denenebilir durumda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5440680" cy="4114800"/>
          </a:xfrm>
          <a:prstGeom prst="roundRect">
            <a:avLst>
              <a:gd name="adj" fmla="val 6000"/>
            </a:avLst>
          </a:prstGeom>
          <a:solidFill>
            <a:srgbClr val="141D33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874519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Calibri"/>
              </a:rPr>
              <a:t>ONAY / DESTEK İHTİYACI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EBF0FA"/>
                </a:solidFill>
                <a:latin typeface="Calibri"/>
              </a:rPr>
              <a:t>•  15 dk canlı demo için uygun bir zaman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EBF0FA"/>
                </a:solidFill>
                <a:latin typeface="Calibri"/>
              </a:rPr>
              <a:t>•  Problem dokümantasyon şablonunun gözden geçirilmesi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EBF0FA"/>
                </a:solidFill>
                <a:latin typeface="Calibri"/>
              </a:rPr>
              <a:t>•  İlk 20-30 KB makalesi için konu listesi ve ekip desteği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EBF0FA"/>
                </a:solidFill>
                <a:latin typeface="Calibri"/>
              </a:rPr>
              <a:t>•  Runbook/prosedürlere okuma erişimi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EBF0FA"/>
                </a:solidFill>
                <a:latin typeface="Calibri"/>
              </a:rPr>
              <a:t>•  Pilot için 2-3 kişilik network ekibi gönüllüsü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BF0FA"/>
                </a:solidFill>
                <a:latin typeface="Calibri"/>
              </a:rPr>
              <a:t>Teşekkürler — geri bildiriminiz doğrultusunda güncellendi. Demo her an gösterilebilir durumda.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1463</Words>
  <Application>Microsoft Macintosh PowerPoint</Application>
  <PresentationFormat>Widescreen</PresentationFormat>
  <Paragraphs>189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Emir Duman</cp:lastModifiedBy>
  <cp:revision>1</cp:revision>
  <dcterms:created xsi:type="dcterms:W3CDTF">2013-01-27T09:14:16Z</dcterms:created>
  <dcterms:modified xsi:type="dcterms:W3CDTF">2026-07-05T07:44:41Z</dcterms:modified>
  <cp:category/>
</cp:coreProperties>
</file>