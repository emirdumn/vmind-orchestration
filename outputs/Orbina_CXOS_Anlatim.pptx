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f2db3cdc3b4623" /><Relationship Type="http://schemas.openxmlformats.org/officeDocument/2006/relationships/extended-properties" Target="/docProps/app.xml" Id="R12bce44d3d8349cc" /><Relationship Type="http://schemas.openxmlformats.org/officeDocument/2006/relationships/officeDocument" Target="/ppt/presentation.xml" Id="R0e8a50b3278e4194" /></Relationships>
</file>

<file path=ppt/presentation.xml><?xml version="1.0" encoding="utf-8"?>
<p:presentation xmlns:p="http://schemas.openxmlformats.org/presentationml/2006/main">
  <p:sldMasterIdLst>
    <p:sldMasterId xmlns:r="http://schemas.openxmlformats.org/officeDocument/2006/relationships" id="2147483648" r:id="R129c37e9248540f0"/>
  </p:sldMasterIdLst>
  <p:notesMasterIdLst>
    <p:notesMasterId xmlns:r="http://schemas.openxmlformats.org/officeDocument/2006/relationships" r:id="R1485b5ab11bf4d8e"/>
  </p:notesMasterIdLst>
  <p:sldIdLst>
    <p:sldId xmlns:r="http://schemas.openxmlformats.org/officeDocument/2006/relationships" id="256" r:id="R74fe17cd4b074e4b"/>
    <p:sldId xmlns:r="http://schemas.openxmlformats.org/officeDocument/2006/relationships" id="257" r:id="Recb33b94dc1c47ab"/>
    <p:sldId xmlns:r="http://schemas.openxmlformats.org/officeDocument/2006/relationships" id="258" r:id="R2ecbcf5049ce4b06"/>
    <p:sldId xmlns:r="http://schemas.openxmlformats.org/officeDocument/2006/relationships" id="259" r:id="R33bb66670be14bf8"/>
    <p:sldId xmlns:r="http://schemas.openxmlformats.org/officeDocument/2006/relationships" id="260" r:id="R95187037dd9e40ec"/>
    <p:sldId xmlns:r="http://schemas.openxmlformats.org/officeDocument/2006/relationships" id="261" r:id="Raa15e2af9aaf4f68"/>
    <p:sldId xmlns:r="http://schemas.openxmlformats.org/officeDocument/2006/relationships" id="262" r:id="R691665f0aa78463a"/>
    <p:sldId xmlns:r="http://schemas.openxmlformats.org/officeDocument/2006/relationships" id="263" r:id="R7b72af4444ff4e11"/>
    <p:sldId xmlns:r="http://schemas.openxmlformats.org/officeDocument/2006/relationships" id="264" r:id="R4bed9e3d424246b3"/>
    <p:sldId xmlns:r="http://schemas.openxmlformats.org/officeDocument/2006/relationships" id="265" r:id="R5763d14b9442452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58c49ce0464337" /><Relationship Type="http://schemas.openxmlformats.org/officeDocument/2006/relationships/slideMaster" Target="/ppt/slideMasters/slideMaster1.xml" Id="R129c37e9248540f0" /><Relationship Type="http://schemas.openxmlformats.org/officeDocument/2006/relationships/notesMaster" Target="/ppt/notesMasters/notesMaster1.xml" Id="R1485b5ab11bf4d8e" /><Relationship Type="http://schemas.openxmlformats.org/officeDocument/2006/relationships/presProps" Target="/ppt/presProps.xml" Id="Rdfe76001eebb4326" /><Relationship Type="http://schemas.openxmlformats.org/officeDocument/2006/relationships/tableStyles" Target="/ppt/tableStyles.xml" Id="Rbbb4aaa049b048f6" /><Relationship Type="http://schemas.openxmlformats.org/officeDocument/2006/relationships/slide" Target="/ppt/slides/slide1.xml" Id="R74fe17cd4b074e4b" /><Relationship Type="http://schemas.openxmlformats.org/officeDocument/2006/relationships/slide" Target="/ppt/slides/slide2.xml" Id="Recb33b94dc1c47ab" /><Relationship Type="http://schemas.openxmlformats.org/officeDocument/2006/relationships/slide" Target="/ppt/slides/slide3.xml" Id="R2ecbcf5049ce4b06" /><Relationship Type="http://schemas.openxmlformats.org/officeDocument/2006/relationships/slide" Target="/ppt/slides/slide4.xml" Id="R33bb66670be14bf8" /><Relationship Type="http://schemas.openxmlformats.org/officeDocument/2006/relationships/slide" Target="/ppt/slides/slide5.xml" Id="R95187037dd9e40ec" /><Relationship Type="http://schemas.openxmlformats.org/officeDocument/2006/relationships/slide" Target="/ppt/slides/slide6.xml" Id="Raa15e2af9aaf4f68" /><Relationship Type="http://schemas.openxmlformats.org/officeDocument/2006/relationships/slide" Target="/ppt/slides/slide7.xml" Id="R691665f0aa78463a" /><Relationship Type="http://schemas.openxmlformats.org/officeDocument/2006/relationships/slide" Target="/ppt/slides/slide8.xml" Id="R7b72af4444ff4e11" /><Relationship Type="http://schemas.openxmlformats.org/officeDocument/2006/relationships/slide" Target="/ppt/slides/slide9.xml" Id="R4bed9e3d424246b3" /><Relationship Type="http://schemas.openxmlformats.org/officeDocument/2006/relationships/slide" Target="/ppt/slides/slide10.xml" Id="R5763d14b944245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421d11ae8c4a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670b8ecaf144c0" /><Relationship Type="http://schemas.openxmlformats.org/officeDocument/2006/relationships/notesMaster" Target="/ppt/notesMasters/notesMaster1.xml" Id="Rd993f71b42274c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03334277d9424e" /><Relationship Type="http://schemas.openxmlformats.org/officeDocument/2006/relationships/notesMaster" Target="/ppt/notesMasters/notesMaster1.xml" Id="R32f50c672db842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cafe698e25478e" /><Relationship Type="http://schemas.openxmlformats.org/officeDocument/2006/relationships/notesMaster" Target="/ppt/notesMasters/notesMaster1.xml" Id="R6f4aaa76113244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5ff44ac48a443d" /><Relationship Type="http://schemas.openxmlformats.org/officeDocument/2006/relationships/notesMaster" Target="/ppt/notesMasters/notesMaster1.xml" Id="R83c54dbd52004e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17b0bc655a447a" /><Relationship Type="http://schemas.openxmlformats.org/officeDocument/2006/relationships/notesMaster" Target="/ppt/notesMasters/notesMaster1.xml" Id="R78ac1560d80b49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fbcfb7836a4c9b" /><Relationship Type="http://schemas.openxmlformats.org/officeDocument/2006/relationships/notesMaster" Target="/ppt/notesMasters/notesMaster1.xml" Id="Rc0674a8cc67148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d72b5286424beb" /><Relationship Type="http://schemas.openxmlformats.org/officeDocument/2006/relationships/notesMaster" Target="/ppt/notesMasters/notesMaster1.xml" Id="R04bfd9949ebe45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d8263f0aec4ee9" /><Relationship Type="http://schemas.openxmlformats.org/officeDocument/2006/relationships/notesMaster" Target="/ppt/notesMasters/notesMaster1.xml" Id="R95d3f87adb5b4d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8440cc4c634c27" /><Relationship Type="http://schemas.openxmlformats.org/officeDocument/2006/relationships/notesMaster" Target="/ppt/notesMasters/notesMaster1.xml" Id="Rf8c5cc223a3540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3934bccf5f4b8d" /><Relationship Type="http://schemas.openxmlformats.org/officeDocument/2006/relationships/notesMaster" Target="/ppt/notesMasters/notesMaster1.xml" Id="R108520edb64446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bd700dd7ad43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eaff188ba34e16" /><Relationship Type="http://schemas.openxmlformats.org/officeDocument/2006/relationships/slideLayout" Target="/ppt/slideLayouts/slideLayout1.xml" Id="R5d9eecacdc1d44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9eecacdc1d44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ab22794dd34646" /><Relationship Type="http://schemas.openxmlformats.org/officeDocument/2006/relationships/notesSlide" Target="/ppt/notesSlides/notesSlide1.xml" Id="R18d987e4ba164c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d806325a144a17" /><Relationship Type="http://schemas.openxmlformats.org/officeDocument/2006/relationships/notesSlide" Target="/ppt/notesSlides/notesSlide2.xml" Id="Rcce3945ce43a4b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ce454fd7ea4742" /><Relationship Type="http://schemas.openxmlformats.org/officeDocument/2006/relationships/notesSlide" Target="/ppt/notesSlides/notesSlide3.xml" Id="R122f0ec2f5cf42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f254e714fa44f2" /><Relationship Type="http://schemas.openxmlformats.org/officeDocument/2006/relationships/notesSlide" Target="/ppt/notesSlides/notesSlide4.xml" Id="Rd9e0236241bd47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6bd0995d17489f" /><Relationship Type="http://schemas.openxmlformats.org/officeDocument/2006/relationships/notesSlide" Target="/ppt/notesSlides/notesSlide5.xml" Id="R2495a88c36c54b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e805cdb1d940c2" /><Relationship Type="http://schemas.openxmlformats.org/officeDocument/2006/relationships/notesSlide" Target="/ppt/notesSlides/notesSlide6.xml" Id="R556b3cb245d143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4278c0f29b464e" /><Relationship Type="http://schemas.openxmlformats.org/officeDocument/2006/relationships/notesSlide" Target="/ppt/notesSlides/notesSlide7.xml" Id="R4fa977b497984e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1c07c473fb41c3" /><Relationship Type="http://schemas.openxmlformats.org/officeDocument/2006/relationships/notesSlide" Target="/ppt/notesSlides/notesSlide8.xml" Id="R692a909c3af842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dca1d8e453842d7" /><Relationship Type="http://schemas.openxmlformats.org/officeDocument/2006/relationships/notesSlide" Target="/ppt/notesSlides/notesSlide9.xml" Id="Rbf72b5c77b144b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18f51dda3c4bb1" /><Relationship Type="http://schemas.openxmlformats.org/officeDocument/2006/relationships/notesSlide" Target="/ppt/notesSlides/notesSlide10.xml" Id="R5b6412bde7c44c96" /></Relationships>
</file>

<file path=ppt/slides/slide1.xml><?xml version="1.0" encoding="utf-8"?>
<p:sld xmlns:p="http://schemas.openxmlformats.org/presentationml/2006/main">
  <p:cSld>
    <p:bg>
      <p:bgPr>
        <a:solidFill xmlns:a="http://schemas.openxmlformats.org/drawingml/2006/main">
          <a:srgbClr val="10051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F1AB3C6-6E7D-48BC-B75B-BF7478546320}"/>
              </a:ext>
            </a:extLst>
          </p:cNvPr>
          <p:cNvSpPr>
            <a:spLocks xmlns:a="http://schemas.openxmlformats.org/drawingml/2006/main" noGrp="1"/>
          </p:cNvSpPr>
          <p:nvPr/>
        </p:nvSpPr>
        <p:spPr>
          <a:xfrm xmlns:a="http://schemas.openxmlformats.org/drawingml/2006/main">
            <a:off x="7715250" y="0"/>
            <a:ext cx="4476750" cy="6858000"/>
          </a:xfrm>
          <a:prstGeom xmlns:a="http://schemas.openxmlformats.org/drawingml/2006/main" prst="roundRect">
            <a:avLst>
              <a:gd name="adj" fmla="val 50000"/>
            </a:avLst>
          </a:prstGeom>
          <a:solidFill xmlns:a="http://schemas.openxmlformats.org/drawingml/2006/main">
            <a:srgbClr val="6D35D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4615D8-4F69-4220-83ED-CE389E69D050}"/>
              </a:ext>
            </a:extLst>
          </p:cNvPr>
          <p:cNvSpPr>
            <a:spLocks xmlns:a="http://schemas.openxmlformats.org/drawingml/2006/main" noGrp="1"/>
          </p:cNvSpPr>
          <p:nvPr/>
        </p:nvSpPr>
        <p:spPr>
          <a:xfrm xmlns:a="http://schemas.openxmlformats.org/drawingml/2006/main">
            <a:off x="8858250" y="762000"/>
            <a:ext cx="3333750" cy="5334000"/>
          </a:xfrm>
          <a:prstGeom xmlns:a="http://schemas.openxmlformats.org/drawingml/2006/main" prst="roundRect">
            <a:avLst>
              <a:gd name="adj" fmla="val 50000"/>
            </a:avLst>
          </a:prstGeom>
          <a:solidFill xmlns:a="http://schemas.openxmlformats.org/drawingml/2006/main">
            <a:srgbClr val="10051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3531B07-B7D6-4D0F-9CEC-B7EF78DC257D}"/>
              </a:ext>
            </a:extLst>
          </p:cNvPr>
          <p:cNvSpPr>
            <a:spLocks xmlns:a="http://schemas.openxmlformats.org/drawingml/2006/main" noGrp="1"/>
          </p:cNvSpPr>
          <p:nvPr/>
        </p:nvSpPr>
        <p:spPr>
          <a:xfrm xmlns:a="http://schemas.openxmlformats.org/drawingml/2006/main">
            <a:off x="609600" y="5143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FFFFF"/>
                </a:solidFill>
              </a:defRPr>
            </a:pPr>
            <a:r>
              <a:rPr sz="2850" b="1">
                <a:solidFill>
                  <a:srgbClr val="FFFFFF"/>
                </a:solidFill>
              </a:rPr>
              <a:t>Orbina</a:t>
            </a:r>
          </a:p>
        </p:txBody>
      </p:sp>
      <p:sp>
        <p:nvSpPr>
          <p:cNvPr id="4" name="">
            <a:extLst xmlns:a="http://schemas.openxmlformats.org/drawingml/2006/main">
              <a:ext uri="{FF2B5EF4-FFF2-40B4-BE49-F238E27FC236}">
                <a16:creationId xmlns:a16="http://schemas.microsoft.com/office/drawing/2014/main" id="{AFDA5912-A8D9-4732-8AD1-A41B687D4C6F}"/>
              </a:ext>
            </a:extLst>
          </p:cNvPr>
          <p:cNvSpPr>
            <a:spLocks xmlns:a="http://schemas.openxmlformats.org/drawingml/2006/main" noGrp="1"/>
          </p:cNvSpPr>
          <p:nvPr/>
        </p:nvSpPr>
        <p:spPr>
          <a:xfrm xmlns:a="http://schemas.openxmlformats.org/drawingml/2006/main">
            <a:off x="609600" y="1924050"/>
            <a:ext cx="628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FFFFFF"/>
                </a:solidFill>
              </a:defRPr>
            </a:pPr>
            <a:r>
              <a:rPr sz="4050" b="1">
                <a:solidFill>
                  <a:srgbClr val="FFFFFF"/>
                </a:solidFill>
              </a:rPr>
              <a:t>CXOS’u anlatmak</a:t>
            </a:r>
          </a:p>
        </p:txBody>
      </p:sp>
      <p:sp>
        <p:nvSpPr>
          <p:cNvPr id="5" name="">
            <a:extLst xmlns:a="http://schemas.openxmlformats.org/drawingml/2006/main">
              <a:ext uri="{FF2B5EF4-FFF2-40B4-BE49-F238E27FC236}">
                <a16:creationId xmlns:a16="http://schemas.microsoft.com/office/drawing/2014/main" id="{71C48B9C-1BED-401B-ABD4-FA10631ABBED}"/>
              </a:ext>
            </a:extLst>
          </p:cNvPr>
          <p:cNvSpPr>
            <a:spLocks xmlns:a="http://schemas.openxmlformats.org/drawingml/2006/main" noGrp="1"/>
          </p:cNvSpPr>
          <p:nvPr/>
        </p:nvSpPr>
        <p:spPr>
          <a:xfrm xmlns:a="http://schemas.openxmlformats.org/drawingml/2006/main">
            <a:off x="609600" y="2781300"/>
            <a:ext cx="619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a:solidFill>
                  <a:srgbClr val="D9C8FF"/>
                </a:solidFill>
              </a:defRPr>
            </a:pPr>
            <a:r>
              <a:rPr sz="1875" b="0">
                <a:solidFill>
                  <a:srgbClr val="D9C8FF"/>
                </a:solidFill>
              </a:rPr>
              <a:t>Ajan orkestrasyonu, RAG, GPUaaS ve rakip konumlandırması</a:t>
            </a:r>
          </a:p>
        </p:txBody>
      </p:sp>
      <p:sp>
        <p:nvSpPr>
          <p:cNvPr id="6" name="">
            <a:extLst xmlns:a="http://schemas.openxmlformats.org/drawingml/2006/main">
              <a:ext uri="{FF2B5EF4-FFF2-40B4-BE49-F238E27FC236}">
                <a16:creationId xmlns:a16="http://schemas.microsoft.com/office/drawing/2014/main" id="{A66B1817-D141-4641-A5A3-06FB5B7A1C43}"/>
              </a:ext>
            </a:extLst>
          </p:cNvPr>
          <p:cNvSpPr>
            <a:spLocks xmlns:a="http://schemas.openxmlformats.org/drawingml/2006/main" noGrp="1"/>
          </p:cNvSpPr>
          <p:nvPr/>
        </p:nvSpPr>
        <p:spPr>
          <a:xfrm xmlns:a="http://schemas.openxmlformats.org/drawingml/2006/main">
            <a:off x="609600" y="4000500"/>
            <a:ext cx="1714500" cy="47625"/>
          </a:xfrm>
          <a:prstGeom xmlns:a="http://schemas.openxmlformats.org/drawingml/2006/main" prst="rect">
            <a:avLst/>
          </a:prstGeom>
          <a:solidFill xmlns:a="http://schemas.openxmlformats.org/drawingml/2006/main">
            <a:srgbClr val="8C4FE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ACD3C6-F9A6-4C21-821B-094620FE4C64}"/>
              </a:ext>
            </a:extLst>
          </p:cNvPr>
          <p:cNvSpPr>
            <a:spLocks xmlns:a="http://schemas.openxmlformats.org/drawingml/2006/main" noGrp="1"/>
          </p:cNvSpPr>
          <p:nvPr/>
        </p:nvSpPr>
        <p:spPr>
          <a:xfrm xmlns:a="http://schemas.openxmlformats.org/drawingml/2006/main">
            <a:off x="609600" y="426720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FFFFFF"/>
                </a:solidFill>
              </a:defRPr>
            </a:pPr>
            <a:r>
              <a:rPr sz="1275" b="0">
                <a:solidFill>
                  <a:srgbClr val="FFFFFF"/>
                </a:solidFill>
              </a:rPr>
              <a:t>Müşteri görüşmesi için teknik anlatım rehberi</a:t>
            </a:r>
          </a:p>
        </p:txBody>
      </p:sp>
      <p:sp>
        <p:nvSpPr>
          <p:cNvPr id="8" name="">
            <a:extLst xmlns:a="http://schemas.openxmlformats.org/drawingml/2006/main">
              <a:ext uri="{FF2B5EF4-FFF2-40B4-BE49-F238E27FC236}">
                <a16:creationId xmlns:a16="http://schemas.microsoft.com/office/drawing/2014/main" id="{1E49CAEB-42B7-4712-ADA4-26430AFF3D70}"/>
              </a:ext>
            </a:extLst>
          </p:cNvPr>
          <p:cNvSpPr>
            <a:spLocks xmlns:a="http://schemas.openxmlformats.org/drawingml/2006/main" noGrp="1"/>
          </p:cNvSpPr>
          <p:nvPr/>
        </p:nvSpPr>
        <p:spPr>
          <a:xfrm xmlns:a="http://schemas.openxmlformats.org/drawingml/2006/main">
            <a:off x="609600" y="61531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C7B7E2"/>
                </a:solidFill>
              </a:defRPr>
            </a:pPr>
            <a:r>
              <a:rPr sz="975" b="1">
                <a:solidFill>
                  <a:srgbClr val="C7B7E2"/>
                </a:solidFill>
              </a:rPr>
              <a:t>Haziran 2026</a:t>
            </a:r>
          </a:p>
        </p:txBody>
      </p:sp>
    </p:spTree>
    <p:extLst>
      <p:ext uri="{BB962C8B-B14F-4D97-AF65-F5344CB8AC3E}">
        <p14:creationId xmlns:p14="http://schemas.microsoft.com/office/powerpoint/2010/main" val="19608413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BF3E13-D4E5-4B60-A021-BC3224506B33}"/>
              </a:ext>
            </a:extLst>
          </p:cNvPr>
          <p:cNvSpPr>
            <a:spLocks xmlns:a="http://schemas.openxmlformats.org/drawingml/2006/main" noGrp="1"/>
          </p:cNvSpPr>
          <p:nvPr/>
        </p:nvSpPr>
        <p:spPr>
          <a:xfrm xmlns:a="http://schemas.openxmlformats.org/drawingml/2006/main">
            <a:off x="609600" y="3619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35D5"/>
                </a:solidFill>
              </a:defRPr>
            </a:pPr>
            <a:r>
              <a:rPr sz="975" b="1">
                <a:solidFill>
                  <a:srgbClr val="6D35D5"/>
                </a:solidFill>
              </a:rPr>
              <a:t>TEMEL KONUMLANDIRMA</a:t>
            </a:r>
          </a:p>
        </p:txBody>
      </p:sp>
      <p:sp>
        <p:nvSpPr>
          <p:cNvPr id="2" name="title-2">
            <a:extLst xmlns:a="http://schemas.openxmlformats.org/drawingml/2006/main">
              <a:ext uri="{FF2B5EF4-FFF2-40B4-BE49-F238E27FC236}">
                <a16:creationId xmlns:a16="http://schemas.microsoft.com/office/drawing/2014/main" id="{FBDACF97-3671-4496-8BAE-B595C2CAFB30}"/>
              </a:ext>
            </a:extLst>
          </p:cNvPr>
          <p:cNvSpPr>
            <a:spLocks xmlns:a="http://schemas.openxmlformats.org/drawingml/2006/main" noGrp="1"/>
          </p:cNvSpPr>
          <p:nvPr/>
        </p:nvSpPr>
        <p:spPr>
          <a:xfrm xmlns:a="http://schemas.openxmlformats.org/drawingml/2006/main">
            <a:off x="609600" y="6667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7212B"/>
                </a:solidFill>
              </a:defRPr>
            </a:pPr>
            <a:r>
              <a:rPr sz="2700" b="1">
                <a:solidFill>
                  <a:srgbClr val="17212B"/>
                </a:solidFill>
              </a:rPr>
              <a:t>Chatbot cevap verir. CXOS sonucu orkestre eder.</a:t>
            </a:r>
          </a:p>
        </p:txBody>
      </p:sp>
      <p:sp>
        <p:nvSpPr>
          <p:cNvPr id="3" name="">
            <a:extLst xmlns:a="http://schemas.openxmlformats.org/drawingml/2006/main">
              <a:ext uri="{FF2B5EF4-FFF2-40B4-BE49-F238E27FC236}">
                <a16:creationId xmlns:a16="http://schemas.microsoft.com/office/drawing/2014/main" id="{A1835717-5931-4CE1-82BC-D5E8E78680A7}"/>
              </a:ext>
            </a:extLst>
          </p:cNvPr>
          <p:cNvSpPr>
            <a:spLocks xmlns:a="http://schemas.openxmlformats.org/drawingml/2006/main" noGrp="1"/>
          </p:cNvSpPr>
          <p:nvPr/>
        </p:nvSpPr>
        <p:spPr>
          <a:xfrm xmlns:a="http://schemas.openxmlformats.org/drawingml/2006/main">
            <a:off x="11191875" y="419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1"/>
                </a:solidFill>
              </a:defRPr>
            </a:pPr>
            <a:r>
              <a:rPr sz="975" b="1">
                <a:solidFill>
                  <a:srgbClr val="687181"/>
                </a:solidFill>
              </a:rPr>
              <a:t>02</a:t>
            </a:r>
          </a:p>
        </p:txBody>
      </p:sp>
      <p:sp>
        <p:nvSpPr>
          <p:cNvPr id="4" name="">
            <a:extLst xmlns:a="http://schemas.openxmlformats.org/drawingml/2006/main">
              <a:ext uri="{FF2B5EF4-FFF2-40B4-BE49-F238E27FC236}">
                <a16:creationId xmlns:a16="http://schemas.microsoft.com/office/drawing/2014/main" id="{0384E144-D874-453E-A9FB-46F059F50069}"/>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EEE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140DEF-DE50-4BB3-BD7D-0FA33AD293F0}"/>
              </a:ext>
            </a:extLst>
          </p:cNvPr>
          <p:cNvSpPr>
            <a:spLocks xmlns:a="http://schemas.openxmlformats.org/drawingml/2006/main" noGrp="1"/>
          </p:cNvSpPr>
          <p:nvPr/>
        </p:nvSpPr>
        <p:spPr>
          <a:xfrm xmlns:a="http://schemas.openxmlformats.org/drawingml/2006/main">
            <a:off x="609600" y="15430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87181"/>
                </a:solidFill>
              </a:defRPr>
            </a:pPr>
            <a:r>
              <a:rPr sz="1575" b="0">
                <a:solidFill>
                  <a:srgbClr val="687181"/>
                </a:solidFill>
              </a:rPr>
              <a:t>Müşteri tek bir konuşma görür; arka planda bilgi, sistem ve ekipler birlikte çalışır.</a:t>
            </a:r>
          </a:p>
        </p:txBody>
      </p:sp>
      <p:sp>
        <p:nvSpPr>
          <p:cNvPr id="6" name="">
            <a:extLst xmlns:a="http://schemas.openxmlformats.org/drawingml/2006/main">
              <a:ext uri="{FF2B5EF4-FFF2-40B4-BE49-F238E27FC236}">
                <a16:creationId xmlns:a16="http://schemas.microsoft.com/office/drawing/2014/main" id="{31EA4591-3117-45E4-8693-9357C3D7B25F}"/>
              </a:ext>
            </a:extLst>
          </p:cNvPr>
          <p:cNvSpPr>
            <a:spLocks xmlns:a="http://schemas.openxmlformats.org/drawingml/2006/main" noGrp="1"/>
          </p:cNvSpPr>
          <p:nvPr/>
        </p:nvSpPr>
        <p:spPr>
          <a:xfrm xmlns:a="http://schemas.openxmlformats.org/drawingml/2006/main">
            <a:off x="609600" y="2228850"/>
            <a:ext cx="3333750" cy="3219450"/>
          </a:xfrm>
          <a:prstGeom xmlns:a="http://schemas.openxmlformats.org/drawingml/2006/main" prst="roundRect">
            <a:avLst>
              <a:gd name="adj" fmla="val 4734"/>
            </a:avLst>
          </a:prstGeom>
          <a:solidFill xmlns:a="http://schemas.openxmlformats.org/drawingml/2006/main">
            <a:srgbClr val="F7F5FB"/>
          </a:solidFill>
          <a:ln xmlns:a="http://schemas.openxmlformats.org/drawingml/2006/main" w="9525">
            <a:solidFill>
              <a:srgbClr val="DCD7E7"/>
            </a:solidFill>
            <a:prstDash val="solid"/>
          </a:ln>
        </p:spPr>
      </p:sp>
      <p:sp>
        <p:nvSpPr>
          <p:cNvPr id="7" name="">
            <a:extLst xmlns:a="http://schemas.openxmlformats.org/drawingml/2006/main">
              <a:ext uri="{FF2B5EF4-FFF2-40B4-BE49-F238E27FC236}">
                <a16:creationId xmlns:a16="http://schemas.microsoft.com/office/drawing/2014/main" id="{AC8B2A07-7680-4699-9E36-43C3D1D8834F}"/>
              </a:ext>
            </a:extLst>
          </p:cNvPr>
          <p:cNvSpPr>
            <a:spLocks xmlns:a="http://schemas.openxmlformats.org/drawingml/2006/main" noGrp="1"/>
          </p:cNvSpPr>
          <p:nvPr/>
        </p:nvSpPr>
        <p:spPr>
          <a:xfrm xmlns:a="http://schemas.openxmlformats.org/drawingml/2006/main">
            <a:off x="838200" y="241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35D5"/>
                </a:solidFill>
              </a:defRPr>
            </a:pPr>
            <a:r>
              <a:rPr sz="1200" b="1">
                <a:solidFill>
                  <a:srgbClr val="6D35D5"/>
                </a:solidFill>
              </a:rPr>
              <a:t>01</a:t>
            </a:r>
          </a:p>
        </p:txBody>
      </p:sp>
      <p:sp>
        <p:nvSpPr>
          <p:cNvPr id="8" name="">
            <a:extLst xmlns:a="http://schemas.openxmlformats.org/drawingml/2006/main">
              <a:ext uri="{FF2B5EF4-FFF2-40B4-BE49-F238E27FC236}">
                <a16:creationId xmlns:a16="http://schemas.microsoft.com/office/drawing/2014/main" id="{144D3D2E-6610-457B-9576-263D4280205C}"/>
              </a:ext>
            </a:extLst>
          </p:cNvPr>
          <p:cNvSpPr>
            <a:spLocks xmlns:a="http://schemas.openxmlformats.org/drawingml/2006/main" noGrp="1"/>
          </p:cNvSpPr>
          <p:nvPr/>
        </p:nvSpPr>
        <p:spPr>
          <a:xfrm xmlns:a="http://schemas.openxmlformats.org/drawingml/2006/main">
            <a:off x="838200" y="285750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7212B"/>
                </a:solidFill>
              </a:defRPr>
            </a:pPr>
            <a:r>
              <a:rPr sz="2250" b="1">
                <a:solidFill>
                  <a:srgbClr val="17212B"/>
                </a:solidFill>
              </a:rPr>
              <a:t>BİLGİ</a:t>
            </a:r>
          </a:p>
        </p:txBody>
      </p:sp>
      <p:sp>
        <p:nvSpPr>
          <p:cNvPr id="9" name="">
            <a:extLst xmlns:a="http://schemas.openxmlformats.org/drawingml/2006/main">
              <a:ext uri="{FF2B5EF4-FFF2-40B4-BE49-F238E27FC236}">
                <a16:creationId xmlns:a16="http://schemas.microsoft.com/office/drawing/2014/main" id="{B49D9D11-06BA-4E4C-A343-2098070CC2A7}"/>
              </a:ext>
            </a:extLst>
          </p:cNvPr>
          <p:cNvSpPr>
            <a:spLocks xmlns:a="http://schemas.openxmlformats.org/drawingml/2006/main" noGrp="1"/>
          </p:cNvSpPr>
          <p:nvPr/>
        </p:nvSpPr>
        <p:spPr>
          <a:xfrm xmlns:a="http://schemas.openxmlformats.org/drawingml/2006/main">
            <a:off x="838200" y="3467100"/>
            <a:ext cx="123825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0B1559D-AD42-40D2-A743-DF26EC846F07}"/>
              </a:ext>
            </a:extLst>
          </p:cNvPr>
          <p:cNvSpPr>
            <a:spLocks xmlns:a="http://schemas.openxmlformats.org/drawingml/2006/main" noGrp="1"/>
          </p:cNvSpPr>
          <p:nvPr/>
        </p:nvSpPr>
        <p:spPr>
          <a:xfrm xmlns:a="http://schemas.openxmlformats.org/drawingml/2006/main">
            <a:off x="933450" y="34861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D35D5"/>
                </a:solidFill>
              </a:defRPr>
            </a:pPr>
            <a:r>
              <a:rPr sz="975" b="1">
                <a:solidFill>
                  <a:srgbClr val="6D35D5"/>
                </a:solidFill>
              </a:rPr>
              <a:t>RAG</a:t>
            </a:r>
          </a:p>
        </p:txBody>
      </p:sp>
      <p:sp>
        <p:nvSpPr>
          <p:cNvPr id="11" name="">
            <a:extLst xmlns:a="http://schemas.openxmlformats.org/drawingml/2006/main">
              <a:ext uri="{FF2B5EF4-FFF2-40B4-BE49-F238E27FC236}">
                <a16:creationId xmlns:a16="http://schemas.microsoft.com/office/drawing/2014/main" id="{B5F0C67A-DF78-4368-8DE9-3DA439561135}"/>
              </a:ext>
            </a:extLst>
          </p:cNvPr>
          <p:cNvSpPr>
            <a:spLocks xmlns:a="http://schemas.openxmlformats.org/drawingml/2006/main" noGrp="1"/>
          </p:cNvSpPr>
          <p:nvPr/>
        </p:nvSpPr>
        <p:spPr>
          <a:xfrm xmlns:a="http://schemas.openxmlformats.org/drawingml/2006/main">
            <a:off x="838200" y="4038600"/>
            <a:ext cx="285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181"/>
                </a:solidFill>
              </a:defRPr>
            </a:pPr>
            <a:r>
              <a:rPr sz="1350" b="0">
                <a:solidFill>
                  <a:srgbClr val="687181"/>
                </a:solidFill>
              </a:rPr>
              <a:t>Politika, ürün, SSS ve prosedürlerden kaynaklı cevap.</a:t>
            </a:r>
          </a:p>
        </p:txBody>
      </p:sp>
      <p:sp>
        <p:nvSpPr>
          <p:cNvPr id="12" name="">
            <a:extLst xmlns:a="http://schemas.openxmlformats.org/drawingml/2006/main">
              <a:ext uri="{FF2B5EF4-FFF2-40B4-BE49-F238E27FC236}">
                <a16:creationId xmlns:a16="http://schemas.microsoft.com/office/drawing/2014/main" id="{B503DD3F-4519-45F0-83AE-EBF05CEA6112}"/>
              </a:ext>
            </a:extLst>
          </p:cNvPr>
          <p:cNvSpPr>
            <a:spLocks xmlns:a="http://schemas.openxmlformats.org/drawingml/2006/main" noGrp="1"/>
          </p:cNvSpPr>
          <p:nvPr/>
        </p:nvSpPr>
        <p:spPr>
          <a:xfrm xmlns:a="http://schemas.openxmlformats.org/drawingml/2006/main">
            <a:off x="4286250" y="2228850"/>
            <a:ext cx="3333750" cy="3219450"/>
          </a:xfrm>
          <a:prstGeom xmlns:a="http://schemas.openxmlformats.org/drawingml/2006/main" prst="roundRect">
            <a:avLst>
              <a:gd name="adj" fmla="val 4734"/>
            </a:avLst>
          </a:prstGeom>
          <a:solidFill xmlns:a="http://schemas.openxmlformats.org/drawingml/2006/main">
            <a:srgbClr val="EEE7FF"/>
          </a:solidFill>
          <a:ln xmlns:a="http://schemas.openxmlformats.org/drawingml/2006/main" w="9525">
            <a:solidFill>
              <a:srgbClr val="8C4FE8"/>
            </a:solidFill>
            <a:prstDash val="solid"/>
          </a:ln>
        </p:spPr>
      </p:sp>
      <p:sp>
        <p:nvSpPr>
          <p:cNvPr id="13" name="">
            <a:extLst xmlns:a="http://schemas.openxmlformats.org/drawingml/2006/main">
              <a:ext uri="{FF2B5EF4-FFF2-40B4-BE49-F238E27FC236}">
                <a16:creationId xmlns:a16="http://schemas.microsoft.com/office/drawing/2014/main" id="{A03982DE-DEF7-4C70-B464-4808FDDCB996}"/>
              </a:ext>
            </a:extLst>
          </p:cNvPr>
          <p:cNvSpPr>
            <a:spLocks xmlns:a="http://schemas.openxmlformats.org/drawingml/2006/main" noGrp="1"/>
          </p:cNvSpPr>
          <p:nvPr/>
        </p:nvSpPr>
        <p:spPr>
          <a:xfrm xmlns:a="http://schemas.openxmlformats.org/drawingml/2006/main">
            <a:off x="4514850" y="241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35D5"/>
                </a:solidFill>
              </a:defRPr>
            </a:pPr>
            <a:r>
              <a:rPr sz="1200" b="1">
                <a:solidFill>
                  <a:srgbClr val="6D35D5"/>
                </a:solidFill>
              </a:rPr>
              <a:t>02</a:t>
            </a:r>
          </a:p>
        </p:txBody>
      </p:sp>
      <p:sp>
        <p:nvSpPr>
          <p:cNvPr id="14" name="">
            <a:extLst xmlns:a="http://schemas.openxmlformats.org/drawingml/2006/main">
              <a:ext uri="{FF2B5EF4-FFF2-40B4-BE49-F238E27FC236}">
                <a16:creationId xmlns:a16="http://schemas.microsoft.com/office/drawing/2014/main" id="{78836F08-4C1C-4419-B9EA-D6AB5A5428A5}"/>
              </a:ext>
            </a:extLst>
          </p:cNvPr>
          <p:cNvSpPr>
            <a:spLocks xmlns:a="http://schemas.openxmlformats.org/drawingml/2006/main" noGrp="1"/>
          </p:cNvSpPr>
          <p:nvPr/>
        </p:nvSpPr>
        <p:spPr>
          <a:xfrm xmlns:a="http://schemas.openxmlformats.org/drawingml/2006/main">
            <a:off x="4514850" y="285750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7212B"/>
                </a:solidFill>
              </a:defRPr>
            </a:pPr>
            <a:r>
              <a:rPr sz="2250" b="1">
                <a:solidFill>
                  <a:srgbClr val="17212B"/>
                </a:solidFill>
              </a:rPr>
              <a:t>AKSİYON</a:t>
            </a:r>
          </a:p>
        </p:txBody>
      </p:sp>
      <p:sp>
        <p:nvSpPr>
          <p:cNvPr id="15" name="">
            <a:extLst xmlns:a="http://schemas.openxmlformats.org/drawingml/2006/main">
              <a:ext uri="{FF2B5EF4-FFF2-40B4-BE49-F238E27FC236}">
                <a16:creationId xmlns:a16="http://schemas.microsoft.com/office/drawing/2014/main" id="{8E53DB76-5EE7-4644-B39C-F23DF1A32F54}"/>
              </a:ext>
            </a:extLst>
          </p:cNvPr>
          <p:cNvSpPr>
            <a:spLocks xmlns:a="http://schemas.openxmlformats.org/drawingml/2006/main" noGrp="1"/>
          </p:cNvSpPr>
          <p:nvPr/>
        </p:nvSpPr>
        <p:spPr>
          <a:xfrm xmlns:a="http://schemas.openxmlformats.org/drawingml/2006/main">
            <a:off x="4514850" y="3467100"/>
            <a:ext cx="1238250"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945085F-487D-4352-8A36-45A15A4EEE94}"/>
              </a:ext>
            </a:extLst>
          </p:cNvPr>
          <p:cNvSpPr>
            <a:spLocks xmlns:a="http://schemas.openxmlformats.org/drawingml/2006/main" noGrp="1"/>
          </p:cNvSpPr>
          <p:nvPr/>
        </p:nvSpPr>
        <p:spPr>
          <a:xfrm xmlns:a="http://schemas.openxmlformats.org/drawingml/2006/main">
            <a:off x="4610100" y="34861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D35D5"/>
                </a:solidFill>
              </a:defRPr>
            </a:pPr>
            <a:r>
              <a:rPr sz="975" b="1">
                <a:solidFill>
                  <a:srgbClr val="6D35D5"/>
                </a:solidFill>
              </a:rPr>
              <a:t>API + AGENT</a:t>
            </a:r>
          </a:p>
        </p:txBody>
      </p:sp>
      <p:sp>
        <p:nvSpPr>
          <p:cNvPr id="17" name="">
            <a:extLst xmlns:a="http://schemas.openxmlformats.org/drawingml/2006/main">
              <a:ext uri="{FF2B5EF4-FFF2-40B4-BE49-F238E27FC236}">
                <a16:creationId xmlns:a16="http://schemas.microsoft.com/office/drawing/2014/main" id="{CE62F715-6B36-43C2-8540-246C8954D7A4}"/>
              </a:ext>
            </a:extLst>
          </p:cNvPr>
          <p:cNvSpPr>
            <a:spLocks xmlns:a="http://schemas.openxmlformats.org/drawingml/2006/main" noGrp="1"/>
          </p:cNvSpPr>
          <p:nvPr/>
        </p:nvSpPr>
        <p:spPr>
          <a:xfrm xmlns:a="http://schemas.openxmlformats.org/drawingml/2006/main">
            <a:off x="4514850" y="4038600"/>
            <a:ext cx="285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181"/>
                </a:solidFill>
              </a:defRPr>
            </a:pPr>
            <a:r>
              <a:rPr sz="1350" b="0">
                <a:solidFill>
                  <a:srgbClr val="687181"/>
                </a:solidFill>
              </a:rPr>
              <a:t>CRM, ERP ve özel API’larda sorgu veya işlem.</a:t>
            </a:r>
          </a:p>
        </p:txBody>
      </p:sp>
      <p:sp>
        <p:nvSpPr>
          <p:cNvPr id="18" name="">
            <a:extLst xmlns:a="http://schemas.openxmlformats.org/drawingml/2006/main">
              <a:ext uri="{FF2B5EF4-FFF2-40B4-BE49-F238E27FC236}">
                <a16:creationId xmlns:a16="http://schemas.microsoft.com/office/drawing/2014/main" id="{3CEFD0A7-BAB4-49DF-AECE-A7A9CFC293F2}"/>
              </a:ext>
            </a:extLst>
          </p:cNvPr>
          <p:cNvSpPr>
            <a:spLocks xmlns:a="http://schemas.openxmlformats.org/drawingml/2006/main" noGrp="1"/>
          </p:cNvSpPr>
          <p:nvPr/>
        </p:nvSpPr>
        <p:spPr>
          <a:xfrm xmlns:a="http://schemas.openxmlformats.org/drawingml/2006/main">
            <a:off x="7962900" y="2228850"/>
            <a:ext cx="3333750" cy="3219450"/>
          </a:xfrm>
          <a:prstGeom xmlns:a="http://schemas.openxmlformats.org/drawingml/2006/main" prst="roundRect">
            <a:avLst>
              <a:gd name="adj" fmla="val 4734"/>
            </a:avLst>
          </a:prstGeom>
          <a:solidFill xmlns:a="http://schemas.openxmlformats.org/drawingml/2006/main">
            <a:srgbClr val="F7F5FB"/>
          </a:solidFill>
          <a:ln xmlns:a="http://schemas.openxmlformats.org/drawingml/2006/main" w="9525">
            <a:solidFill>
              <a:srgbClr val="DCD7E7"/>
            </a:solidFill>
            <a:prstDash val="solid"/>
          </a:ln>
        </p:spPr>
      </p:sp>
      <p:sp>
        <p:nvSpPr>
          <p:cNvPr id="19" name="">
            <a:extLst xmlns:a="http://schemas.openxmlformats.org/drawingml/2006/main">
              <a:ext uri="{FF2B5EF4-FFF2-40B4-BE49-F238E27FC236}">
                <a16:creationId xmlns:a16="http://schemas.microsoft.com/office/drawing/2014/main" id="{BCC2E81C-5B12-4E88-AA23-B11775171ECA}"/>
              </a:ext>
            </a:extLst>
          </p:cNvPr>
          <p:cNvSpPr>
            <a:spLocks xmlns:a="http://schemas.openxmlformats.org/drawingml/2006/main" noGrp="1"/>
          </p:cNvSpPr>
          <p:nvPr/>
        </p:nvSpPr>
        <p:spPr>
          <a:xfrm xmlns:a="http://schemas.openxmlformats.org/drawingml/2006/main">
            <a:off x="8191500" y="24193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35D5"/>
                </a:solidFill>
              </a:defRPr>
            </a:pPr>
            <a:r>
              <a:rPr sz="1200" b="1">
                <a:solidFill>
                  <a:srgbClr val="6D35D5"/>
                </a:solidFill>
              </a:rPr>
              <a:t>03</a:t>
            </a:r>
          </a:p>
        </p:txBody>
      </p:sp>
      <p:sp>
        <p:nvSpPr>
          <p:cNvPr id="20" name="">
            <a:extLst xmlns:a="http://schemas.openxmlformats.org/drawingml/2006/main">
              <a:ext uri="{FF2B5EF4-FFF2-40B4-BE49-F238E27FC236}">
                <a16:creationId xmlns:a16="http://schemas.microsoft.com/office/drawing/2014/main" id="{00FD8E64-C57B-43A4-932E-CBF9DD21ADA4}"/>
              </a:ext>
            </a:extLst>
          </p:cNvPr>
          <p:cNvSpPr>
            <a:spLocks xmlns:a="http://schemas.openxmlformats.org/drawingml/2006/main" noGrp="1"/>
          </p:cNvSpPr>
          <p:nvPr/>
        </p:nvSpPr>
        <p:spPr>
          <a:xfrm xmlns:a="http://schemas.openxmlformats.org/drawingml/2006/main">
            <a:off x="8191500" y="285750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7212B"/>
                </a:solidFill>
              </a:defRPr>
            </a:pPr>
            <a:r>
              <a:rPr sz="2250" b="1">
                <a:solidFill>
                  <a:srgbClr val="17212B"/>
                </a:solidFill>
              </a:rPr>
              <a:t>DEVİR</a:t>
            </a:r>
          </a:p>
        </p:txBody>
      </p:sp>
      <p:sp>
        <p:nvSpPr>
          <p:cNvPr id="21" name="">
            <a:extLst xmlns:a="http://schemas.openxmlformats.org/drawingml/2006/main">
              <a:ext uri="{FF2B5EF4-FFF2-40B4-BE49-F238E27FC236}">
                <a16:creationId xmlns:a16="http://schemas.microsoft.com/office/drawing/2014/main" id="{D102EDFA-955E-4EF5-AAC7-B3F147108FE2}"/>
              </a:ext>
            </a:extLst>
          </p:cNvPr>
          <p:cNvSpPr>
            <a:spLocks xmlns:a="http://schemas.openxmlformats.org/drawingml/2006/main" noGrp="1"/>
          </p:cNvSpPr>
          <p:nvPr/>
        </p:nvSpPr>
        <p:spPr>
          <a:xfrm xmlns:a="http://schemas.openxmlformats.org/drawingml/2006/main">
            <a:off x="8191500" y="3467100"/>
            <a:ext cx="1238250" cy="304800"/>
          </a:xfrm>
          <a:prstGeom xmlns:a="http://schemas.openxmlformats.org/drawingml/2006/main" prst="roundRect">
            <a:avLst>
              <a:gd name="adj" fmla="val 50000"/>
            </a:avLst>
          </a:prstGeom>
          <a:solidFill xmlns:a="http://schemas.openxmlformats.org/drawingml/2006/main">
            <a:srgbClr val="E2F8E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E8853D6-4855-413C-8FAC-303CC52BBB0A}"/>
              </a:ext>
            </a:extLst>
          </p:cNvPr>
          <p:cNvSpPr>
            <a:spLocks xmlns:a="http://schemas.openxmlformats.org/drawingml/2006/main" noGrp="1"/>
          </p:cNvSpPr>
          <p:nvPr/>
        </p:nvSpPr>
        <p:spPr>
          <a:xfrm xmlns:a="http://schemas.openxmlformats.org/drawingml/2006/main">
            <a:off x="8286750" y="34861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59B69"/>
                </a:solidFill>
              </a:defRPr>
            </a:pPr>
            <a:r>
              <a:rPr sz="975" b="1">
                <a:solidFill>
                  <a:srgbClr val="159B69"/>
                </a:solidFill>
              </a:rPr>
              <a:t>HUMAN</a:t>
            </a:r>
          </a:p>
        </p:txBody>
      </p:sp>
      <p:sp>
        <p:nvSpPr>
          <p:cNvPr id="23" name="">
            <a:extLst xmlns:a="http://schemas.openxmlformats.org/drawingml/2006/main">
              <a:ext uri="{FF2B5EF4-FFF2-40B4-BE49-F238E27FC236}">
                <a16:creationId xmlns:a16="http://schemas.microsoft.com/office/drawing/2014/main" id="{53BA90D1-D66C-4208-A13C-494F69A7E531}"/>
              </a:ext>
            </a:extLst>
          </p:cNvPr>
          <p:cNvSpPr>
            <a:spLocks xmlns:a="http://schemas.openxmlformats.org/drawingml/2006/main" noGrp="1"/>
          </p:cNvSpPr>
          <p:nvPr/>
        </p:nvSpPr>
        <p:spPr>
          <a:xfrm xmlns:a="http://schemas.openxmlformats.org/drawingml/2006/main">
            <a:off x="8191500" y="4038600"/>
            <a:ext cx="285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181"/>
                </a:solidFill>
              </a:defRPr>
            </a:pPr>
            <a:r>
              <a:rPr sz="1350" b="0">
                <a:solidFill>
                  <a:srgbClr val="687181"/>
                </a:solidFill>
              </a:rPr>
              <a:t>İstisnayı fark edip bağlamı kaybetmeden insana aktarım.</a:t>
            </a:r>
          </a:p>
        </p:txBody>
      </p:sp>
      <p:sp>
        <p:nvSpPr>
          <p:cNvPr id="24" name="">
            <a:extLst xmlns:a="http://schemas.openxmlformats.org/drawingml/2006/main">
              <a:ext uri="{FF2B5EF4-FFF2-40B4-BE49-F238E27FC236}">
                <a16:creationId xmlns:a16="http://schemas.microsoft.com/office/drawing/2014/main" id="{98854F1D-A4F5-48FF-B94F-ACA58D7805F6}"/>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87181"/>
                </a:solidFill>
              </a:defRPr>
            </a:pPr>
            <a:r>
              <a:rPr sz="750" b="0">
                <a:solidFill>
                  <a:srgbClr val="687181"/>
                </a:solidFill>
              </a:rPr>
              <a:t>Kaynak: Orbina CXOS Sektörel Sunum — Bilgi + Aksiyon + Devir</a:t>
            </a:r>
          </a:p>
        </p:txBody>
      </p:sp>
      <p:sp>
        <p:nvSpPr>
          <p:cNvPr id="25" name="">
            <a:extLst xmlns:a="http://schemas.openxmlformats.org/drawingml/2006/main">
              <a:ext uri="{FF2B5EF4-FFF2-40B4-BE49-F238E27FC236}">
                <a16:creationId xmlns:a16="http://schemas.microsoft.com/office/drawing/2014/main" id="{CAEF2770-1F1C-44B4-A2F7-3EAD4E298A9B}"/>
              </a:ext>
            </a:extLst>
          </p:cNvPr>
          <p:cNvSpPr>
            <a:spLocks xmlns:a="http://schemas.openxmlformats.org/drawingml/2006/main" noGrp="1"/>
          </p:cNvSpPr>
          <p:nvPr/>
        </p:nvSpPr>
        <p:spPr>
          <a:xfrm xmlns:a="http://schemas.openxmlformats.org/drawingml/2006/main">
            <a:off x="10572750" y="6515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7212B"/>
                </a:solidFill>
              </a:defRPr>
            </a:pPr>
            <a:r>
              <a:rPr sz="900" b="1">
                <a:solidFill>
                  <a:srgbClr val="17212B"/>
                </a:solidFill>
              </a:rPr>
              <a:t>ORBINA</a:t>
            </a:r>
          </a:p>
        </p:txBody>
      </p:sp>
    </p:spTree>
    <p:extLst>
      <p:ext uri="{BB962C8B-B14F-4D97-AF65-F5344CB8AC3E}">
        <p14:creationId xmlns:p14="http://schemas.microsoft.com/office/powerpoint/2010/main" val="12367883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340E8A-4770-465B-9784-5C29A3258D27}"/>
              </a:ext>
            </a:extLst>
          </p:cNvPr>
          <p:cNvSpPr>
            <a:spLocks xmlns:a="http://schemas.openxmlformats.org/drawingml/2006/main" noGrp="1"/>
          </p:cNvSpPr>
          <p:nvPr/>
        </p:nvSpPr>
        <p:spPr>
          <a:xfrm xmlns:a="http://schemas.openxmlformats.org/drawingml/2006/main">
            <a:off x="609600" y="3619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35D5"/>
                </a:solidFill>
              </a:defRPr>
            </a:pPr>
            <a:r>
              <a:rPr sz="975" b="1">
                <a:solidFill>
                  <a:srgbClr val="6D35D5"/>
                </a:solidFill>
              </a:rPr>
              <a:t>PRIMARY ORCHESTRATOR → DATA AGENT → ACTION AGENT</a:t>
            </a:r>
          </a:p>
        </p:txBody>
      </p:sp>
      <p:sp>
        <p:nvSpPr>
          <p:cNvPr id="2" name="title-3">
            <a:extLst xmlns:a="http://schemas.openxmlformats.org/drawingml/2006/main">
              <a:ext uri="{FF2B5EF4-FFF2-40B4-BE49-F238E27FC236}">
                <a16:creationId xmlns:a16="http://schemas.microsoft.com/office/drawing/2014/main" id="{2F550AEE-F27A-4DBB-ABED-51C40CC970B9}"/>
              </a:ext>
            </a:extLst>
          </p:cNvPr>
          <p:cNvSpPr>
            <a:spLocks xmlns:a="http://schemas.openxmlformats.org/drawingml/2006/main" noGrp="1"/>
          </p:cNvSpPr>
          <p:nvPr/>
        </p:nvSpPr>
        <p:spPr>
          <a:xfrm xmlns:a="http://schemas.openxmlformats.org/drawingml/2006/main">
            <a:off x="609600" y="6667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7212B"/>
                </a:solidFill>
              </a:defRPr>
            </a:pPr>
            <a:r>
              <a:rPr sz="2700" b="1">
                <a:solidFill>
                  <a:srgbClr val="17212B"/>
                </a:solidFill>
              </a:rPr>
              <a:t>Bir müşteri mesajı ajanlar arasında nasıl ilerler?</a:t>
            </a:r>
          </a:p>
        </p:txBody>
      </p:sp>
      <p:sp>
        <p:nvSpPr>
          <p:cNvPr id="3" name="">
            <a:extLst xmlns:a="http://schemas.openxmlformats.org/drawingml/2006/main">
              <a:ext uri="{FF2B5EF4-FFF2-40B4-BE49-F238E27FC236}">
                <a16:creationId xmlns:a16="http://schemas.microsoft.com/office/drawing/2014/main" id="{E5F89A81-D3BB-4DC4-8C77-A9E622CD8C03}"/>
              </a:ext>
            </a:extLst>
          </p:cNvPr>
          <p:cNvSpPr>
            <a:spLocks xmlns:a="http://schemas.openxmlformats.org/drawingml/2006/main" noGrp="1"/>
          </p:cNvSpPr>
          <p:nvPr/>
        </p:nvSpPr>
        <p:spPr>
          <a:xfrm xmlns:a="http://schemas.openxmlformats.org/drawingml/2006/main">
            <a:off x="11191875" y="419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1"/>
                </a:solidFill>
              </a:defRPr>
            </a:pPr>
            <a:r>
              <a:rPr sz="975" b="1">
                <a:solidFill>
                  <a:srgbClr val="687181"/>
                </a:solidFill>
              </a:rPr>
              <a:t>03</a:t>
            </a:r>
          </a:p>
        </p:txBody>
      </p:sp>
      <p:sp>
        <p:nvSpPr>
          <p:cNvPr id="4" name="">
            <a:extLst xmlns:a="http://schemas.openxmlformats.org/drawingml/2006/main">
              <a:ext uri="{FF2B5EF4-FFF2-40B4-BE49-F238E27FC236}">
                <a16:creationId xmlns:a16="http://schemas.microsoft.com/office/drawing/2014/main" id="{4E88F2C7-0644-444D-8842-41C7BA0A8478}"/>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EEE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049FFB9-E741-4194-A42E-9053895E9B02}"/>
              </a:ext>
            </a:extLst>
          </p:cNvPr>
          <p:cNvSpPr>
            <a:spLocks xmlns:a="http://schemas.openxmlformats.org/drawingml/2006/main" noGrp="1"/>
          </p:cNvSpPr>
          <p:nvPr/>
        </p:nvSpPr>
        <p:spPr>
          <a:xfrm xmlns:a="http://schemas.openxmlformats.org/drawingml/2006/main">
            <a:off x="609600" y="1600200"/>
            <a:ext cx="10972800" cy="704850"/>
          </a:xfrm>
          <a:prstGeom xmlns:a="http://schemas.openxmlformats.org/drawingml/2006/main" prst="roundRect">
            <a:avLst>
              <a:gd name="adj" fmla="val 16216"/>
            </a:avLst>
          </a:prstGeom>
          <a:solidFill xmlns:a="http://schemas.openxmlformats.org/drawingml/2006/main">
            <a:srgbClr val="F7F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7F0490F-EB25-4971-99CB-3CAD180F7F81}"/>
              </a:ext>
            </a:extLst>
          </p:cNvPr>
          <p:cNvSpPr>
            <a:spLocks xmlns:a="http://schemas.openxmlformats.org/drawingml/2006/main" noGrp="1"/>
          </p:cNvSpPr>
          <p:nvPr/>
        </p:nvSpPr>
        <p:spPr>
          <a:xfrm xmlns:a="http://schemas.openxmlformats.org/drawingml/2006/main">
            <a:off x="857250" y="1724025"/>
            <a:ext cx="1045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12B"/>
                </a:solidFill>
              </a:defRPr>
            </a:pPr>
            <a:r>
              <a:rPr sz="1575" b="1">
                <a:solidFill>
                  <a:srgbClr val="17212B"/>
                </a:solidFill>
              </a:rPr>
              <a:t>“Geçen hafta aldığım siyah mont küçük geldi. Büyük bedeni varsa değiştirmek istiyorum.”</a:t>
            </a:r>
          </a:p>
        </p:txBody>
      </p:sp>
      <p:sp>
        <p:nvSpPr>
          <p:cNvPr id="7" name="">
            <a:extLst xmlns:a="http://schemas.openxmlformats.org/drawingml/2006/main">
              <a:ext uri="{FF2B5EF4-FFF2-40B4-BE49-F238E27FC236}">
                <a16:creationId xmlns:a16="http://schemas.microsoft.com/office/drawing/2014/main" id="{3B6E5B45-3AD0-472C-A89E-8C060E94830B}"/>
              </a:ext>
            </a:extLst>
          </p:cNvPr>
          <p:cNvSpPr>
            <a:spLocks xmlns:a="http://schemas.openxmlformats.org/drawingml/2006/main" noGrp="1"/>
          </p:cNvSpPr>
          <p:nvPr/>
        </p:nvSpPr>
        <p:spPr>
          <a:xfrm xmlns:a="http://schemas.openxmlformats.org/drawingml/2006/main">
            <a:off x="3409950" y="3524250"/>
            <a:ext cx="704850" cy="76200"/>
          </a:xfrm>
          <a:prstGeom xmlns:a="http://schemas.openxmlformats.org/drawingml/2006/main" prst="rect">
            <a:avLst/>
          </a:prstGeom>
          <a:solidFill xmlns:a="http://schemas.openxmlformats.org/drawingml/2006/main">
            <a:srgbClr val="8C4FE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2EE4F8-7C3F-4022-A4A2-2CB845DBC472}"/>
              </a:ext>
            </a:extLst>
          </p:cNvPr>
          <p:cNvSpPr>
            <a:spLocks xmlns:a="http://schemas.openxmlformats.org/drawingml/2006/main" noGrp="1"/>
          </p:cNvSpPr>
          <p:nvPr/>
        </p:nvSpPr>
        <p:spPr>
          <a:xfrm xmlns:a="http://schemas.openxmlformats.org/drawingml/2006/main">
            <a:off x="3886200" y="3371850"/>
            <a:ext cx="400050" cy="381000"/>
          </a:xfrm>
          <a:prstGeom xmlns:a="http://schemas.openxmlformats.org/drawingml/2006/main" prst="chevron">
            <a:avLst/>
          </a:prstGeom>
          <a:solidFill xmlns:a="http://schemas.openxmlformats.org/drawingml/2006/main">
            <a:srgbClr val="8C4F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E413E31-29E2-4145-810C-F8958480317C}"/>
              </a:ext>
            </a:extLst>
          </p:cNvPr>
          <p:cNvSpPr>
            <a:spLocks xmlns:a="http://schemas.openxmlformats.org/drawingml/2006/main" noGrp="1"/>
          </p:cNvSpPr>
          <p:nvPr/>
        </p:nvSpPr>
        <p:spPr>
          <a:xfrm xmlns:a="http://schemas.openxmlformats.org/drawingml/2006/main">
            <a:off x="7086600" y="3524250"/>
            <a:ext cx="704850" cy="76200"/>
          </a:xfrm>
          <a:prstGeom xmlns:a="http://schemas.openxmlformats.org/drawingml/2006/main" prst="rect">
            <a:avLst/>
          </a:prstGeom>
          <a:solidFill xmlns:a="http://schemas.openxmlformats.org/drawingml/2006/main">
            <a:srgbClr val="8C4F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78B6CA6-8456-4028-9AB8-CEB089D87030}"/>
              </a:ext>
            </a:extLst>
          </p:cNvPr>
          <p:cNvSpPr>
            <a:spLocks xmlns:a="http://schemas.openxmlformats.org/drawingml/2006/main" noGrp="1"/>
          </p:cNvSpPr>
          <p:nvPr/>
        </p:nvSpPr>
        <p:spPr>
          <a:xfrm xmlns:a="http://schemas.openxmlformats.org/drawingml/2006/main">
            <a:off x="7562850" y="3371850"/>
            <a:ext cx="400050" cy="381000"/>
          </a:xfrm>
          <a:prstGeom xmlns:a="http://schemas.openxmlformats.org/drawingml/2006/main" prst="chevron">
            <a:avLst/>
          </a:prstGeom>
          <a:solidFill xmlns:a="http://schemas.openxmlformats.org/drawingml/2006/main">
            <a:srgbClr val="8C4F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8A4B422-EC10-42B9-ABB1-7D7E57FDFF96}"/>
              </a:ext>
            </a:extLst>
          </p:cNvPr>
          <p:cNvSpPr>
            <a:spLocks xmlns:a="http://schemas.openxmlformats.org/drawingml/2006/main" noGrp="1"/>
          </p:cNvSpPr>
          <p:nvPr/>
        </p:nvSpPr>
        <p:spPr>
          <a:xfrm xmlns:a="http://schemas.openxmlformats.org/drawingml/2006/main">
            <a:off x="723900" y="2724150"/>
            <a:ext cx="2857500" cy="2457450"/>
          </a:xfrm>
          <a:prstGeom xmlns:a="http://schemas.openxmlformats.org/drawingml/2006/main" prst="roundRect">
            <a:avLst>
              <a:gd name="adj" fmla="val 6202"/>
            </a:avLst>
          </a:prstGeom>
          <a:solidFill xmlns:a="http://schemas.openxmlformats.org/drawingml/2006/main">
            <a:srgbClr val="6D35D5"/>
          </a:solidFill>
          <a:ln xmlns:a="http://schemas.openxmlformats.org/drawingml/2006/main" w="9525">
            <a:solidFill>
              <a:srgbClr val="6D35D5"/>
            </a:solidFill>
            <a:prstDash val="solid"/>
          </a:ln>
        </p:spPr>
      </p:sp>
      <p:sp>
        <p:nvSpPr>
          <p:cNvPr id="12" name="">
            <a:extLst xmlns:a="http://schemas.openxmlformats.org/drawingml/2006/main">
              <a:ext uri="{FF2B5EF4-FFF2-40B4-BE49-F238E27FC236}">
                <a16:creationId xmlns:a16="http://schemas.microsoft.com/office/drawing/2014/main" id="{2FA9786C-42B2-45E3-9955-7E5B74AF6BFD}"/>
              </a:ext>
            </a:extLst>
          </p:cNvPr>
          <p:cNvSpPr>
            <a:spLocks xmlns:a="http://schemas.openxmlformats.org/drawingml/2006/main" noGrp="1"/>
          </p:cNvSpPr>
          <p:nvPr/>
        </p:nvSpPr>
        <p:spPr>
          <a:xfrm xmlns:a="http://schemas.openxmlformats.org/drawingml/2006/main">
            <a:off x="952500" y="2952750"/>
            <a:ext cx="2400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defRPr>
            </a:pPr>
            <a:r>
              <a:rPr sz="1875" b="1">
                <a:solidFill>
                  <a:srgbClr val="FFFFFF"/>
                </a:solidFill>
              </a:rPr>
              <a:t>PRIMARY</a:t>
            </a:r>
          </a:p>
          <a:p xmlns:a="http://schemas.openxmlformats.org/drawingml/2006/main">
            <a:pPr algn="l">
              <a:defRPr sz="1875" b="1">
                <a:solidFill>
                  <a:srgbClr val="FFFFFF"/>
                </a:solidFill>
              </a:defRPr>
            </a:pPr>
            <a:r>
              <a:rPr sz="1875" b="1">
                <a:solidFill>
                  <a:srgbClr val="FFFFFF"/>
                </a:solidFill>
              </a:rPr>
              <a:t>ORCHESTRATOR</a:t>
            </a:r>
          </a:p>
        </p:txBody>
      </p:sp>
      <p:sp>
        <p:nvSpPr>
          <p:cNvPr id="13" name="">
            <a:extLst xmlns:a="http://schemas.openxmlformats.org/drawingml/2006/main">
              <a:ext uri="{FF2B5EF4-FFF2-40B4-BE49-F238E27FC236}">
                <a16:creationId xmlns:a16="http://schemas.microsoft.com/office/drawing/2014/main" id="{667046A9-1CBF-4FD4-BBFF-013A42440B5A}"/>
              </a:ext>
            </a:extLst>
          </p:cNvPr>
          <p:cNvSpPr>
            <a:spLocks xmlns:a="http://schemas.openxmlformats.org/drawingml/2006/main" noGrp="1"/>
          </p:cNvSpPr>
          <p:nvPr/>
        </p:nvSpPr>
        <p:spPr>
          <a:xfrm xmlns:a="http://schemas.openxmlformats.org/drawingml/2006/main">
            <a:off x="952500" y="3714750"/>
            <a:ext cx="552450" cy="38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4729663-40F2-48F6-8354-AF2156C56C2B}"/>
              </a:ext>
            </a:extLst>
          </p:cNvPr>
          <p:cNvSpPr>
            <a:spLocks xmlns:a="http://schemas.openxmlformats.org/drawingml/2006/main" noGrp="1"/>
          </p:cNvSpPr>
          <p:nvPr/>
        </p:nvSpPr>
        <p:spPr>
          <a:xfrm xmlns:a="http://schemas.openxmlformats.org/drawingml/2006/main">
            <a:off x="952500" y="3924300"/>
            <a:ext cx="2400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EEE8FF"/>
                </a:solidFill>
              </a:defRPr>
            </a:pPr>
            <a:r>
              <a:rPr sz="1275" b="0">
                <a:solidFill>
                  <a:srgbClr val="EEE8FF"/>
                </a:solidFill>
              </a:rPr>
              <a:t>Niyeti anlar</a:t>
            </a:r>
          </a:p>
          <a:p xmlns:a="http://schemas.openxmlformats.org/drawingml/2006/main">
            <a:pPr algn="l">
              <a:defRPr sz="1275" b="0">
                <a:solidFill>
                  <a:srgbClr val="EEE8FF"/>
                </a:solidFill>
              </a:defRPr>
            </a:pPr>
            <a:r>
              <a:rPr sz="1275" b="0">
                <a:solidFill>
                  <a:srgbClr val="EEE8FF"/>
                </a:solidFill>
              </a:rPr>
              <a:t>Planı kurar</a:t>
            </a:r>
          </a:p>
          <a:p xmlns:a="http://schemas.openxmlformats.org/drawingml/2006/main">
            <a:pPr algn="l">
              <a:defRPr sz="1275" b="0">
                <a:solidFill>
                  <a:srgbClr val="EEE8FF"/>
                </a:solidFill>
              </a:defRPr>
            </a:pPr>
            <a:r>
              <a:rPr sz="1275" b="0">
                <a:solidFill>
                  <a:srgbClr val="EEE8FF"/>
                </a:solidFill>
              </a:rPr>
              <a:t>Yetki ve riski kontrol eder</a:t>
            </a:r>
          </a:p>
        </p:txBody>
      </p:sp>
      <p:sp>
        <p:nvSpPr>
          <p:cNvPr id="15" name="">
            <a:extLst xmlns:a="http://schemas.openxmlformats.org/drawingml/2006/main">
              <a:ext uri="{FF2B5EF4-FFF2-40B4-BE49-F238E27FC236}">
                <a16:creationId xmlns:a16="http://schemas.microsoft.com/office/drawing/2014/main" id="{4E2BEC3C-906D-43B3-93C2-E157E5F06A45}"/>
              </a:ext>
            </a:extLst>
          </p:cNvPr>
          <p:cNvSpPr>
            <a:spLocks xmlns:a="http://schemas.openxmlformats.org/drawingml/2006/main" noGrp="1"/>
          </p:cNvSpPr>
          <p:nvPr/>
        </p:nvSpPr>
        <p:spPr>
          <a:xfrm xmlns:a="http://schemas.openxmlformats.org/drawingml/2006/main">
            <a:off x="4400550" y="2724150"/>
            <a:ext cx="2857500" cy="2457450"/>
          </a:xfrm>
          <a:prstGeom xmlns:a="http://schemas.openxmlformats.org/drawingml/2006/main" prst="roundRect">
            <a:avLst>
              <a:gd name="adj" fmla="val 6202"/>
            </a:avLst>
          </a:prstGeom>
          <a:solidFill xmlns:a="http://schemas.openxmlformats.org/drawingml/2006/main">
            <a:srgbClr val="EEE7FF"/>
          </a:solidFill>
          <a:ln xmlns:a="http://schemas.openxmlformats.org/drawingml/2006/main" w="9525">
            <a:solidFill>
              <a:srgbClr val="DCD7E7"/>
            </a:solidFill>
            <a:prstDash val="solid"/>
          </a:ln>
        </p:spPr>
      </p:sp>
      <p:sp>
        <p:nvSpPr>
          <p:cNvPr id="16" name="">
            <a:extLst xmlns:a="http://schemas.openxmlformats.org/drawingml/2006/main">
              <a:ext uri="{FF2B5EF4-FFF2-40B4-BE49-F238E27FC236}">
                <a16:creationId xmlns:a16="http://schemas.microsoft.com/office/drawing/2014/main" id="{904AF4E3-1397-4642-918E-91BDB4042F30}"/>
              </a:ext>
            </a:extLst>
          </p:cNvPr>
          <p:cNvSpPr>
            <a:spLocks xmlns:a="http://schemas.openxmlformats.org/drawingml/2006/main" noGrp="1"/>
          </p:cNvSpPr>
          <p:nvPr/>
        </p:nvSpPr>
        <p:spPr>
          <a:xfrm xmlns:a="http://schemas.openxmlformats.org/drawingml/2006/main">
            <a:off x="4629150" y="2952750"/>
            <a:ext cx="2400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212B"/>
                </a:solidFill>
              </a:defRPr>
            </a:pPr>
            <a:r>
              <a:rPr sz="1875" b="1">
                <a:solidFill>
                  <a:srgbClr val="17212B"/>
                </a:solidFill>
              </a:rPr>
              <a:t>DATA AGENT</a:t>
            </a:r>
          </a:p>
        </p:txBody>
      </p:sp>
      <p:sp>
        <p:nvSpPr>
          <p:cNvPr id="17" name="">
            <a:extLst xmlns:a="http://schemas.openxmlformats.org/drawingml/2006/main">
              <a:ext uri="{FF2B5EF4-FFF2-40B4-BE49-F238E27FC236}">
                <a16:creationId xmlns:a16="http://schemas.microsoft.com/office/drawing/2014/main" id="{AF77E75E-5D8E-4A6A-886F-50665B933E94}"/>
              </a:ext>
            </a:extLst>
          </p:cNvPr>
          <p:cNvSpPr>
            <a:spLocks xmlns:a="http://schemas.openxmlformats.org/drawingml/2006/main" noGrp="1"/>
          </p:cNvSpPr>
          <p:nvPr/>
        </p:nvSpPr>
        <p:spPr>
          <a:xfrm xmlns:a="http://schemas.openxmlformats.org/drawingml/2006/main">
            <a:off x="4629150" y="3714750"/>
            <a:ext cx="552450" cy="38100"/>
          </a:xfrm>
          <a:prstGeom xmlns:a="http://schemas.openxmlformats.org/drawingml/2006/main" prst="rect">
            <a:avLst/>
          </a:prstGeom>
          <a:solidFill xmlns:a="http://schemas.openxmlformats.org/drawingml/2006/main">
            <a:srgbClr val="8C4F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729ACD0-C512-408C-A327-9FFED1ACDE1F}"/>
              </a:ext>
            </a:extLst>
          </p:cNvPr>
          <p:cNvSpPr>
            <a:spLocks xmlns:a="http://schemas.openxmlformats.org/drawingml/2006/main" noGrp="1"/>
          </p:cNvSpPr>
          <p:nvPr/>
        </p:nvSpPr>
        <p:spPr>
          <a:xfrm xmlns:a="http://schemas.openxmlformats.org/drawingml/2006/main">
            <a:off x="4629150" y="3924300"/>
            <a:ext cx="2400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CRM’den müşteriyi</a:t>
            </a:r>
          </a:p>
          <a:p xmlns:a="http://schemas.openxmlformats.org/drawingml/2006/main">
            <a:pPr algn="l">
              <a:defRPr sz="1275" b="0">
                <a:solidFill>
                  <a:srgbClr val="687181"/>
                </a:solidFill>
              </a:defRPr>
            </a:pPr>
            <a:r>
              <a:rPr sz="1275" b="0">
                <a:solidFill>
                  <a:srgbClr val="687181"/>
                </a:solidFill>
              </a:rPr>
              <a:t>ERP’den siparişi</a:t>
            </a:r>
          </a:p>
          <a:p xmlns:a="http://schemas.openxmlformats.org/drawingml/2006/main">
            <a:pPr algn="l">
              <a:defRPr sz="1275" b="0">
                <a:solidFill>
                  <a:srgbClr val="687181"/>
                </a:solidFill>
              </a:defRPr>
            </a:pPr>
            <a:r>
              <a:rPr sz="1275" b="0">
                <a:solidFill>
                  <a:srgbClr val="687181"/>
                </a:solidFill>
              </a:rPr>
              <a:t>RAG’den politikayı getirir</a:t>
            </a:r>
          </a:p>
        </p:txBody>
      </p:sp>
      <p:sp>
        <p:nvSpPr>
          <p:cNvPr id="19" name="">
            <a:extLst xmlns:a="http://schemas.openxmlformats.org/drawingml/2006/main">
              <a:ext uri="{FF2B5EF4-FFF2-40B4-BE49-F238E27FC236}">
                <a16:creationId xmlns:a16="http://schemas.microsoft.com/office/drawing/2014/main" id="{EE77B9FD-E440-4814-8316-95D7C2F1027B}"/>
              </a:ext>
            </a:extLst>
          </p:cNvPr>
          <p:cNvSpPr>
            <a:spLocks xmlns:a="http://schemas.openxmlformats.org/drawingml/2006/main" noGrp="1"/>
          </p:cNvSpPr>
          <p:nvPr/>
        </p:nvSpPr>
        <p:spPr>
          <a:xfrm xmlns:a="http://schemas.openxmlformats.org/drawingml/2006/main">
            <a:off x="8077200" y="2724150"/>
            <a:ext cx="2857500" cy="2457450"/>
          </a:xfrm>
          <a:prstGeom xmlns:a="http://schemas.openxmlformats.org/drawingml/2006/main" prst="roundRect">
            <a:avLst>
              <a:gd name="adj" fmla="val 6202"/>
            </a:avLst>
          </a:prstGeom>
          <a:solidFill xmlns:a="http://schemas.openxmlformats.org/drawingml/2006/main">
            <a:srgbClr val="E2F8EE"/>
          </a:solidFill>
          <a:ln xmlns:a="http://schemas.openxmlformats.org/drawingml/2006/main" w="9525">
            <a:solidFill>
              <a:srgbClr val="DCD7E7"/>
            </a:solidFill>
            <a:prstDash val="solid"/>
          </a:ln>
        </p:spPr>
      </p:sp>
      <p:sp>
        <p:nvSpPr>
          <p:cNvPr id="20" name="">
            <a:extLst xmlns:a="http://schemas.openxmlformats.org/drawingml/2006/main">
              <a:ext uri="{FF2B5EF4-FFF2-40B4-BE49-F238E27FC236}">
                <a16:creationId xmlns:a16="http://schemas.microsoft.com/office/drawing/2014/main" id="{A99A7098-1EFC-4784-AD83-1DAD944C218C}"/>
              </a:ext>
            </a:extLst>
          </p:cNvPr>
          <p:cNvSpPr>
            <a:spLocks xmlns:a="http://schemas.openxmlformats.org/drawingml/2006/main" noGrp="1"/>
          </p:cNvSpPr>
          <p:nvPr/>
        </p:nvSpPr>
        <p:spPr>
          <a:xfrm xmlns:a="http://schemas.openxmlformats.org/drawingml/2006/main">
            <a:off x="8305800" y="2952750"/>
            <a:ext cx="2400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212B"/>
                </a:solidFill>
              </a:defRPr>
            </a:pPr>
            <a:r>
              <a:rPr sz="1875" b="1">
                <a:solidFill>
                  <a:srgbClr val="17212B"/>
                </a:solidFill>
              </a:rPr>
              <a:t>ACTION AGENT</a:t>
            </a:r>
          </a:p>
        </p:txBody>
      </p:sp>
      <p:sp>
        <p:nvSpPr>
          <p:cNvPr id="21" name="">
            <a:extLst xmlns:a="http://schemas.openxmlformats.org/drawingml/2006/main">
              <a:ext uri="{FF2B5EF4-FFF2-40B4-BE49-F238E27FC236}">
                <a16:creationId xmlns:a16="http://schemas.microsoft.com/office/drawing/2014/main" id="{91E4A6E2-510D-4D11-ADE3-B4614E261390}"/>
              </a:ext>
            </a:extLst>
          </p:cNvPr>
          <p:cNvSpPr>
            <a:spLocks xmlns:a="http://schemas.openxmlformats.org/drawingml/2006/main" noGrp="1"/>
          </p:cNvSpPr>
          <p:nvPr/>
        </p:nvSpPr>
        <p:spPr>
          <a:xfrm xmlns:a="http://schemas.openxmlformats.org/drawingml/2006/main">
            <a:off x="8305800" y="3714750"/>
            <a:ext cx="552450" cy="38100"/>
          </a:xfrm>
          <a:prstGeom xmlns:a="http://schemas.openxmlformats.org/drawingml/2006/main" prst="rect">
            <a:avLst/>
          </a:prstGeom>
          <a:solidFill xmlns:a="http://schemas.openxmlformats.org/drawingml/2006/main">
            <a:srgbClr val="8C4F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5474760-F04A-4E18-B6AB-A38B00986C5F}"/>
              </a:ext>
            </a:extLst>
          </p:cNvPr>
          <p:cNvSpPr>
            <a:spLocks xmlns:a="http://schemas.openxmlformats.org/drawingml/2006/main" noGrp="1"/>
          </p:cNvSpPr>
          <p:nvPr/>
        </p:nvSpPr>
        <p:spPr>
          <a:xfrm xmlns:a="http://schemas.openxmlformats.org/drawingml/2006/main">
            <a:off x="8305800" y="3924300"/>
            <a:ext cx="2400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Değişim kaydı açar</a:t>
            </a:r>
          </a:p>
          <a:p xmlns:a="http://schemas.openxmlformats.org/drawingml/2006/main">
            <a:pPr algn="l">
              <a:defRPr sz="1275" b="0">
                <a:solidFill>
                  <a:srgbClr val="687181"/>
                </a:solidFill>
              </a:defRPr>
            </a:pPr>
            <a:r>
              <a:rPr sz="1275" b="0">
                <a:solidFill>
                  <a:srgbClr val="687181"/>
                </a:solidFill>
              </a:rPr>
              <a:t>Ürünü rezerve eder</a:t>
            </a:r>
          </a:p>
          <a:p xmlns:a="http://schemas.openxmlformats.org/drawingml/2006/main">
            <a:pPr algn="l">
              <a:defRPr sz="1275" b="0">
                <a:solidFill>
                  <a:srgbClr val="687181"/>
                </a:solidFill>
              </a:defRPr>
            </a:pPr>
            <a:r>
              <a:rPr sz="1275" b="0">
                <a:solidFill>
                  <a:srgbClr val="687181"/>
                </a:solidFill>
              </a:rPr>
              <a:t>CRM’i günceller</a:t>
            </a:r>
          </a:p>
        </p:txBody>
      </p:sp>
      <p:sp>
        <p:nvSpPr>
          <p:cNvPr id="23" name="">
            <a:extLst xmlns:a="http://schemas.openxmlformats.org/drawingml/2006/main">
              <a:ext uri="{FF2B5EF4-FFF2-40B4-BE49-F238E27FC236}">
                <a16:creationId xmlns:a16="http://schemas.microsoft.com/office/drawing/2014/main" id="{EC3410E4-8EFB-4C4A-BB5E-2BA393B83997}"/>
              </a:ext>
            </a:extLst>
          </p:cNvPr>
          <p:cNvSpPr>
            <a:spLocks xmlns:a="http://schemas.openxmlformats.org/drawingml/2006/main" noGrp="1"/>
          </p:cNvSpPr>
          <p:nvPr/>
        </p:nvSpPr>
        <p:spPr>
          <a:xfrm xmlns:a="http://schemas.openxmlformats.org/drawingml/2006/main">
            <a:off x="1485900" y="5524500"/>
            <a:ext cx="9220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6D35D5"/>
                </a:solidFill>
              </a:defRPr>
            </a:pPr>
            <a:r>
              <a:rPr sz="1650" b="1">
                <a:solidFill>
                  <a:srgbClr val="6D35D5"/>
                </a:solidFill>
              </a:rPr>
              <a:t>Sonuç: “L beden stokta. Değişim talebiniz oluşturuldu; kargo kodunuz…”</a:t>
            </a:r>
          </a:p>
        </p:txBody>
      </p:sp>
      <p:sp>
        <p:nvSpPr>
          <p:cNvPr id="24" name="">
            <a:extLst xmlns:a="http://schemas.openxmlformats.org/drawingml/2006/main">
              <a:ext uri="{FF2B5EF4-FFF2-40B4-BE49-F238E27FC236}">
                <a16:creationId xmlns:a16="http://schemas.microsoft.com/office/drawing/2014/main" id="{C711D071-0B89-40BC-84B9-62E88C65BC2D}"/>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87181"/>
                </a:solidFill>
              </a:defRPr>
            </a:pPr>
            <a:r>
              <a:rPr sz="750" b="0">
                <a:solidFill>
                  <a:srgbClr val="687181"/>
                </a:solidFill>
              </a:rPr>
              <a:t>Kaynak: Orbina Shared — Agent Architecture</a:t>
            </a:r>
          </a:p>
        </p:txBody>
      </p:sp>
      <p:sp>
        <p:nvSpPr>
          <p:cNvPr id="25" name="">
            <a:extLst xmlns:a="http://schemas.openxmlformats.org/drawingml/2006/main">
              <a:ext uri="{FF2B5EF4-FFF2-40B4-BE49-F238E27FC236}">
                <a16:creationId xmlns:a16="http://schemas.microsoft.com/office/drawing/2014/main" id="{667DF4A3-FDBC-4465-9A29-52311E1308DD}"/>
              </a:ext>
            </a:extLst>
          </p:cNvPr>
          <p:cNvSpPr>
            <a:spLocks xmlns:a="http://schemas.openxmlformats.org/drawingml/2006/main" noGrp="1"/>
          </p:cNvSpPr>
          <p:nvPr/>
        </p:nvSpPr>
        <p:spPr>
          <a:xfrm xmlns:a="http://schemas.openxmlformats.org/drawingml/2006/main">
            <a:off x="10572750" y="6515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7212B"/>
                </a:solidFill>
              </a:defRPr>
            </a:pPr>
            <a:r>
              <a:rPr sz="900" b="1">
                <a:solidFill>
                  <a:srgbClr val="17212B"/>
                </a:solidFill>
              </a:rPr>
              <a:t>ORBINA</a:t>
            </a:r>
          </a:p>
        </p:txBody>
      </p:sp>
    </p:spTree>
    <p:extLst>
      <p:ext uri="{BB962C8B-B14F-4D97-AF65-F5344CB8AC3E}">
        <p14:creationId xmlns:p14="http://schemas.microsoft.com/office/powerpoint/2010/main" val="1331324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ED4C08-A859-439F-A986-7BA642534BF4}"/>
              </a:ext>
            </a:extLst>
          </p:cNvPr>
          <p:cNvSpPr>
            <a:spLocks xmlns:a="http://schemas.openxmlformats.org/drawingml/2006/main" noGrp="1"/>
          </p:cNvSpPr>
          <p:nvPr/>
        </p:nvSpPr>
        <p:spPr>
          <a:xfrm xmlns:a="http://schemas.openxmlformats.org/drawingml/2006/main">
            <a:off x="609600" y="3619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35D5"/>
                </a:solidFill>
              </a:defRPr>
            </a:pPr>
            <a:r>
              <a:rPr sz="975" b="1">
                <a:solidFill>
                  <a:srgbClr val="6D35D5"/>
                </a:solidFill>
              </a:rPr>
              <a:t>AKIŞIN IÇINDEKI KONTROLLER</a:t>
            </a:r>
          </a:p>
        </p:txBody>
      </p:sp>
      <p:sp>
        <p:nvSpPr>
          <p:cNvPr id="2" name="title-4">
            <a:extLst xmlns:a="http://schemas.openxmlformats.org/drawingml/2006/main">
              <a:ext uri="{FF2B5EF4-FFF2-40B4-BE49-F238E27FC236}">
                <a16:creationId xmlns:a16="http://schemas.microsoft.com/office/drawing/2014/main" id="{ECACF9ED-4E7F-4BDB-91B8-05C6752C7D78}"/>
              </a:ext>
            </a:extLst>
          </p:cNvPr>
          <p:cNvSpPr>
            <a:spLocks xmlns:a="http://schemas.openxmlformats.org/drawingml/2006/main" noGrp="1"/>
          </p:cNvSpPr>
          <p:nvPr/>
        </p:nvSpPr>
        <p:spPr>
          <a:xfrm xmlns:a="http://schemas.openxmlformats.org/drawingml/2006/main">
            <a:off x="609600" y="6667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7212B"/>
                </a:solidFill>
              </a:defRPr>
            </a:pPr>
            <a:r>
              <a:rPr sz="2700" b="1">
                <a:solidFill>
                  <a:srgbClr val="17212B"/>
                </a:solidFill>
              </a:rPr>
              <a:t>Asıl değer, ajanların sırayla çalışması değil; kontrollü karar vermesidir.</a:t>
            </a:r>
          </a:p>
        </p:txBody>
      </p:sp>
      <p:sp>
        <p:nvSpPr>
          <p:cNvPr id="3" name="">
            <a:extLst xmlns:a="http://schemas.openxmlformats.org/drawingml/2006/main">
              <a:ext uri="{FF2B5EF4-FFF2-40B4-BE49-F238E27FC236}">
                <a16:creationId xmlns:a16="http://schemas.microsoft.com/office/drawing/2014/main" id="{C208AB1A-0AAD-4AE2-BC85-2B66AB1F82DC}"/>
              </a:ext>
            </a:extLst>
          </p:cNvPr>
          <p:cNvSpPr>
            <a:spLocks xmlns:a="http://schemas.openxmlformats.org/drawingml/2006/main" noGrp="1"/>
          </p:cNvSpPr>
          <p:nvPr/>
        </p:nvSpPr>
        <p:spPr>
          <a:xfrm xmlns:a="http://schemas.openxmlformats.org/drawingml/2006/main">
            <a:off x="11191875" y="419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1"/>
                </a:solidFill>
              </a:defRPr>
            </a:pPr>
            <a:r>
              <a:rPr sz="975" b="1">
                <a:solidFill>
                  <a:srgbClr val="687181"/>
                </a:solidFill>
              </a:rPr>
              <a:t>04</a:t>
            </a:r>
          </a:p>
        </p:txBody>
      </p:sp>
      <p:sp>
        <p:nvSpPr>
          <p:cNvPr id="4" name="">
            <a:extLst xmlns:a="http://schemas.openxmlformats.org/drawingml/2006/main">
              <a:ext uri="{FF2B5EF4-FFF2-40B4-BE49-F238E27FC236}">
                <a16:creationId xmlns:a16="http://schemas.microsoft.com/office/drawing/2014/main" id="{F34A50D2-5F2A-474B-A00B-D5D82D8C1910}"/>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EEE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303A457-0AC7-4F52-A1A9-598505ECF931}"/>
              </a:ext>
            </a:extLst>
          </p:cNvPr>
          <p:cNvSpPr>
            <a:spLocks xmlns:a="http://schemas.openxmlformats.org/drawingml/2006/main" noGrp="1"/>
          </p:cNvSpPr>
          <p:nvPr/>
        </p:nvSpPr>
        <p:spPr>
          <a:xfrm xmlns:a="http://schemas.openxmlformats.org/drawingml/2006/main">
            <a:off x="742950" y="1733550"/>
            <a:ext cx="323850" cy="32385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9C8AFFC-BB02-48D5-BF0C-93ED54083002}"/>
              </a:ext>
            </a:extLst>
          </p:cNvPr>
          <p:cNvSpPr>
            <a:spLocks xmlns:a="http://schemas.openxmlformats.org/drawingml/2006/main" noGrp="1"/>
          </p:cNvSpPr>
          <p:nvPr/>
        </p:nvSpPr>
        <p:spPr>
          <a:xfrm xmlns:a="http://schemas.openxmlformats.org/drawingml/2006/main">
            <a:off x="742950" y="17240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1</a:t>
            </a:r>
          </a:p>
        </p:txBody>
      </p:sp>
      <p:sp>
        <p:nvSpPr>
          <p:cNvPr id="7" name="">
            <a:extLst xmlns:a="http://schemas.openxmlformats.org/drawingml/2006/main">
              <a:ext uri="{FF2B5EF4-FFF2-40B4-BE49-F238E27FC236}">
                <a16:creationId xmlns:a16="http://schemas.microsoft.com/office/drawing/2014/main" id="{6E594A16-02ED-474C-8064-B65E26ACFF8C}"/>
              </a:ext>
            </a:extLst>
          </p:cNvPr>
          <p:cNvSpPr>
            <a:spLocks xmlns:a="http://schemas.openxmlformats.org/drawingml/2006/main" noGrp="1"/>
          </p:cNvSpPr>
          <p:nvPr/>
        </p:nvSpPr>
        <p:spPr>
          <a:xfrm xmlns:a="http://schemas.openxmlformats.org/drawingml/2006/main">
            <a:off x="1257300" y="1628775"/>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ANLA</a:t>
            </a:r>
          </a:p>
        </p:txBody>
      </p:sp>
      <p:sp>
        <p:nvSpPr>
          <p:cNvPr id="8" name="">
            <a:extLst xmlns:a="http://schemas.openxmlformats.org/drawingml/2006/main">
              <a:ext uri="{FF2B5EF4-FFF2-40B4-BE49-F238E27FC236}">
                <a16:creationId xmlns:a16="http://schemas.microsoft.com/office/drawing/2014/main" id="{313EC77A-3E0C-4D25-9054-BCE1E92CEE78}"/>
              </a:ext>
            </a:extLst>
          </p:cNvPr>
          <p:cNvSpPr>
            <a:spLocks xmlns:a="http://schemas.openxmlformats.org/drawingml/2006/main" noGrp="1"/>
          </p:cNvSpPr>
          <p:nvPr/>
        </p:nvSpPr>
        <p:spPr>
          <a:xfrm xmlns:a="http://schemas.openxmlformats.org/drawingml/2006/main">
            <a:off x="3219450" y="1628775"/>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181"/>
                </a:solidFill>
              </a:defRPr>
            </a:pPr>
            <a:r>
              <a:rPr sz="1350" b="0">
                <a:solidFill>
                  <a:srgbClr val="687181"/>
                </a:solidFill>
              </a:rPr>
              <a:t>Niyet, ürün ve talep türü çıkarılır.</a:t>
            </a:r>
          </a:p>
        </p:txBody>
      </p:sp>
      <p:sp>
        <p:nvSpPr>
          <p:cNvPr id="9" name="">
            <a:extLst xmlns:a="http://schemas.openxmlformats.org/drawingml/2006/main">
              <a:ext uri="{FF2B5EF4-FFF2-40B4-BE49-F238E27FC236}">
                <a16:creationId xmlns:a16="http://schemas.microsoft.com/office/drawing/2014/main" id="{143ABB80-3B99-4518-9A51-20D5F27FB679}"/>
              </a:ext>
            </a:extLst>
          </p:cNvPr>
          <p:cNvSpPr>
            <a:spLocks xmlns:a="http://schemas.openxmlformats.org/drawingml/2006/main" noGrp="1"/>
          </p:cNvSpPr>
          <p:nvPr/>
        </p:nvSpPr>
        <p:spPr>
          <a:xfrm xmlns:a="http://schemas.openxmlformats.org/drawingml/2006/main">
            <a:off x="895350" y="2076450"/>
            <a:ext cx="19050" cy="390525"/>
          </a:xfrm>
          <a:prstGeom xmlns:a="http://schemas.openxmlformats.org/drawingml/2006/main" prst="rect">
            <a:avLst/>
          </a:prstGeom>
          <a:solidFill xmlns:a="http://schemas.openxmlformats.org/drawingml/2006/main">
            <a:srgbClr val="DCD7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4580D6B-23AC-4E67-B1C6-E3141B8F5DFE}"/>
              </a:ext>
            </a:extLst>
          </p:cNvPr>
          <p:cNvSpPr>
            <a:spLocks xmlns:a="http://schemas.openxmlformats.org/drawingml/2006/main" noGrp="1"/>
          </p:cNvSpPr>
          <p:nvPr/>
        </p:nvSpPr>
        <p:spPr>
          <a:xfrm xmlns:a="http://schemas.openxmlformats.org/drawingml/2006/main">
            <a:off x="742950" y="2571750"/>
            <a:ext cx="323850" cy="32385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857503B-3D77-44C6-960C-177800FBFA48}"/>
              </a:ext>
            </a:extLst>
          </p:cNvPr>
          <p:cNvSpPr>
            <a:spLocks xmlns:a="http://schemas.openxmlformats.org/drawingml/2006/main" noGrp="1"/>
          </p:cNvSpPr>
          <p:nvPr/>
        </p:nvSpPr>
        <p:spPr>
          <a:xfrm xmlns:a="http://schemas.openxmlformats.org/drawingml/2006/main">
            <a:off x="742950" y="25622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2</a:t>
            </a:r>
          </a:p>
        </p:txBody>
      </p:sp>
      <p:sp>
        <p:nvSpPr>
          <p:cNvPr id="12" name="">
            <a:extLst xmlns:a="http://schemas.openxmlformats.org/drawingml/2006/main">
              <a:ext uri="{FF2B5EF4-FFF2-40B4-BE49-F238E27FC236}">
                <a16:creationId xmlns:a16="http://schemas.microsoft.com/office/drawing/2014/main" id="{8F981109-F5E3-4215-880C-051FE9B8BC58}"/>
              </a:ext>
            </a:extLst>
          </p:cNvPr>
          <p:cNvSpPr>
            <a:spLocks xmlns:a="http://schemas.openxmlformats.org/drawingml/2006/main" noGrp="1"/>
          </p:cNvSpPr>
          <p:nvPr/>
        </p:nvSpPr>
        <p:spPr>
          <a:xfrm xmlns:a="http://schemas.openxmlformats.org/drawingml/2006/main">
            <a:off x="1257300" y="2466975"/>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TOPLA</a:t>
            </a:r>
          </a:p>
        </p:txBody>
      </p:sp>
      <p:sp>
        <p:nvSpPr>
          <p:cNvPr id="13" name="">
            <a:extLst xmlns:a="http://schemas.openxmlformats.org/drawingml/2006/main">
              <a:ext uri="{FF2B5EF4-FFF2-40B4-BE49-F238E27FC236}">
                <a16:creationId xmlns:a16="http://schemas.microsoft.com/office/drawing/2014/main" id="{14F3E3E5-A607-4D4C-8E6B-C3A26451B1BB}"/>
              </a:ext>
            </a:extLst>
          </p:cNvPr>
          <p:cNvSpPr>
            <a:spLocks xmlns:a="http://schemas.openxmlformats.org/drawingml/2006/main" noGrp="1"/>
          </p:cNvSpPr>
          <p:nvPr/>
        </p:nvSpPr>
        <p:spPr>
          <a:xfrm xmlns:a="http://schemas.openxmlformats.org/drawingml/2006/main">
            <a:off x="3219450" y="2466975"/>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181"/>
                </a:solidFill>
              </a:defRPr>
            </a:pPr>
            <a:r>
              <a:rPr sz="1350" b="0">
                <a:solidFill>
                  <a:srgbClr val="687181"/>
                </a:solidFill>
              </a:rPr>
              <a:t>Sipariş, stok, müşteri ve politika verileri getirilir.</a:t>
            </a:r>
          </a:p>
        </p:txBody>
      </p:sp>
      <p:sp>
        <p:nvSpPr>
          <p:cNvPr id="14" name="">
            <a:extLst xmlns:a="http://schemas.openxmlformats.org/drawingml/2006/main">
              <a:ext uri="{FF2B5EF4-FFF2-40B4-BE49-F238E27FC236}">
                <a16:creationId xmlns:a16="http://schemas.microsoft.com/office/drawing/2014/main" id="{3AF3DE49-657C-4205-8E36-140F5DA42BB5}"/>
              </a:ext>
            </a:extLst>
          </p:cNvPr>
          <p:cNvSpPr>
            <a:spLocks xmlns:a="http://schemas.openxmlformats.org/drawingml/2006/main" noGrp="1"/>
          </p:cNvSpPr>
          <p:nvPr/>
        </p:nvSpPr>
        <p:spPr>
          <a:xfrm xmlns:a="http://schemas.openxmlformats.org/drawingml/2006/main">
            <a:off x="895350" y="2914650"/>
            <a:ext cx="19050" cy="390525"/>
          </a:xfrm>
          <a:prstGeom xmlns:a="http://schemas.openxmlformats.org/drawingml/2006/main" prst="rect">
            <a:avLst/>
          </a:prstGeom>
          <a:solidFill xmlns:a="http://schemas.openxmlformats.org/drawingml/2006/main">
            <a:srgbClr val="DCD7E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CAA36E7-EAF2-45ED-A69E-378C29449E69}"/>
              </a:ext>
            </a:extLst>
          </p:cNvPr>
          <p:cNvSpPr>
            <a:spLocks xmlns:a="http://schemas.openxmlformats.org/drawingml/2006/main" noGrp="1"/>
          </p:cNvSpPr>
          <p:nvPr/>
        </p:nvSpPr>
        <p:spPr>
          <a:xfrm xmlns:a="http://schemas.openxmlformats.org/drawingml/2006/main">
            <a:off x="742950" y="3409950"/>
            <a:ext cx="323850" cy="32385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3B1181D-E2DD-48F1-96C0-4554AA6654FF}"/>
              </a:ext>
            </a:extLst>
          </p:cNvPr>
          <p:cNvSpPr>
            <a:spLocks xmlns:a="http://schemas.openxmlformats.org/drawingml/2006/main" noGrp="1"/>
          </p:cNvSpPr>
          <p:nvPr/>
        </p:nvSpPr>
        <p:spPr>
          <a:xfrm xmlns:a="http://schemas.openxmlformats.org/drawingml/2006/main">
            <a:off x="742950" y="34004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3</a:t>
            </a:r>
          </a:p>
        </p:txBody>
      </p:sp>
      <p:sp>
        <p:nvSpPr>
          <p:cNvPr id="17" name="">
            <a:extLst xmlns:a="http://schemas.openxmlformats.org/drawingml/2006/main">
              <a:ext uri="{FF2B5EF4-FFF2-40B4-BE49-F238E27FC236}">
                <a16:creationId xmlns:a16="http://schemas.microsoft.com/office/drawing/2014/main" id="{4D76353D-9CFE-43BA-8CD2-6A5D72732A93}"/>
              </a:ext>
            </a:extLst>
          </p:cNvPr>
          <p:cNvSpPr>
            <a:spLocks xmlns:a="http://schemas.openxmlformats.org/drawingml/2006/main" noGrp="1"/>
          </p:cNvSpPr>
          <p:nvPr/>
        </p:nvSpPr>
        <p:spPr>
          <a:xfrm xmlns:a="http://schemas.openxmlformats.org/drawingml/2006/main">
            <a:off x="1257300" y="3305175"/>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KARAR VER</a:t>
            </a:r>
          </a:p>
        </p:txBody>
      </p:sp>
      <p:sp>
        <p:nvSpPr>
          <p:cNvPr id="18" name="">
            <a:extLst xmlns:a="http://schemas.openxmlformats.org/drawingml/2006/main">
              <a:ext uri="{FF2B5EF4-FFF2-40B4-BE49-F238E27FC236}">
                <a16:creationId xmlns:a16="http://schemas.microsoft.com/office/drawing/2014/main" id="{D7637B02-A6BE-4B49-9878-B8BF3B38674C}"/>
              </a:ext>
            </a:extLst>
          </p:cNvPr>
          <p:cNvSpPr>
            <a:spLocks xmlns:a="http://schemas.openxmlformats.org/drawingml/2006/main" noGrp="1"/>
          </p:cNvSpPr>
          <p:nvPr/>
        </p:nvSpPr>
        <p:spPr>
          <a:xfrm xmlns:a="http://schemas.openxmlformats.org/drawingml/2006/main">
            <a:off x="3219450" y="3305175"/>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181"/>
                </a:solidFill>
              </a:defRPr>
            </a:pPr>
            <a:r>
              <a:rPr sz="1350" b="0">
                <a:solidFill>
                  <a:srgbClr val="687181"/>
                </a:solidFill>
              </a:rPr>
              <a:t>Süre, uygunluk, yetki ve risk kuralları uygulanır.</a:t>
            </a:r>
          </a:p>
        </p:txBody>
      </p:sp>
      <p:sp>
        <p:nvSpPr>
          <p:cNvPr id="19" name="">
            <a:extLst xmlns:a="http://schemas.openxmlformats.org/drawingml/2006/main">
              <a:ext uri="{FF2B5EF4-FFF2-40B4-BE49-F238E27FC236}">
                <a16:creationId xmlns:a16="http://schemas.microsoft.com/office/drawing/2014/main" id="{90D6897B-CE8B-48D1-A020-52907DF18295}"/>
              </a:ext>
            </a:extLst>
          </p:cNvPr>
          <p:cNvSpPr>
            <a:spLocks xmlns:a="http://schemas.openxmlformats.org/drawingml/2006/main" noGrp="1"/>
          </p:cNvSpPr>
          <p:nvPr/>
        </p:nvSpPr>
        <p:spPr>
          <a:xfrm xmlns:a="http://schemas.openxmlformats.org/drawingml/2006/main">
            <a:off x="895350" y="3752850"/>
            <a:ext cx="19050" cy="390525"/>
          </a:xfrm>
          <a:prstGeom xmlns:a="http://schemas.openxmlformats.org/drawingml/2006/main" prst="rect">
            <a:avLst/>
          </a:prstGeom>
          <a:solidFill xmlns:a="http://schemas.openxmlformats.org/drawingml/2006/main">
            <a:srgbClr val="DCD7E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C8FC25B-B0AD-46EC-8960-F170EBAFDE50}"/>
              </a:ext>
            </a:extLst>
          </p:cNvPr>
          <p:cNvSpPr>
            <a:spLocks xmlns:a="http://schemas.openxmlformats.org/drawingml/2006/main" noGrp="1"/>
          </p:cNvSpPr>
          <p:nvPr/>
        </p:nvSpPr>
        <p:spPr>
          <a:xfrm xmlns:a="http://schemas.openxmlformats.org/drawingml/2006/main">
            <a:off x="742950" y="4248150"/>
            <a:ext cx="323850" cy="32385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EB8618D-BE43-4537-8BAF-EE1A76BC1367}"/>
              </a:ext>
            </a:extLst>
          </p:cNvPr>
          <p:cNvSpPr>
            <a:spLocks xmlns:a="http://schemas.openxmlformats.org/drawingml/2006/main" noGrp="1"/>
          </p:cNvSpPr>
          <p:nvPr/>
        </p:nvSpPr>
        <p:spPr>
          <a:xfrm xmlns:a="http://schemas.openxmlformats.org/drawingml/2006/main">
            <a:off x="742950" y="42386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4</a:t>
            </a:r>
          </a:p>
        </p:txBody>
      </p:sp>
      <p:sp>
        <p:nvSpPr>
          <p:cNvPr id="22" name="">
            <a:extLst xmlns:a="http://schemas.openxmlformats.org/drawingml/2006/main">
              <a:ext uri="{FF2B5EF4-FFF2-40B4-BE49-F238E27FC236}">
                <a16:creationId xmlns:a16="http://schemas.microsoft.com/office/drawing/2014/main" id="{857D3DD5-FCCA-47F3-92F0-D5E5FB0AED54}"/>
              </a:ext>
            </a:extLst>
          </p:cNvPr>
          <p:cNvSpPr>
            <a:spLocks xmlns:a="http://schemas.openxmlformats.org/drawingml/2006/main" noGrp="1"/>
          </p:cNvSpPr>
          <p:nvPr/>
        </p:nvSpPr>
        <p:spPr>
          <a:xfrm xmlns:a="http://schemas.openxmlformats.org/drawingml/2006/main">
            <a:off x="1257300" y="4143375"/>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UYGULA</a:t>
            </a:r>
          </a:p>
        </p:txBody>
      </p:sp>
      <p:sp>
        <p:nvSpPr>
          <p:cNvPr id="23" name="">
            <a:extLst xmlns:a="http://schemas.openxmlformats.org/drawingml/2006/main">
              <a:ext uri="{FF2B5EF4-FFF2-40B4-BE49-F238E27FC236}">
                <a16:creationId xmlns:a16="http://schemas.microsoft.com/office/drawing/2014/main" id="{F91BC165-AB85-4FDC-8108-9E715203ECEB}"/>
              </a:ext>
            </a:extLst>
          </p:cNvPr>
          <p:cNvSpPr>
            <a:spLocks xmlns:a="http://schemas.openxmlformats.org/drawingml/2006/main" noGrp="1"/>
          </p:cNvSpPr>
          <p:nvPr/>
        </p:nvSpPr>
        <p:spPr>
          <a:xfrm xmlns:a="http://schemas.openxmlformats.org/drawingml/2006/main">
            <a:off x="3219450" y="4143375"/>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181"/>
                </a:solidFill>
              </a:defRPr>
            </a:pPr>
            <a:r>
              <a:rPr sz="1350" b="0">
                <a:solidFill>
                  <a:srgbClr val="687181"/>
                </a:solidFill>
              </a:rPr>
              <a:t>İşlem tetiklenir veya onaya gönderilir.</a:t>
            </a:r>
          </a:p>
        </p:txBody>
      </p:sp>
      <p:sp>
        <p:nvSpPr>
          <p:cNvPr id="24" name="">
            <a:extLst xmlns:a="http://schemas.openxmlformats.org/drawingml/2006/main">
              <a:ext uri="{FF2B5EF4-FFF2-40B4-BE49-F238E27FC236}">
                <a16:creationId xmlns:a16="http://schemas.microsoft.com/office/drawing/2014/main" id="{A2B3F285-1073-453F-AEB2-E53F48BE63A9}"/>
              </a:ext>
            </a:extLst>
          </p:cNvPr>
          <p:cNvSpPr>
            <a:spLocks xmlns:a="http://schemas.openxmlformats.org/drawingml/2006/main" noGrp="1"/>
          </p:cNvSpPr>
          <p:nvPr/>
        </p:nvSpPr>
        <p:spPr>
          <a:xfrm xmlns:a="http://schemas.openxmlformats.org/drawingml/2006/main">
            <a:off x="895350" y="4591050"/>
            <a:ext cx="19050" cy="390525"/>
          </a:xfrm>
          <a:prstGeom xmlns:a="http://schemas.openxmlformats.org/drawingml/2006/main" prst="rect">
            <a:avLst/>
          </a:prstGeom>
          <a:solidFill xmlns:a="http://schemas.openxmlformats.org/drawingml/2006/main">
            <a:srgbClr val="DCD7E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1DCAD36-554E-4522-BFCC-5D2A99F71502}"/>
              </a:ext>
            </a:extLst>
          </p:cNvPr>
          <p:cNvSpPr>
            <a:spLocks xmlns:a="http://schemas.openxmlformats.org/drawingml/2006/main" noGrp="1"/>
          </p:cNvSpPr>
          <p:nvPr/>
        </p:nvSpPr>
        <p:spPr>
          <a:xfrm xmlns:a="http://schemas.openxmlformats.org/drawingml/2006/main">
            <a:off x="742950" y="5086350"/>
            <a:ext cx="323850" cy="323850"/>
          </a:xfrm>
          <a:prstGeom xmlns:a="http://schemas.openxmlformats.org/drawingml/2006/main" prst="ellipse">
            <a:avLst/>
          </a:prstGeom>
          <a:solidFill xmlns:a="http://schemas.openxmlformats.org/drawingml/2006/main">
            <a:srgbClr val="159B6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41458FB-6988-47A7-9A52-648174EE7D13}"/>
              </a:ext>
            </a:extLst>
          </p:cNvPr>
          <p:cNvSpPr>
            <a:spLocks xmlns:a="http://schemas.openxmlformats.org/drawingml/2006/main" noGrp="1"/>
          </p:cNvSpPr>
          <p:nvPr/>
        </p:nvSpPr>
        <p:spPr>
          <a:xfrm xmlns:a="http://schemas.openxmlformats.org/drawingml/2006/main">
            <a:off x="742950" y="50768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5</a:t>
            </a:r>
          </a:p>
        </p:txBody>
      </p:sp>
      <p:sp>
        <p:nvSpPr>
          <p:cNvPr id="27" name="">
            <a:extLst xmlns:a="http://schemas.openxmlformats.org/drawingml/2006/main">
              <a:ext uri="{FF2B5EF4-FFF2-40B4-BE49-F238E27FC236}">
                <a16:creationId xmlns:a16="http://schemas.microsoft.com/office/drawing/2014/main" id="{CFB97FF8-22E5-4FE6-A84A-111F1C0AF48E}"/>
              </a:ext>
            </a:extLst>
          </p:cNvPr>
          <p:cNvSpPr>
            <a:spLocks xmlns:a="http://schemas.openxmlformats.org/drawingml/2006/main" noGrp="1"/>
          </p:cNvSpPr>
          <p:nvPr/>
        </p:nvSpPr>
        <p:spPr>
          <a:xfrm xmlns:a="http://schemas.openxmlformats.org/drawingml/2006/main">
            <a:off x="1257300" y="4981575"/>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DOĞRULA</a:t>
            </a:r>
          </a:p>
        </p:txBody>
      </p:sp>
      <p:sp>
        <p:nvSpPr>
          <p:cNvPr id="28" name="">
            <a:extLst xmlns:a="http://schemas.openxmlformats.org/drawingml/2006/main">
              <a:ext uri="{FF2B5EF4-FFF2-40B4-BE49-F238E27FC236}">
                <a16:creationId xmlns:a16="http://schemas.microsoft.com/office/drawing/2014/main" id="{D1887F04-5E55-4E1C-BD21-E79C6CC377DF}"/>
              </a:ext>
            </a:extLst>
          </p:cNvPr>
          <p:cNvSpPr>
            <a:spLocks xmlns:a="http://schemas.openxmlformats.org/drawingml/2006/main" noGrp="1"/>
          </p:cNvSpPr>
          <p:nvPr/>
        </p:nvSpPr>
        <p:spPr>
          <a:xfrm xmlns:a="http://schemas.openxmlformats.org/drawingml/2006/main">
            <a:off x="3219450" y="4981575"/>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87181"/>
                </a:solidFill>
              </a:defRPr>
            </a:pPr>
            <a:r>
              <a:rPr sz="1350" b="0">
                <a:solidFill>
                  <a:srgbClr val="687181"/>
                </a:solidFill>
              </a:rPr>
              <a:t>Sonuç kontrol edilir; kayıt ve müşteri cevabı oluşturulur.</a:t>
            </a:r>
          </a:p>
        </p:txBody>
      </p:sp>
      <p:sp>
        <p:nvSpPr>
          <p:cNvPr id="29" name="">
            <a:extLst xmlns:a="http://schemas.openxmlformats.org/drawingml/2006/main">
              <a:ext uri="{FF2B5EF4-FFF2-40B4-BE49-F238E27FC236}">
                <a16:creationId xmlns:a16="http://schemas.microsoft.com/office/drawing/2014/main" id="{C1146F80-1EF5-419B-AD65-40864885B9EF}"/>
              </a:ext>
            </a:extLst>
          </p:cNvPr>
          <p:cNvSpPr>
            <a:spLocks xmlns:a="http://schemas.openxmlformats.org/drawingml/2006/main" noGrp="1"/>
          </p:cNvSpPr>
          <p:nvPr/>
        </p:nvSpPr>
        <p:spPr>
          <a:xfrm xmlns:a="http://schemas.openxmlformats.org/drawingml/2006/main">
            <a:off x="8286750" y="1657350"/>
            <a:ext cx="3048000" cy="1066800"/>
          </a:xfrm>
          <a:prstGeom xmlns:a="http://schemas.openxmlformats.org/drawingml/2006/main" prst="roundRect">
            <a:avLst>
              <a:gd name="adj" fmla="val 10714"/>
            </a:avLst>
          </a:prstGeom>
          <a:solidFill xmlns:a="http://schemas.openxmlformats.org/drawingml/2006/main">
            <a:srgbClr val="FFF1D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10461B4-1E3D-45A1-A122-04148D897446}"/>
              </a:ext>
            </a:extLst>
          </p:cNvPr>
          <p:cNvSpPr>
            <a:spLocks xmlns:a="http://schemas.openxmlformats.org/drawingml/2006/main" noGrp="1"/>
          </p:cNvSpPr>
          <p:nvPr/>
        </p:nvSpPr>
        <p:spPr>
          <a:xfrm xmlns:a="http://schemas.openxmlformats.org/drawingml/2006/main">
            <a:off x="8515350" y="1790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A86600"/>
                </a:solidFill>
              </a:defRPr>
            </a:pPr>
            <a:r>
              <a:rPr sz="1350" b="1">
                <a:solidFill>
                  <a:srgbClr val="A86600"/>
                </a:solidFill>
              </a:rPr>
              <a:t>İnsan kontrolü</a:t>
            </a:r>
          </a:p>
        </p:txBody>
      </p:sp>
      <p:sp>
        <p:nvSpPr>
          <p:cNvPr id="31" name="">
            <a:extLst xmlns:a="http://schemas.openxmlformats.org/drawingml/2006/main">
              <a:ext uri="{FF2B5EF4-FFF2-40B4-BE49-F238E27FC236}">
                <a16:creationId xmlns:a16="http://schemas.microsoft.com/office/drawing/2014/main" id="{D6266257-0788-4BAC-B449-411A3A822F65}"/>
              </a:ext>
            </a:extLst>
          </p:cNvPr>
          <p:cNvSpPr>
            <a:spLocks xmlns:a="http://schemas.openxmlformats.org/drawingml/2006/main" noGrp="1"/>
          </p:cNvSpPr>
          <p:nvPr/>
        </p:nvSpPr>
        <p:spPr>
          <a:xfrm xmlns:a="http://schemas.openxmlformats.org/drawingml/2006/main">
            <a:off x="8515350" y="20955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A86600"/>
                </a:solidFill>
              </a:defRPr>
            </a:pPr>
            <a:r>
              <a:rPr sz="1125" b="0">
                <a:solidFill>
                  <a:srgbClr val="A86600"/>
                </a:solidFill>
              </a:rPr>
              <a:t>Kritik noktada onay, override veya eskalasyon.</a:t>
            </a:r>
          </a:p>
        </p:txBody>
      </p:sp>
      <p:sp>
        <p:nvSpPr>
          <p:cNvPr id="32" name="">
            <a:extLst xmlns:a="http://schemas.openxmlformats.org/drawingml/2006/main">
              <a:ext uri="{FF2B5EF4-FFF2-40B4-BE49-F238E27FC236}">
                <a16:creationId xmlns:a16="http://schemas.microsoft.com/office/drawing/2014/main" id="{2B637FED-D8B9-4DC7-8830-E5B02E88C227}"/>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87181"/>
                </a:solidFill>
              </a:defRPr>
            </a:pPr>
            <a:r>
              <a:rPr sz="750" b="0">
                <a:solidFill>
                  <a:srgbClr val="687181"/>
                </a:solidFill>
              </a:rPr>
              <a:t>CXOS: intent + context + business rules + tool calling + guardrails</a:t>
            </a:r>
          </a:p>
        </p:txBody>
      </p:sp>
      <p:sp>
        <p:nvSpPr>
          <p:cNvPr id="33" name="">
            <a:extLst xmlns:a="http://schemas.openxmlformats.org/drawingml/2006/main">
              <a:ext uri="{FF2B5EF4-FFF2-40B4-BE49-F238E27FC236}">
                <a16:creationId xmlns:a16="http://schemas.microsoft.com/office/drawing/2014/main" id="{62D9488C-9F8D-44C2-9B78-282C0063B816}"/>
              </a:ext>
            </a:extLst>
          </p:cNvPr>
          <p:cNvSpPr>
            <a:spLocks xmlns:a="http://schemas.openxmlformats.org/drawingml/2006/main" noGrp="1"/>
          </p:cNvSpPr>
          <p:nvPr/>
        </p:nvSpPr>
        <p:spPr>
          <a:xfrm xmlns:a="http://schemas.openxmlformats.org/drawingml/2006/main">
            <a:off x="10572750" y="6515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7212B"/>
                </a:solidFill>
              </a:defRPr>
            </a:pPr>
            <a:r>
              <a:rPr sz="900" b="1">
                <a:solidFill>
                  <a:srgbClr val="17212B"/>
                </a:solidFill>
              </a:rPr>
              <a:t>ORBINA</a:t>
            </a:r>
          </a:p>
        </p:txBody>
      </p:sp>
    </p:spTree>
    <p:extLst>
      <p:ext uri="{BB962C8B-B14F-4D97-AF65-F5344CB8AC3E}">
        <p14:creationId xmlns:p14="http://schemas.microsoft.com/office/powerpoint/2010/main" val="14614702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5A66D3-781D-49FF-95C6-F261FBB425BA}"/>
              </a:ext>
            </a:extLst>
          </p:cNvPr>
          <p:cNvSpPr>
            <a:spLocks xmlns:a="http://schemas.openxmlformats.org/drawingml/2006/main" noGrp="1"/>
          </p:cNvSpPr>
          <p:nvPr/>
        </p:nvSpPr>
        <p:spPr>
          <a:xfrm xmlns:a="http://schemas.openxmlformats.org/drawingml/2006/main">
            <a:off x="609600" y="3619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35D5"/>
                </a:solidFill>
              </a:defRPr>
            </a:pPr>
            <a:r>
              <a:rPr sz="975" b="1">
                <a:solidFill>
                  <a:srgbClr val="6D35D5"/>
                </a:solidFill>
              </a:rPr>
              <a:t>RAG’I GERÇEKTEN ANLAMAK</a:t>
            </a:r>
          </a:p>
        </p:txBody>
      </p:sp>
      <p:sp>
        <p:nvSpPr>
          <p:cNvPr id="2" name="title-5">
            <a:extLst xmlns:a="http://schemas.openxmlformats.org/drawingml/2006/main">
              <a:ext uri="{FF2B5EF4-FFF2-40B4-BE49-F238E27FC236}">
                <a16:creationId xmlns:a16="http://schemas.microsoft.com/office/drawing/2014/main" id="{F1063893-B67E-401A-8BD4-CAFCAAF8B708}"/>
              </a:ext>
            </a:extLst>
          </p:cNvPr>
          <p:cNvSpPr>
            <a:spLocks xmlns:a="http://schemas.openxmlformats.org/drawingml/2006/main" noGrp="1"/>
          </p:cNvSpPr>
          <p:nvPr/>
        </p:nvSpPr>
        <p:spPr>
          <a:xfrm xmlns:a="http://schemas.openxmlformats.org/drawingml/2006/main">
            <a:off x="609600" y="6667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7212B"/>
                </a:solidFill>
              </a:defRPr>
            </a:pPr>
            <a:r>
              <a:rPr sz="2700" b="1">
                <a:solidFill>
                  <a:srgbClr val="17212B"/>
                </a:solidFill>
              </a:rPr>
              <a:t>RAG, modelin hafızası değil; açık kitap sınavıdır.</a:t>
            </a:r>
          </a:p>
        </p:txBody>
      </p:sp>
      <p:sp>
        <p:nvSpPr>
          <p:cNvPr id="3" name="">
            <a:extLst xmlns:a="http://schemas.openxmlformats.org/drawingml/2006/main">
              <a:ext uri="{FF2B5EF4-FFF2-40B4-BE49-F238E27FC236}">
                <a16:creationId xmlns:a16="http://schemas.microsoft.com/office/drawing/2014/main" id="{8ED804ED-E662-4869-9E4F-9AFD424D10FA}"/>
              </a:ext>
            </a:extLst>
          </p:cNvPr>
          <p:cNvSpPr>
            <a:spLocks xmlns:a="http://schemas.openxmlformats.org/drawingml/2006/main" noGrp="1"/>
          </p:cNvSpPr>
          <p:nvPr/>
        </p:nvSpPr>
        <p:spPr>
          <a:xfrm xmlns:a="http://schemas.openxmlformats.org/drawingml/2006/main">
            <a:off x="11191875" y="419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1"/>
                </a:solidFill>
              </a:defRPr>
            </a:pPr>
            <a:r>
              <a:rPr sz="975" b="1">
                <a:solidFill>
                  <a:srgbClr val="687181"/>
                </a:solidFill>
              </a:rPr>
              <a:t>05</a:t>
            </a:r>
          </a:p>
        </p:txBody>
      </p:sp>
      <p:sp>
        <p:nvSpPr>
          <p:cNvPr id="4" name="">
            <a:extLst xmlns:a="http://schemas.openxmlformats.org/drawingml/2006/main">
              <a:ext uri="{FF2B5EF4-FFF2-40B4-BE49-F238E27FC236}">
                <a16:creationId xmlns:a16="http://schemas.microsoft.com/office/drawing/2014/main" id="{FC7D710E-4124-443B-BE15-849DCD7B8CAC}"/>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EEE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6FD105F-79B8-4CF1-A0EF-C33E75E449D0}"/>
              </a:ext>
            </a:extLst>
          </p:cNvPr>
          <p:cNvSpPr>
            <a:spLocks xmlns:a="http://schemas.openxmlformats.org/drawingml/2006/main" noGrp="1"/>
          </p:cNvSpPr>
          <p:nvPr/>
        </p:nvSpPr>
        <p:spPr>
          <a:xfrm xmlns:a="http://schemas.openxmlformats.org/drawingml/2006/main">
            <a:off x="609600" y="150495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87181"/>
                </a:solidFill>
              </a:defRPr>
            </a:pPr>
            <a:r>
              <a:rPr sz="1575" b="0">
                <a:solidFill>
                  <a:srgbClr val="687181"/>
                </a:solidFill>
              </a:rPr>
              <a:t>Soru geldiğinde doğru kurum kaynağı bulunur ve cevap için modele kanıt olarak verilir.</a:t>
            </a:r>
          </a:p>
        </p:txBody>
      </p:sp>
      <p:sp>
        <p:nvSpPr>
          <p:cNvPr id="6" name="">
            <a:extLst xmlns:a="http://schemas.openxmlformats.org/drawingml/2006/main">
              <a:ext uri="{FF2B5EF4-FFF2-40B4-BE49-F238E27FC236}">
                <a16:creationId xmlns:a16="http://schemas.microsoft.com/office/drawing/2014/main" id="{ADFBCD13-216B-4EF5-9A28-10360D74AD69}"/>
              </a:ext>
            </a:extLst>
          </p:cNvPr>
          <p:cNvSpPr>
            <a:spLocks xmlns:a="http://schemas.openxmlformats.org/drawingml/2006/main" noGrp="1"/>
          </p:cNvSpPr>
          <p:nvPr/>
        </p:nvSpPr>
        <p:spPr>
          <a:xfrm xmlns:a="http://schemas.openxmlformats.org/drawingml/2006/main">
            <a:off x="2266950" y="3333750"/>
            <a:ext cx="514350" cy="57150"/>
          </a:xfrm>
          <a:prstGeom xmlns:a="http://schemas.openxmlformats.org/drawingml/2006/main" prst="rect">
            <a:avLst/>
          </a:prstGeom>
          <a:solidFill xmlns:a="http://schemas.openxmlformats.org/drawingml/2006/main">
            <a:srgbClr val="DCD7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E071B3-8286-40AC-AA78-668E7C064520}"/>
              </a:ext>
            </a:extLst>
          </p:cNvPr>
          <p:cNvSpPr>
            <a:spLocks xmlns:a="http://schemas.openxmlformats.org/drawingml/2006/main" noGrp="1"/>
          </p:cNvSpPr>
          <p:nvPr/>
        </p:nvSpPr>
        <p:spPr>
          <a:xfrm xmlns:a="http://schemas.openxmlformats.org/drawingml/2006/main">
            <a:off x="2581275" y="3209925"/>
            <a:ext cx="304800" cy="304800"/>
          </a:xfrm>
          <a:prstGeom xmlns:a="http://schemas.openxmlformats.org/drawingml/2006/main" prst="chevron">
            <a:avLst/>
          </a:prstGeom>
          <a:solidFill xmlns:a="http://schemas.openxmlformats.org/drawingml/2006/main">
            <a:srgbClr val="DCD7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FF8AB1-D0BE-49B1-AF8E-5BDC9300D848}"/>
              </a:ext>
            </a:extLst>
          </p:cNvPr>
          <p:cNvSpPr>
            <a:spLocks xmlns:a="http://schemas.openxmlformats.org/drawingml/2006/main" noGrp="1"/>
          </p:cNvSpPr>
          <p:nvPr/>
        </p:nvSpPr>
        <p:spPr>
          <a:xfrm xmlns:a="http://schemas.openxmlformats.org/drawingml/2006/main">
            <a:off x="4552950" y="3333750"/>
            <a:ext cx="514350" cy="57150"/>
          </a:xfrm>
          <a:prstGeom xmlns:a="http://schemas.openxmlformats.org/drawingml/2006/main" prst="rect">
            <a:avLst/>
          </a:prstGeom>
          <a:solidFill xmlns:a="http://schemas.openxmlformats.org/drawingml/2006/main">
            <a:srgbClr val="DCD7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2E8668-7FF9-4040-A263-82CC8055F76C}"/>
              </a:ext>
            </a:extLst>
          </p:cNvPr>
          <p:cNvSpPr>
            <a:spLocks xmlns:a="http://schemas.openxmlformats.org/drawingml/2006/main" noGrp="1"/>
          </p:cNvSpPr>
          <p:nvPr/>
        </p:nvSpPr>
        <p:spPr>
          <a:xfrm xmlns:a="http://schemas.openxmlformats.org/drawingml/2006/main">
            <a:off x="4867275" y="3209925"/>
            <a:ext cx="304800" cy="304800"/>
          </a:xfrm>
          <a:prstGeom xmlns:a="http://schemas.openxmlformats.org/drawingml/2006/main" prst="chevron">
            <a:avLst/>
          </a:prstGeom>
          <a:solidFill xmlns:a="http://schemas.openxmlformats.org/drawingml/2006/main">
            <a:srgbClr val="DCD7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8AC2221-55B5-4652-ABF9-A1F85B01AAC0}"/>
              </a:ext>
            </a:extLst>
          </p:cNvPr>
          <p:cNvSpPr>
            <a:spLocks xmlns:a="http://schemas.openxmlformats.org/drawingml/2006/main" noGrp="1"/>
          </p:cNvSpPr>
          <p:nvPr/>
        </p:nvSpPr>
        <p:spPr>
          <a:xfrm xmlns:a="http://schemas.openxmlformats.org/drawingml/2006/main">
            <a:off x="6838950" y="3333750"/>
            <a:ext cx="514350" cy="57150"/>
          </a:xfrm>
          <a:prstGeom xmlns:a="http://schemas.openxmlformats.org/drawingml/2006/main" prst="rect">
            <a:avLst/>
          </a:prstGeom>
          <a:solidFill xmlns:a="http://schemas.openxmlformats.org/drawingml/2006/main">
            <a:srgbClr val="DCD7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CBD8CE1-4E27-4068-8299-9FFC2E0DF80C}"/>
              </a:ext>
            </a:extLst>
          </p:cNvPr>
          <p:cNvSpPr>
            <a:spLocks xmlns:a="http://schemas.openxmlformats.org/drawingml/2006/main" noGrp="1"/>
          </p:cNvSpPr>
          <p:nvPr/>
        </p:nvSpPr>
        <p:spPr>
          <a:xfrm xmlns:a="http://schemas.openxmlformats.org/drawingml/2006/main">
            <a:off x="7153275" y="3209925"/>
            <a:ext cx="304800" cy="304800"/>
          </a:xfrm>
          <a:prstGeom xmlns:a="http://schemas.openxmlformats.org/drawingml/2006/main" prst="chevron">
            <a:avLst/>
          </a:prstGeom>
          <a:solidFill xmlns:a="http://schemas.openxmlformats.org/drawingml/2006/main">
            <a:srgbClr val="DCD7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BA08E34-9667-4BC7-8C63-55A0108507BC}"/>
              </a:ext>
            </a:extLst>
          </p:cNvPr>
          <p:cNvSpPr>
            <a:spLocks xmlns:a="http://schemas.openxmlformats.org/drawingml/2006/main" noGrp="1"/>
          </p:cNvSpPr>
          <p:nvPr/>
        </p:nvSpPr>
        <p:spPr>
          <a:xfrm xmlns:a="http://schemas.openxmlformats.org/drawingml/2006/main">
            <a:off x="9124950" y="3333750"/>
            <a:ext cx="514350" cy="57150"/>
          </a:xfrm>
          <a:prstGeom xmlns:a="http://schemas.openxmlformats.org/drawingml/2006/main" prst="rect">
            <a:avLst/>
          </a:prstGeom>
          <a:solidFill xmlns:a="http://schemas.openxmlformats.org/drawingml/2006/main">
            <a:srgbClr val="DCD7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92690D9-F2F3-4F87-95EB-709218983B8B}"/>
              </a:ext>
            </a:extLst>
          </p:cNvPr>
          <p:cNvSpPr>
            <a:spLocks xmlns:a="http://schemas.openxmlformats.org/drawingml/2006/main" noGrp="1"/>
          </p:cNvSpPr>
          <p:nvPr/>
        </p:nvSpPr>
        <p:spPr>
          <a:xfrm xmlns:a="http://schemas.openxmlformats.org/drawingml/2006/main">
            <a:off x="9439275" y="3209925"/>
            <a:ext cx="304800" cy="304800"/>
          </a:xfrm>
          <a:prstGeom xmlns:a="http://schemas.openxmlformats.org/drawingml/2006/main" prst="chevron">
            <a:avLst/>
          </a:prstGeom>
          <a:solidFill xmlns:a="http://schemas.openxmlformats.org/drawingml/2006/main">
            <a:srgbClr val="DCD7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27AEE0-FB51-4AB7-8E96-F3E947815B32}"/>
              </a:ext>
            </a:extLst>
          </p:cNvPr>
          <p:cNvSpPr>
            <a:spLocks xmlns:a="http://schemas.openxmlformats.org/drawingml/2006/main" noGrp="1"/>
          </p:cNvSpPr>
          <p:nvPr/>
        </p:nvSpPr>
        <p:spPr>
          <a:xfrm xmlns:a="http://schemas.openxmlformats.org/drawingml/2006/main">
            <a:off x="609600" y="2343150"/>
            <a:ext cx="1809750" cy="2266950"/>
          </a:xfrm>
          <a:prstGeom xmlns:a="http://schemas.openxmlformats.org/drawingml/2006/main" prst="roundRect">
            <a:avLst>
              <a:gd name="adj" fmla="val 8421"/>
            </a:avLst>
          </a:prstGeom>
          <a:solidFill xmlns:a="http://schemas.openxmlformats.org/drawingml/2006/main">
            <a:srgbClr val="F7F5FB"/>
          </a:solidFill>
          <a:ln xmlns:a="http://schemas.openxmlformats.org/drawingml/2006/main" w="9525">
            <a:solidFill>
              <a:srgbClr val="DCD7E7"/>
            </a:solidFill>
            <a:prstDash val="solid"/>
          </a:ln>
        </p:spPr>
      </p:sp>
      <p:sp>
        <p:nvSpPr>
          <p:cNvPr id="15" name="">
            <a:extLst xmlns:a="http://schemas.openxmlformats.org/drawingml/2006/main">
              <a:ext uri="{FF2B5EF4-FFF2-40B4-BE49-F238E27FC236}">
                <a16:creationId xmlns:a16="http://schemas.microsoft.com/office/drawing/2014/main" id="{C1972B20-DEE1-4528-9F7D-F20D3F4DF22B}"/>
              </a:ext>
            </a:extLst>
          </p:cNvPr>
          <p:cNvSpPr>
            <a:spLocks xmlns:a="http://schemas.openxmlformats.org/drawingml/2006/main" noGrp="1"/>
          </p:cNvSpPr>
          <p:nvPr/>
        </p:nvSpPr>
        <p:spPr>
          <a:xfrm xmlns:a="http://schemas.openxmlformats.org/drawingml/2006/main">
            <a:off x="800100" y="2533650"/>
            <a:ext cx="323850" cy="32385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9E388AA-F7E2-4D2E-97ED-FD262AA80F21}"/>
              </a:ext>
            </a:extLst>
          </p:cNvPr>
          <p:cNvSpPr>
            <a:spLocks xmlns:a="http://schemas.openxmlformats.org/drawingml/2006/main" noGrp="1"/>
          </p:cNvSpPr>
          <p:nvPr/>
        </p:nvSpPr>
        <p:spPr>
          <a:xfrm xmlns:a="http://schemas.openxmlformats.org/drawingml/2006/main">
            <a:off x="800100" y="25336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1</a:t>
            </a:r>
          </a:p>
        </p:txBody>
      </p:sp>
      <p:sp>
        <p:nvSpPr>
          <p:cNvPr id="17" name="">
            <a:extLst xmlns:a="http://schemas.openxmlformats.org/drawingml/2006/main">
              <a:ext uri="{FF2B5EF4-FFF2-40B4-BE49-F238E27FC236}">
                <a16:creationId xmlns:a16="http://schemas.microsoft.com/office/drawing/2014/main" id="{7C573250-ED66-46FB-9CD6-70B12E7FC758}"/>
              </a:ext>
            </a:extLst>
          </p:cNvPr>
          <p:cNvSpPr>
            <a:spLocks xmlns:a="http://schemas.openxmlformats.org/drawingml/2006/main" noGrp="1"/>
          </p:cNvSpPr>
          <p:nvPr/>
        </p:nvSpPr>
        <p:spPr>
          <a:xfrm xmlns:a="http://schemas.openxmlformats.org/drawingml/2006/main">
            <a:off x="800100" y="300990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Dokümanı hazırla</a:t>
            </a:r>
          </a:p>
        </p:txBody>
      </p:sp>
      <p:sp>
        <p:nvSpPr>
          <p:cNvPr id="18" name="">
            <a:extLst xmlns:a="http://schemas.openxmlformats.org/drawingml/2006/main">
              <a:ext uri="{FF2B5EF4-FFF2-40B4-BE49-F238E27FC236}">
                <a16:creationId xmlns:a16="http://schemas.microsoft.com/office/drawing/2014/main" id="{0FA57D3E-764D-41E0-B9D8-DBF005CBE621}"/>
              </a:ext>
            </a:extLst>
          </p:cNvPr>
          <p:cNvSpPr>
            <a:spLocks xmlns:a="http://schemas.openxmlformats.org/drawingml/2006/main" noGrp="1"/>
          </p:cNvSpPr>
          <p:nvPr/>
        </p:nvSpPr>
        <p:spPr>
          <a:xfrm xmlns:a="http://schemas.openxmlformats.org/drawingml/2006/main">
            <a:off x="800100" y="3638550"/>
            <a:ext cx="142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687181"/>
                </a:solidFill>
              </a:defRPr>
            </a:pPr>
            <a:r>
              <a:rPr sz="1125" b="0">
                <a:solidFill>
                  <a:srgbClr val="687181"/>
                </a:solidFill>
              </a:rPr>
              <a:t>Politika, kılavuz ve SSS’leri anlamlı parçalara böl.</a:t>
            </a:r>
          </a:p>
        </p:txBody>
      </p:sp>
      <p:sp>
        <p:nvSpPr>
          <p:cNvPr id="19" name="">
            <a:extLst xmlns:a="http://schemas.openxmlformats.org/drawingml/2006/main">
              <a:ext uri="{FF2B5EF4-FFF2-40B4-BE49-F238E27FC236}">
                <a16:creationId xmlns:a16="http://schemas.microsoft.com/office/drawing/2014/main" id="{A6FDCABC-5459-44B6-8251-3E196EC7D56F}"/>
              </a:ext>
            </a:extLst>
          </p:cNvPr>
          <p:cNvSpPr>
            <a:spLocks xmlns:a="http://schemas.openxmlformats.org/drawingml/2006/main" noGrp="1"/>
          </p:cNvSpPr>
          <p:nvPr/>
        </p:nvSpPr>
        <p:spPr>
          <a:xfrm xmlns:a="http://schemas.openxmlformats.org/drawingml/2006/main">
            <a:off x="2895600" y="2343150"/>
            <a:ext cx="1809750" cy="2266950"/>
          </a:xfrm>
          <a:prstGeom xmlns:a="http://schemas.openxmlformats.org/drawingml/2006/main" prst="roundRect">
            <a:avLst>
              <a:gd name="adj" fmla="val 8421"/>
            </a:avLst>
          </a:prstGeom>
          <a:solidFill xmlns:a="http://schemas.openxmlformats.org/drawingml/2006/main">
            <a:srgbClr val="F7F5FB"/>
          </a:solidFill>
          <a:ln xmlns:a="http://schemas.openxmlformats.org/drawingml/2006/main" w="9525">
            <a:solidFill>
              <a:srgbClr val="DCD7E7"/>
            </a:solidFill>
            <a:prstDash val="solid"/>
          </a:ln>
        </p:spPr>
      </p:sp>
      <p:sp>
        <p:nvSpPr>
          <p:cNvPr id="20" name="">
            <a:extLst xmlns:a="http://schemas.openxmlformats.org/drawingml/2006/main">
              <a:ext uri="{FF2B5EF4-FFF2-40B4-BE49-F238E27FC236}">
                <a16:creationId xmlns:a16="http://schemas.microsoft.com/office/drawing/2014/main" id="{5FA328CD-46D9-43B6-9BB4-CA6A260762DF}"/>
              </a:ext>
            </a:extLst>
          </p:cNvPr>
          <p:cNvSpPr>
            <a:spLocks xmlns:a="http://schemas.openxmlformats.org/drawingml/2006/main" noGrp="1"/>
          </p:cNvSpPr>
          <p:nvPr/>
        </p:nvSpPr>
        <p:spPr>
          <a:xfrm xmlns:a="http://schemas.openxmlformats.org/drawingml/2006/main">
            <a:off x="3086100" y="2533650"/>
            <a:ext cx="323850" cy="32385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3885C6F-3831-434A-85AC-E6940C5F6CE1}"/>
              </a:ext>
            </a:extLst>
          </p:cNvPr>
          <p:cNvSpPr>
            <a:spLocks xmlns:a="http://schemas.openxmlformats.org/drawingml/2006/main" noGrp="1"/>
          </p:cNvSpPr>
          <p:nvPr/>
        </p:nvSpPr>
        <p:spPr>
          <a:xfrm xmlns:a="http://schemas.openxmlformats.org/drawingml/2006/main">
            <a:off x="3086100" y="25336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2</a:t>
            </a:r>
          </a:p>
        </p:txBody>
      </p:sp>
      <p:sp>
        <p:nvSpPr>
          <p:cNvPr id="22" name="">
            <a:extLst xmlns:a="http://schemas.openxmlformats.org/drawingml/2006/main">
              <a:ext uri="{FF2B5EF4-FFF2-40B4-BE49-F238E27FC236}">
                <a16:creationId xmlns:a16="http://schemas.microsoft.com/office/drawing/2014/main" id="{E8460ECF-7B8E-4B4B-AF04-23D0425CB503}"/>
              </a:ext>
            </a:extLst>
          </p:cNvPr>
          <p:cNvSpPr>
            <a:spLocks xmlns:a="http://schemas.openxmlformats.org/drawingml/2006/main" noGrp="1"/>
          </p:cNvSpPr>
          <p:nvPr/>
        </p:nvSpPr>
        <p:spPr>
          <a:xfrm xmlns:a="http://schemas.openxmlformats.org/drawingml/2006/main">
            <a:off x="3086100" y="300990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İndeksle</a:t>
            </a:r>
          </a:p>
        </p:txBody>
      </p:sp>
      <p:sp>
        <p:nvSpPr>
          <p:cNvPr id="23" name="">
            <a:extLst xmlns:a="http://schemas.openxmlformats.org/drawingml/2006/main">
              <a:ext uri="{FF2B5EF4-FFF2-40B4-BE49-F238E27FC236}">
                <a16:creationId xmlns:a16="http://schemas.microsoft.com/office/drawing/2014/main" id="{891E721D-E88F-4308-B184-B5A09EBFFC01}"/>
              </a:ext>
            </a:extLst>
          </p:cNvPr>
          <p:cNvSpPr>
            <a:spLocks xmlns:a="http://schemas.openxmlformats.org/drawingml/2006/main" noGrp="1"/>
          </p:cNvSpPr>
          <p:nvPr/>
        </p:nvSpPr>
        <p:spPr>
          <a:xfrm xmlns:a="http://schemas.openxmlformats.org/drawingml/2006/main">
            <a:off x="3086100" y="3638550"/>
            <a:ext cx="142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687181"/>
                </a:solidFill>
              </a:defRPr>
            </a:pPr>
            <a:r>
              <a:rPr sz="1125" b="0">
                <a:solidFill>
                  <a:srgbClr val="687181"/>
                </a:solidFill>
              </a:rPr>
              <a:t>Parçaları anlamlarına göre aranabilir hale getir.</a:t>
            </a:r>
          </a:p>
        </p:txBody>
      </p:sp>
      <p:sp>
        <p:nvSpPr>
          <p:cNvPr id="24" name="">
            <a:extLst xmlns:a="http://schemas.openxmlformats.org/drawingml/2006/main">
              <a:ext uri="{FF2B5EF4-FFF2-40B4-BE49-F238E27FC236}">
                <a16:creationId xmlns:a16="http://schemas.microsoft.com/office/drawing/2014/main" id="{C9A261D2-D8D5-41E2-A79F-A980665D44C6}"/>
              </a:ext>
            </a:extLst>
          </p:cNvPr>
          <p:cNvSpPr>
            <a:spLocks xmlns:a="http://schemas.openxmlformats.org/drawingml/2006/main" noGrp="1"/>
          </p:cNvSpPr>
          <p:nvPr/>
        </p:nvSpPr>
        <p:spPr>
          <a:xfrm xmlns:a="http://schemas.openxmlformats.org/drawingml/2006/main">
            <a:off x="5181600" y="2343150"/>
            <a:ext cx="1809750" cy="2266950"/>
          </a:xfrm>
          <a:prstGeom xmlns:a="http://schemas.openxmlformats.org/drawingml/2006/main" prst="roundRect">
            <a:avLst>
              <a:gd name="adj" fmla="val 8421"/>
            </a:avLst>
          </a:prstGeom>
          <a:solidFill xmlns:a="http://schemas.openxmlformats.org/drawingml/2006/main">
            <a:srgbClr val="EEE7FF"/>
          </a:solidFill>
          <a:ln xmlns:a="http://schemas.openxmlformats.org/drawingml/2006/main" w="9525">
            <a:solidFill>
              <a:srgbClr val="8C4FE8"/>
            </a:solidFill>
            <a:prstDash val="solid"/>
          </a:ln>
        </p:spPr>
      </p:sp>
      <p:sp>
        <p:nvSpPr>
          <p:cNvPr id="25" name="">
            <a:extLst xmlns:a="http://schemas.openxmlformats.org/drawingml/2006/main">
              <a:ext uri="{FF2B5EF4-FFF2-40B4-BE49-F238E27FC236}">
                <a16:creationId xmlns:a16="http://schemas.microsoft.com/office/drawing/2014/main" id="{B0FC6A33-35AA-407E-BA7F-C7B79558B6DA}"/>
              </a:ext>
            </a:extLst>
          </p:cNvPr>
          <p:cNvSpPr>
            <a:spLocks xmlns:a="http://schemas.openxmlformats.org/drawingml/2006/main" noGrp="1"/>
          </p:cNvSpPr>
          <p:nvPr/>
        </p:nvSpPr>
        <p:spPr>
          <a:xfrm xmlns:a="http://schemas.openxmlformats.org/drawingml/2006/main">
            <a:off x="5372100" y="2533650"/>
            <a:ext cx="323850" cy="32385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04D6781-6244-4665-8B3D-1689ABF22BF1}"/>
              </a:ext>
            </a:extLst>
          </p:cNvPr>
          <p:cNvSpPr>
            <a:spLocks xmlns:a="http://schemas.openxmlformats.org/drawingml/2006/main" noGrp="1"/>
          </p:cNvSpPr>
          <p:nvPr/>
        </p:nvSpPr>
        <p:spPr>
          <a:xfrm xmlns:a="http://schemas.openxmlformats.org/drawingml/2006/main">
            <a:off x="5372100" y="25336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3</a:t>
            </a:r>
          </a:p>
        </p:txBody>
      </p:sp>
      <p:sp>
        <p:nvSpPr>
          <p:cNvPr id="27" name="">
            <a:extLst xmlns:a="http://schemas.openxmlformats.org/drawingml/2006/main">
              <a:ext uri="{FF2B5EF4-FFF2-40B4-BE49-F238E27FC236}">
                <a16:creationId xmlns:a16="http://schemas.microsoft.com/office/drawing/2014/main" id="{403D1BB0-0198-42D3-A9C6-C2F91CE2138E}"/>
              </a:ext>
            </a:extLst>
          </p:cNvPr>
          <p:cNvSpPr>
            <a:spLocks xmlns:a="http://schemas.openxmlformats.org/drawingml/2006/main" noGrp="1"/>
          </p:cNvSpPr>
          <p:nvPr/>
        </p:nvSpPr>
        <p:spPr>
          <a:xfrm xmlns:a="http://schemas.openxmlformats.org/drawingml/2006/main">
            <a:off x="5372100" y="300990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Getir</a:t>
            </a:r>
          </a:p>
        </p:txBody>
      </p:sp>
      <p:sp>
        <p:nvSpPr>
          <p:cNvPr id="28" name="">
            <a:extLst xmlns:a="http://schemas.openxmlformats.org/drawingml/2006/main">
              <a:ext uri="{FF2B5EF4-FFF2-40B4-BE49-F238E27FC236}">
                <a16:creationId xmlns:a16="http://schemas.microsoft.com/office/drawing/2014/main" id="{62D69D66-4F50-4406-9FCE-27166419B40E}"/>
              </a:ext>
            </a:extLst>
          </p:cNvPr>
          <p:cNvSpPr>
            <a:spLocks xmlns:a="http://schemas.openxmlformats.org/drawingml/2006/main" noGrp="1"/>
          </p:cNvSpPr>
          <p:nvPr/>
        </p:nvSpPr>
        <p:spPr>
          <a:xfrm xmlns:a="http://schemas.openxmlformats.org/drawingml/2006/main">
            <a:off x="5372100" y="3638550"/>
            <a:ext cx="142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687181"/>
                </a:solidFill>
              </a:defRPr>
            </a:pPr>
            <a:r>
              <a:rPr sz="1125" b="0">
                <a:solidFill>
                  <a:srgbClr val="687181"/>
                </a:solidFill>
              </a:rPr>
              <a:t>Soruyla en ilgili ve yetkili parçaları bul.</a:t>
            </a:r>
          </a:p>
        </p:txBody>
      </p:sp>
      <p:sp>
        <p:nvSpPr>
          <p:cNvPr id="29" name="">
            <a:extLst xmlns:a="http://schemas.openxmlformats.org/drawingml/2006/main">
              <a:ext uri="{FF2B5EF4-FFF2-40B4-BE49-F238E27FC236}">
                <a16:creationId xmlns:a16="http://schemas.microsoft.com/office/drawing/2014/main" id="{85B64B2D-405F-48B4-A065-0494B2CE1719}"/>
              </a:ext>
            </a:extLst>
          </p:cNvPr>
          <p:cNvSpPr>
            <a:spLocks xmlns:a="http://schemas.openxmlformats.org/drawingml/2006/main" noGrp="1"/>
          </p:cNvSpPr>
          <p:nvPr/>
        </p:nvSpPr>
        <p:spPr>
          <a:xfrm xmlns:a="http://schemas.openxmlformats.org/drawingml/2006/main">
            <a:off x="7467600" y="2343150"/>
            <a:ext cx="1809750" cy="2266950"/>
          </a:xfrm>
          <a:prstGeom xmlns:a="http://schemas.openxmlformats.org/drawingml/2006/main" prst="roundRect">
            <a:avLst>
              <a:gd name="adj" fmla="val 8421"/>
            </a:avLst>
          </a:prstGeom>
          <a:solidFill xmlns:a="http://schemas.openxmlformats.org/drawingml/2006/main">
            <a:srgbClr val="F7F5FB"/>
          </a:solidFill>
          <a:ln xmlns:a="http://schemas.openxmlformats.org/drawingml/2006/main" w="9525">
            <a:solidFill>
              <a:srgbClr val="DCD7E7"/>
            </a:solidFill>
            <a:prstDash val="solid"/>
          </a:ln>
        </p:spPr>
      </p:sp>
      <p:sp>
        <p:nvSpPr>
          <p:cNvPr id="30" name="">
            <a:extLst xmlns:a="http://schemas.openxmlformats.org/drawingml/2006/main">
              <a:ext uri="{FF2B5EF4-FFF2-40B4-BE49-F238E27FC236}">
                <a16:creationId xmlns:a16="http://schemas.microsoft.com/office/drawing/2014/main" id="{91E3BAEC-67B6-490C-8E24-7C026ED537EA}"/>
              </a:ext>
            </a:extLst>
          </p:cNvPr>
          <p:cNvSpPr>
            <a:spLocks xmlns:a="http://schemas.openxmlformats.org/drawingml/2006/main" noGrp="1"/>
          </p:cNvSpPr>
          <p:nvPr/>
        </p:nvSpPr>
        <p:spPr>
          <a:xfrm xmlns:a="http://schemas.openxmlformats.org/drawingml/2006/main">
            <a:off x="7658100" y="2533650"/>
            <a:ext cx="323850" cy="32385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84750F7-8324-4DEF-A539-6E6A27E86F13}"/>
              </a:ext>
            </a:extLst>
          </p:cNvPr>
          <p:cNvSpPr>
            <a:spLocks xmlns:a="http://schemas.openxmlformats.org/drawingml/2006/main" noGrp="1"/>
          </p:cNvSpPr>
          <p:nvPr/>
        </p:nvSpPr>
        <p:spPr>
          <a:xfrm xmlns:a="http://schemas.openxmlformats.org/drawingml/2006/main">
            <a:off x="7658100" y="25336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4</a:t>
            </a:r>
          </a:p>
        </p:txBody>
      </p:sp>
      <p:sp>
        <p:nvSpPr>
          <p:cNvPr id="32" name="">
            <a:extLst xmlns:a="http://schemas.openxmlformats.org/drawingml/2006/main">
              <a:ext uri="{FF2B5EF4-FFF2-40B4-BE49-F238E27FC236}">
                <a16:creationId xmlns:a16="http://schemas.microsoft.com/office/drawing/2014/main" id="{C4BFF60C-B043-4E6F-9024-63ECCCCBD46D}"/>
              </a:ext>
            </a:extLst>
          </p:cNvPr>
          <p:cNvSpPr>
            <a:spLocks xmlns:a="http://schemas.openxmlformats.org/drawingml/2006/main" noGrp="1"/>
          </p:cNvSpPr>
          <p:nvPr/>
        </p:nvSpPr>
        <p:spPr>
          <a:xfrm xmlns:a="http://schemas.openxmlformats.org/drawingml/2006/main">
            <a:off x="7658100" y="300990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Cevapla</a:t>
            </a:r>
          </a:p>
        </p:txBody>
      </p:sp>
      <p:sp>
        <p:nvSpPr>
          <p:cNvPr id="33" name="">
            <a:extLst xmlns:a="http://schemas.openxmlformats.org/drawingml/2006/main">
              <a:ext uri="{FF2B5EF4-FFF2-40B4-BE49-F238E27FC236}">
                <a16:creationId xmlns:a16="http://schemas.microsoft.com/office/drawing/2014/main" id="{F647D4BB-38E2-43F7-9973-9EF237439622}"/>
              </a:ext>
            </a:extLst>
          </p:cNvPr>
          <p:cNvSpPr>
            <a:spLocks xmlns:a="http://schemas.openxmlformats.org/drawingml/2006/main" noGrp="1"/>
          </p:cNvSpPr>
          <p:nvPr/>
        </p:nvSpPr>
        <p:spPr>
          <a:xfrm xmlns:a="http://schemas.openxmlformats.org/drawingml/2006/main">
            <a:off x="7658100" y="3638550"/>
            <a:ext cx="142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687181"/>
                </a:solidFill>
              </a:defRPr>
            </a:pPr>
            <a:r>
              <a:rPr sz="1125" b="0">
                <a:solidFill>
                  <a:srgbClr val="687181"/>
                </a:solidFill>
              </a:rPr>
              <a:t>Model yalnızca getirilen bağlama dayanarak yanıt üretir.</a:t>
            </a:r>
          </a:p>
        </p:txBody>
      </p:sp>
      <p:sp>
        <p:nvSpPr>
          <p:cNvPr id="34" name="">
            <a:extLst xmlns:a="http://schemas.openxmlformats.org/drawingml/2006/main">
              <a:ext uri="{FF2B5EF4-FFF2-40B4-BE49-F238E27FC236}">
                <a16:creationId xmlns:a16="http://schemas.microsoft.com/office/drawing/2014/main" id="{36A91725-A615-411A-A188-494D755F4C4B}"/>
              </a:ext>
            </a:extLst>
          </p:cNvPr>
          <p:cNvSpPr>
            <a:spLocks xmlns:a="http://schemas.openxmlformats.org/drawingml/2006/main" noGrp="1"/>
          </p:cNvSpPr>
          <p:nvPr/>
        </p:nvSpPr>
        <p:spPr>
          <a:xfrm xmlns:a="http://schemas.openxmlformats.org/drawingml/2006/main">
            <a:off x="9753600" y="2343150"/>
            <a:ext cx="1809750" cy="2266950"/>
          </a:xfrm>
          <a:prstGeom xmlns:a="http://schemas.openxmlformats.org/drawingml/2006/main" prst="roundRect">
            <a:avLst>
              <a:gd name="adj" fmla="val 8421"/>
            </a:avLst>
          </a:prstGeom>
          <a:solidFill xmlns:a="http://schemas.openxmlformats.org/drawingml/2006/main">
            <a:srgbClr val="F7F5FB"/>
          </a:solidFill>
          <a:ln xmlns:a="http://schemas.openxmlformats.org/drawingml/2006/main" w="9525">
            <a:solidFill>
              <a:srgbClr val="DCD7E7"/>
            </a:solidFill>
            <a:prstDash val="solid"/>
          </a:ln>
        </p:spPr>
      </p:sp>
      <p:sp>
        <p:nvSpPr>
          <p:cNvPr id="35" name="">
            <a:extLst xmlns:a="http://schemas.openxmlformats.org/drawingml/2006/main">
              <a:ext uri="{FF2B5EF4-FFF2-40B4-BE49-F238E27FC236}">
                <a16:creationId xmlns:a16="http://schemas.microsoft.com/office/drawing/2014/main" id="{1E43BB97-7CE8-47E0-9965-4F1D42D9D12E}"/>
              </a:ext>
            </a:extLst>
          </p:cNvPr>
          <p:cNvSpPr>
            <a:spLocks xmlns:a="http://schemas.openxmlformats.org/drawingml/2006/main" noGrp="1"/>
          </p:cNvSpPr>
          <p:nvPr/>
        </p:nvSpPr>
        <p:spPr>
          <a:xfrm xmlns:a="http://schemas.openxmlformats.org/drawingml/2006/main">
            <a:off x="9944100" y="2533650"/>
            <a:ext cx="323850" cy="323850"/>
          </a:xfrm>
          <a:prstGeom xmlns:a="http://schemas.openxmlformats.org/drawingml/2006/main" prst="ellipse">
            <a:avLst/>
          </a:prstGeom>
          <a:solidFill xmlns:a="http://schemas.openxmlformats.org/drawingml/2006/main">
            <a:srgbClr val="159B69"/>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FF508C3-B1A4-4B8A-81C1-70B51D45FC29}"/>
              </a:ext>
            </a:extLst>
          </p:cNvPr>
          <p:cNvSpPr>
            <a:spLocks xmlns:a="http://schemas.openxmlformats.org/drawingml/2006/main" noGrp="1"/>
          </p:cNvSpPr>
          <p:nvPr/>
        </p:nvSpPr>
        <p:spPr>
          <a:xfrm xmlns:a="http://schemas.openxmlformats.org/drawingml/2006/main">
            <a:off x="9944100" y="25336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5</a:t>
            </a:r>
          </a:p>
        </p:txBody>
      </p:sp>
      <p:sp>
        <p:nvSpPr>
          <p:cNvPr id="37" name="">
            <a:extLst xmlns:a="http://schemas.openxmlformats.org/drawingml/2006/main">
              <a:ext uri="{FF2B5EF4-FFF2-40B4-BE49-F238E27FC236}">
                <a16:creationId xmlns:a16="http://schemas.microsoft.com/office/drawing/2014/main" id="{A679D6D9-9E3D-4203-B952-3064BE760AA7}"/>
              </a:ext>
            </a:extLst>
          </p:cNvPr>
          <p:cNvSpPr>
            <a:spLocks xmlns:a="http://schemas.openxmlformats.org/drawingml/2006/main" noGrp="1"/>
          </p:cNvSpPr>
          <p:nvPr/>
        </p:nvSpPr>
        <p:spPr>
          <a:xfrm xmlns:a="http://schemas.openxmlformats.org/drawingml/2006/main">
            <a:off x="9944100" y="300990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12B"/>
                </a:solidFill>
              </a:defRPr>
            </a:pPr>
            <a:r>
              <a:rPr sz="1500" b="1">
                <a:solidFill>
                  <a:srgbClr val="17212B"/>
                </a:solidFill>
              </a:rPr>
              <a:t>Kanıtla</a:t>
            </a:r>
          </a:p>
        </p:txBody>
      </p:sp>
      <p:sp>
        <p:nvSpPr>
          <p:cNvPr id="38" name="">
            <a:extLst xmlns:a="http://schemas.openxmlformats.org/drawingml/2006/main">
              <a:ext uri="{FF2B5EF4-FFF2-40B4-BE49-F238E27FC236}">
                <a16:creationId xmlns:a16="http://schemas.microsoft.com/office/drawing/2014/main" id="{428E998A-9271-45F5-B78B-846C000FA5DD}"/>
              </a:ext>
            </a:extLst>
          </p:cNvPr>
          <p:cNvSpPr>
            <a:spLocks xmlns:a="http://schemas.openxmlformats.org/drawingml/2006/main" noGrp="1"/>
          </p:cNvSpPr>
          <p:nvPr/>
        </p:nvSpPr>
        <p:spPr>
          <a:xfrm xmlns:a="http://schemas.openxmlformats.org/drawingml/2006/main">
            <a:off x="9944100" y="3638550"/>
            <a:ext cx="1428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687181"/>
                </a:solidFill>
              </a:defRPr>
            </a:pPr>
            <a:r>
              <a:rPr sz="1125" b="0">
                <a:solidFill>
                  <a:srgbClr val="687181"/>
                </a:solidFill>
              </a:rPr>
              <a:t>Kaynak, sayfa ve gerekirse koordinat göster.</a:t>
            </a:r>
          </a:p>
        </p:txBody>
      </p:sp>
      <p:sp>
        <p:nvSpPr>
          <p:cNvPr id="39" name="">
            <a:extLst xmlns:a="http://schemas.openxmlformats.org/drawingml/2006/main">
              <a:ext uri="{FF2B5EF4-FFF2-40B4-BE49-F238E27FC236}">
                <a16:creationId xmlns:a16="http://schemas.microsoft.com/office/drawing/2014/main" id="{B371BED9-F32B-450E-A17B-9176C79E7BF5}"/>
              </a:ext>
            </a:extLst>
          </p:cNvPr>
          <p:cNvSpPr>
            <a:spLocks xmlns:a="http://schemas.openxmlformats.org/drawingml/2006/main" noGrp="1"/>
          </p:cNvSpPr>
          <p:nvPr/>
        </p:nvSpPr>
        <p:spPr>
          <a:xfrm xmlns:a="http://schemas.openxmlformats.org/drawingml/2006/main">
            <a:off x="1562100" y="5010150"/>
            <a:ext cx="9067800" cy="876300"/>
          </a:xfrm>
          <a:prstGeom xmlns:a="http://schemas.openxmlformats.org/drawingml/2006/main" prst="roundRect">
            <a:avLst>
              <a:gd name="adj" fmla="val 13043"/>
            </a:avLst>
          </a:prstGeom>
          <a:solidFill xmlns:a="http://schemas.openxmlformats.org/drawingml/2006/main">
            <a:srgbClr val="10051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88445565-C8E7-4A7C-B33C-7A9E65939629}"/>
              </a:ext>
            </a:extLst>
          </p:cNvPr>
          <p:cNvSpPr>
            <a:spLocks xmlns:a="http://schemas.openxmlformats.org/drawingml/2006/main" noGrp="1"/>
          </p:cNvSpPr>
          <p:nvPr/>
        </p:nvSpPr>
        <p:spPr>
          <a:xfrm xmlns:a="http://schemas.openxmlformats.org/drawingml/2006/main">
            <a:off x="1866900" y="5162550"/>
            <a:ext cx="845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“Modelden bildiğini anlatmasını istemiyoruz; kurumun onaylı kaynağını bulup ona dayanmasını istiyoruz.”</a:t>
            </a:r>
          </a:p>
        </p:txBody>
      </p:sp>
      <p:sp>
        <p:nvSpPr>
          <p:cNvPr id="41" name="">
            <a:extLst xmlns:a="http://schemas.openxmlformats.org/drawingml/2006/main">
              <a:ext uri="{FF2B5EF4-FFF2-40B4-BE49-F238E27FC236}">
                <a16:creationId xmlns:a16="http://schemas.microsoft.com/office/drawing/2014/main" id="{7ABB62BC-D059-47D4-9B70-E19084546201}"/>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87181"/>
                </a:solidFill>
              </a:defRPr>
            </a:pPr>
            <a:r>
              <a:rPr sz="750" b="0">
                <a:solidFill>
                  <a:srgbClr val="687181"/>
                </a:solidFill>
              </a:rPr>
              <a:t>Kaynak: Orbina Shared — RAG / Knowledge Layer ve Grounding</a:t>
            </a:r>
          </a:p>
        </p:txBody>
      </p:sp>
      <p:sp>
        <p:nvSpPr>
          <p:cNvPr id="42" name="">
            <a:extLst xmlns:a="http://schemas.openxmlformats.org/drawingml/2006/main">
              <a:ext uri="{FF2B5EF4-FFF2-40B4-BE49-F238E27FC236}">
                <a16:creationId xmlns:a16="http://schemas.microsoft.com/office/drawing/2014/main" id="{FF2A28B8-86FA-4388-AF9E-6851963BBF43}"/>
              </a:ext>
            </a:extLst>
          </p:cNvPr>
          <p:cNvSpPr>
            <a:spLocks xmlns:a="http://schemas.openxmlformats.org/drawingml/2006/main" noGrp="1"/>
          </p:cNvSpPr>
          <p:nvPr/>
        </p:nvSpPr>
        <p:spPr>
          <a:xfrm xmlns:a="http://schemas.openxmlformats.org/drawingml/2006/main">
            <a:off x="10572750" y="6515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7212B"/>
                </a:solidFill>
              </a:defRPr>
            </a:pPr>
            <a:r>
              <a:rPr sz="900" b="1">
                <a:solidFill>
                  <a:srgbClr val="17212B"/>
                </a:solidFill>
              </a:rPr>
              <a:t>ORBINA</a:t>
            </a:r>
          </a:p>
        </p:txBody>
      </p:sp>
    </p:spTree>
    <p:extLst>
      <p:ext uri="{BB962C8B-B14F-4D97-AF65-F5344CB8AC3E}">
        <p14:creationId xmlns:p14="http://schemas.microsoft.com/office/powerpoint/2010/main" val="4101702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C81A9C-5B57-40B6-A95D-1A133FBBB403}"/>
              </a:ext>
            </a:extLst>
          </p:cNvPr>
          <p:cNvSpPr>
            <a:spLocks xmlns:a="http://schemas.openxmlformats.org/drawingml/2006/main" noGrp="1"/>
          </p:cNvSpPr>
          <p:nvPr/>
        </p:nvSpPr>
        <p:spPr>
          <a:xfrm xmlns:a="http://schemas.openxmlformats.org/drawingml/2006/main">
            <a:off x="609600" y="3619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35D5"/>
                </a:solidFill>
              </a:defRPr>
            </a:pPr>
            <a:r>
              <a:rPr sz="975" b="1">
                <a:solidFill>
                  <a:srgbClr val="6D35D5"/>
                </a:solidFill>
              </a:rPr>
              <a:t>DOĞRU BEKLENTI</a:t>
            </a:r>
          </a:p>
        </p:txBody>
      </p:sp>
      <p:sp>
        <p:nvSpPr>
          <p:cNvPr id="2" name="title-6">
            <a:extLst xmlns:a="http://schemas.openxmlformats.org/drawingml/2006/main">
              <a:ext uri="{FF2B5EF4-FFF2-40B4-BE49-F238E27FC236}">
                <a16:creationId xmlns:a16="http://schemas.microsoft.com/office/drawing/2014/main" id="{955DF88B-70C7-443A-BF53-E4DA70A50A1C}"/>
              </a:ext>
            </a:extLst>
          </p:cNvPr>
          <p:cNvSpPr>
            <a:spLocks xmlns:a="http://schemas.openxmlformats.org/drawingml/2006/main" noGrp="1"/>
          </p:cNvSpPr>
          <p:nvPr/>
        </p:nvSpPr>
        <p:spPr>
          <a:xfrm xmlns:a="http://schemas.openxmlformats.org/drawingml/2006/main">
            <a:off x="609600" y="6667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7212B"/>
                </a:solidFill>
              </a:defRPr>
            </a:pPr>
            <a:r>
              <a:rPr sz="2700" b="1">
                <a:solidFill>
                  <a:srgbClr val="17212B"/>
                </a:solidFill>
              </a:rPr>
              <a:t>RAG hallucination’ı sıfırlamaz; ölçülebilir biçimde azaltır.</a:t>
            </a:r>
          </a:p>
        </p:txBody>
      </p:sp>
      <p:sp>
        <p:nvSpPr>
          <p:cNvPr id="3" name="">
            <a:extLst xmlns:a="http://schemas.openxmlformats.org/drawingml/2006/main">
              <a:ext uri="{FF2B5EF4-FFF2-40B4-BE49-F238E27FC236}">
                <a16:creationId xmlns:a16="http://schemas.microsoft.com/office/drawing/2014/main" id="{09D45CE5-F5DB-4894-A6D1-24C2A7117DC2}"/>
              </a:ext>
            </a:extLst>
          </p:cNvPr>
          <p:cNvSpPr>
            <a:spLocks xmlns:a="http://schemas.openxmlformats.org/drawingml/2006/main" noGrp="1"/>
          </p:cNvSpPr>
          <p:nvPr/>
        </p:nvSpPr>
        <p:spPr>
          <a:xfrm xmlns:a="http://schemas.openxmlformats.org/drawingml/2006/main">
            <a:off x="11191875" y="419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1"/>
                </a:solidFill>
              </a:defRPr>
            </a:pPr>
            <a:r>
              <a:rPr sz="975" b="1">
                <a:solidFill>
                  <a:srgbClr val="687181"/>
                </a:solidFill>
              </a:rPr>
              <a:t>06</a:t>
            </a:r>
          </a:p>
        </p:txBody>
      </p:sp>
      <p:sp>
        <p:nvSpPr>
          <p:cNvPr id="4" name="">
            <a:extLst xmlns:a="http://schemas.openxmlformats.org/drawingml/2006/main">
              <a:ext uri="{FF2B5EF4-FFF2-40B4-BE49-F238E27FC236}">
                <a16:creationId xmlns:a16="http://schemas.microsoft.com/office/drawing/2014/main" id="{C7099517-5AE9-479F-917C-EE86BB8EA172}"/>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EEE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29DD0F-5DBA-4666-BB22-C8A66CC3733D}"/>
              </a:ext>
            </a:extLst>
          </p:cNvPr>
          <p:cNvSpPr>
            <a:spLocks xmlns:a="http://schemas.openxmlformats.org/drawingml/2006/main" noGrp="1"/>
          </p:cNvSpPr>
          <p:nvPr/>
        </p:nvSpPr>
        <p:spPr>
          <a:xfrm xmlns:a="http://schemas.openxmlformats.org/drawingml/2006/main">
            <a:off x="609600" y="1666875"/>
            <a:ext cx="4953000" cy="3714750"/>
          </a:xfrm>
          <a:prstGeom xmlns:a="http://schemas.openxmlformats.org/drawingml/2006/main" prst="roundRect">
            <a:avLst>
              <a:gd name="adj" fmla="val 4103"/>
            </a:avLst>
          </a:prstGeom>
          <a:solidFill xmlns:a="http://schemas.openxmlformats.org/drawingml/2006/main">
            <a:srgbClr val="F7F5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1D311D0-E845-4A42-BF2A-5973725CF70F}"/>
              </a:ext>
            </a:extLst>
          </p:cNvPr>
          <p:cNvSpPr>
            <a:spLocks xmlns:a="http://schemas.openxmlformats.org/drawingml/2006/main" noGrp="1"/>
          </p:cNvSpPr>
          <p:nvPr/>
        </p:nvSpPr>
        <p:spPr>
          <a:xfrm xmlns:a="http://schemas.openxmlformats.org/drawingml/2006/main">
            <a:off x="895350" y="19240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212B"/>
                </a:solidFill>
              </a:defRPr>
            </a:pPr>
            <a:r>
              <a:rPr sz="1875" b="1">
                <a:solidFill>
                  <a:srgbClr val="17212B"/>
                </a:solidFill>
              </a:rPr>
              <a:t>Neden hâlâ hata olabilir?</a:t>
            </a:r>
          </a:p>
        </p:txBody>
      </p:sp>
      <p:sp>
        <p:nvSpPr>
          <p:cNvPr id="7" name="">
            <a:extLst xmlns:a="http://schemas.openxmlformats.org/drawingml/2006/main">
              <a:ext uri="{FF2B5EF4-FFF2-40B4-BE49-F238E27FC236}">
                <a16:creationId xmlns:a16="http://schemas.microsoft.com/office/drawing/2014/main" id="{A70DA446-6DB5-454C-A267-525E9BE85A27}"/>
              </a:ext>
            </a:extLst>
          </p:cNvPr>
          <p:cNvSpPr>
            <a:spLocks xmlns:a="http://schemas.openxmlformats.org/drawingml/2006/main" noGrp="1"/>
          </p:cNvSpPr>
          <p:nvPr/>
        </p:nvSpPr>
        <p:spPr>
          <a:xfrm xmlns:a="http://schemas.openxmlformats.org/drawingml/2006/main">
            <a:off x="914400" y="2609850"/>
            <a:ext cx="133350" cy="133350"/>
          </a:xfrm>
          <a:prstGeom xmlns:a="http://schemas.openxmlformats.org/drawingml/2006/main" prst="ellipse">
            <a:avLst/>
          </a:prstGeom>
          <a:solidFill xmlns:a="http://schemas.openxmlformats.org/drawingml/2006/main">
            <a:srgbClr val="D84A5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C3B2B04-5A4B-4D6A-8E73-90A83B154641}"/>
              </a:ext>
            </a:extLst>
          </p:cNvPr>
          <p:cNvSpPr>
            <a:spLocks xmlns:a="http://schemas.openxmlformats.org/drawingml/2006/main" noGrp="1"/>
          </p:cNvSpPr>
          <p:nvPr/>
        </p:nvSpPr>
        <p:spPr>
          <a:xfrm xmlns:a="http://schemas.openxmlformats.org/drawingml/2006/main">
            <a:off x="1181100" y="24574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Yanlış veya eski doküman</a:t>
            </a:r>
          </a:p>
        </p:txBody>
      </p:sp>
      <p:sp>
        <p:nvSpPr>
          <p:cNvPr id="9" name="">
            <a:extLst xmlns:a="http://schemas.openxmlformats.org/drawingml/2006/main">
              <a:ext uri="{FF2B5EF4-FFF2-40B4-BE49-F238E27FC236}">
                <a16:creationId xmlns:a16="http://schemas.microsoft.com/office/drawing/2014/main" id="{DCE8BED7-272E-4132-A00A-41AED3174559}"/>
              </a:ext>
            </a:extLst>
          </p:cNvPr>
          <p:cNvSpPr>
            <a:spLocks xmlns:a="http://schemas.openxmlformats.org/drawingml/2006/main" noGrp="1"/>
          </p:cNvSpPr>
          <p:nvPr/>
        </p:nvSpPr>
        <p:spPr>
          <a:xfrm xmlns:a="http://schemas.openxmlformats.org/drawingml/2006/main">
            <a:off x="914400" y="3200400"/>
            <a:ext cx="133350" cy="133350"/>
          </a:xfrm>
          <a:prstGeom xmlns:a="http://schemas.openxmlformats.org/drawingml/2006/main" prst="ellipse">
            <a:avLst/>
          </a:prstGeom>
          <a:solidFill xmlns:a="http://schemas.openxmlformats.org/drawingml/2006/main">
            <a:srgbClr val="D84A5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1A347B7-B414-478D-A2A1-535B814637CD}"/>
              </a:ext>
            </a:extLst>
          </p:cNvPr>
          <p:cNvSpPr>
            <a:spLocks xmlns:a="http://schemas.openxmlformats.org/drawingml/2006/main" noGrp="1"/>
          </p:cNvSpPr>
          <p:nvPr/>
        </p:nvSpPr>
        <p:spPr>
          <a:xfrm xmlns:a="http://schemas.openxmlformats.org/drawingml/2006/main">
            <a:off x="1181100" y="30480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Soruyla ilgisiz parçanın getirilmesi</a:t>
            </a:r>
          </a:p>
        </p:txBody>
      </p:sp>
      <p:sp>
        <p:nvSpPr>
          <p:cNvPr id="11" name="">
            <a:extLst xmlns:a="http://schemas.openxmlformats.org/drawingml/2006/main">
              <a:ext uri="{FF2B5EF4-FFF2-40B4-BE49-F238E27FC236}">
                <a16:creationId xmlns:a16="http://schemas.microsoft.com/office/drawing/2014/main" id="{E294B793-AC66-4A65-9A85-F982EA4D1BFA}"/>
              </a:ext>
            </a:extLst>
          </p:cNvPr>
          <p:cNvSpPr>
            <a:spLocks xmlns:a="http://schemas.openxmlformats.org/drawingml/2006/main" noGrp="1"/>
          </p:cNvSpPr>
          <p:nvPr/>
        </p:nvSpPr>
        <p:spPr>
          <a:xfrm xmlns:a="http://schemas.openxmlformats.org/drawingml/2006/main">
            <a:off x="914400" y="3790950"/>
            <a:ext cx="133350" cy="133350"/>
          </a:xfrm>
          <a:prstGeom xmlns:a="http://schemas.openxmlformats.org/drawingml/2006/main" prst="ellipse">
            <a:avLst/>
          </a:prstGeom>
          <a:solidFill xmlns:a="http://schemas.openxmlformats.org/drawingml/2006/main">
            <a:srgbClr val="D84A5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5763B65-C2C8-4FA2-B4B7-589F832A1671}"/>
              </a:ext>
            </a:extLst>
          </p:cNvPr>
          <p:cNvSpPr>
            <a:spLocks xmlns:a="http://schemas.openxmlformats.org/drawingml/2006/main" noGrp="1"/>
          </p:cNvSpPr>
          <p:nvPr/>
        </p:nvSpPr>
        <p:spPr>
          <a:xfrm xmlns:a="http://schemas.openxmlformats.org/drawingml/2006/main">
            <a:off x="1181100" y="36385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Kaynağın belirsiz ya da çelişkili olması</a:t>
            </a:r>
          </a:p>
        </p:txBody>
      </p:sp>
      <p:sp>
        <p:nvSpPr>
          <p:cNvPr id="13" name="">
            <a:extLst xmlns:a="http://schemas.openxmlformats.org/drawingml/2006/main">
              <a:ext uri="{FF2B5EF4-FFF2-40B4-BE49-F238E27FC236}">
                <a16:creationId xmlns:a16="http://schemas.microsoft.com/office/drawing/2014/main" id="{BF5B3BC8-B0BF-42F2-BB01-AFA814C5AB57}"/>
              </a:ext>
            </a:extLst>
          </p:cNvPr>
          <p:cNvSpPr>
            <a:spLocks xmlns:a="http://schemas.openxmlformats.org/drawingml/2006/main" noGrp="1"/>
          </p:cNvSpPr>
          <p:nvPr/>
        </p:nvSpPr>
        <p:spPr>
          <a:xfrm xmlns:a="http://schemas.openxmlformats.org/drawingml/2006/main">
            <a:off x="914400" y="4381500"/>
            <a:ext cx="133350" cy="133350"/>
          </a:xfrm>
          <a:prstGeom xmlns:a="http://schemas.openxmlformats.org/drawingml/2006/main" prst="ellipse">
            <a:avLst/>
          </a:prstGeom>
          <a:solidFill xmlns:a="http://schemas.openxmlformats.org/drawingml/2006/main">
            <a:srgbClr val="D84A5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1CE8BD-A5B9-4A96-BDA5-0E453E895548}"/>
              </a:ext>
            </a:extLst>
          </p:cNvPr>
          <p:cNvSpPr>
            <a:spLocks xmlns:a="http://schemas.openxmlformats.org/drawingml/2006/main" noGrp="1"/>
          </p:cNvSpPr>
          <p:nvPr/>
        </p:nvSpPr>
        <p:spPr>
          <a:xfrm xmlns:a="http://schemas.openxmlformats.org/drawingml/2006/main">
            <a:off x="1181100" y="42291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Modelin bağlam dışına taşması</a:t>
            </a:r>
          </a:p>
        </p:txBody>
      </p:sp>
      <p:sp>
        <p:nvSpPr>
          <p:cNvPr id="15" name="">
            <a:extLst xmlns:a="http://schemas.openxmlformats.org/drawingml/2006/main">
              <a:ext uri="{FF2B5EF4-FFF2-40B4-BE49-F238E27FC236}">
                <a16:creationId xmlns:a16="http://schemas.microsoft.com/office/drawing/2014/main" id="{22BDCB82-1D86-407F-89A3-5EC299A5BA7B}"/>
              </a:ext>
            </a:extLst>
          </p:cNvPr>
          <p:cNvSpPr>
            <a:spLocks xmlns:a="http://schemas.openxmlformats.org/drawingml/2006/main" noGrp="1"/>
          </p:cNvSpPr>
          <p:nvPr/>
        </p:nvSpPr>
        <p:spPr>
          <a:xfrm xmlns:a="http://schemas.openxmlformats.org/drawingml/2006/main">
            <a:off x="5905500" y="1666875"/>
            <a:ext cx="5676900" cy="3714750"/>
          </a:xfrm>
          <a:prstGeom xmlns:a="http://schemas.openxmlformats.org/drawingml/2006/main" prst="roundRect">
            <a:avLst>
              <a:gd name="adj" fmla="val 4103"/>
            </a:avLst>
          </a:prstGeom>
          <a:solidFill xmlns:a="http://schemas.openxmlformats.org/drawingml/2006/main">
            <a:srgbClr val="EEE7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E330900-4223-468D-AA9D-164DC04491FF}"/>
              </a:ext>
            </a:extLst>
          </p:cNvPr>
          <p:cNvSpPr>
            <a:spLocks xmlns:a="http://schemas.openxmlformats.org/drawingml/2006/main" noGrp="1"/>
          </p:cNvSpPr>
          <p:nvPr/>
        </p:nvSpPr>
        <p:spPr>
          <a:xfrm xmlns:a="http://schemas.openxmlformats.org/drawingml/2006/main">
            <a:off x="6191250" y="19240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212B"/>
                </a:solidFill>
              </a:defRPr>
            </a:pPr>
            <a:r>
              <a:rPr sz="1875" b="1">
                <a:solidFill>
                  <a:srgbClr val="17212B"/>
                </a:solidFill>
              </a:rPr>
              <a:t>Güvenilirlik nasıl yükseltilir?</a:t>
            </a:r>
          </a:p>
        </p:txBody>
      </p:sp>
      <p:sp>
        <p:nvSpPr>
          <p:cNvPr id="17" name="">
            <a:extLst xmlns:a="http://schemas.openxmlformats.org/drawingml/2006/main">
              <a:ext uri="{FF2B5EF4-FFF2-40B4-BE49-F238E27FC236}">
                <a16:creationId xmlns:a16="http://schemas.microsoft.com/office/drawing/2014/main" id="{5E6349BF-7B6F-4147-81C7-D94279B08D6E}"/>
              </a:ext>
            </a:extLst>
          </p:cNvPr>
          <p:cNvSpPr>
            <a:spLocks xmlns:a="http://schemas.openxmlformats.org/drawingml/2006/main" noGrp="1"/>
          </p:cNvSpPr>
          <p:nvPr/>
        </p:nvSpPr>
        <p:spPr>
          <a:xfrm xmlns:a="http://schemas.openxmlformats.org/drawingml/2006/main">
            <a:off x="6210300" y="2571750"/>
            <a:ext cx="152400" cy="152400"/>
          </a:xfrm>
          <a:prstGeom xmlns:a="http://schemas.openxmlformats.org/drawingml/2006/main" prst="ellipse">
            <a:avLst/>
          </a:prstGeom>
          <a:solidFill xmlns:a="http://schemas.openxmlformats.org/drawingml/2006/main">
            <a:srgbClr val="159B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FF100A3-5D15-41DF-BB20-F160B3ED9897}"/>
              </a:ext>
            </a:extLst>
          </p:cNvPr>
          <p:cNvSpPr>
            <a:spLocks xmlns:a="http://schemas.openxmlformats.org/drawingml/2006/main" noGrp="1"/>
          </p:cNvSpPr>
          <p:nvPr/>
        </p:nvSpPr>
        <p:spPr>
          <a:xfrm xmlns:a="http://schemas.openxmlformats.org/drawingml/2006/main">
            <a:off x="6496050" y="2419350"/>
            <a:ext cx="3000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2B"/>
                </a:solidFill>
              </a:defRPr>
            </a:pPr>
            <a:r>
              <a:rPr sz="1200" b="1">
                <a:solidFill>
                  <a:srgbClr val="17212B"/>
                </a:solidFill>
              </a:rPr>
              <a:t>Kaynak yoksa cevap verme</a:t>
            </a:r>
          </a:p>
        </p:txBody>
      </p:sp>
      <p:sp>
        <p:nvSpPr>
          <p:cNvPr id="19" name="">
            <a:extLst xmlns:a="http://schemas.openxmlformats.org/drawingml/2006/main">
              <a:ext uri="{FF2B5EF4-FFF2-40B4-BE49-F238E27FC236}">
                <a16:creationId xmlns:a16="http://schemas.microsoft.com/office/drawing/2014/main" id="{E5A2B06D-EF60-4002-82F6-3BD7274773A1}"/>
              </a:ext>
            </a:extLst>
          </p:cNvPr>
          <p:cNvSpPr>
            <a:spLocks xmlns:a="http://schemas.openxmlformats.org/drawingml/2006/main" noGrp="1"/>
          </p:cNvSpPr>
          <p:nvPr/>
        </p:nvSpPr>
        <p:spPr>
          <a:xfrm xmlns:a="http://schemas.openxmlformats.org/drawingml/2006/main">
            <a:off x="9525000" y="2476500"/>
            <a:ext cx="1571625"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7280182-C44D-4702-9CBC-17CEF3164B11}"/>
              </a:ext>
            </a:extLst>
          </p:cNvPr>
          <p:cNvSpPr>
            <a:spLocks xmlns:a="http://schemas.openxmlformats.org/drawingml/2006/main" noGrp="1"/>
          </p:cNvSpPr>
          <p:nvPr/>
        </p:nvSpPr>
        <p:spPr>
          <a:xfrm xmlns:a="http://schemas.openxmlformats.org/drawingml/2006/main">
            <a:off x="9620250" y="24955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D35D5"/>
                </a:solidFill>
              </a:defRPr>
            </a:pPr>
            <a:r>
              <a:rPr sz="975" b="1">
                <a:solidFill>
                  <a:srgbClr val="6D35D5"/>
                </a:solidFill>
              </a:rPr>
              <a:t>Abstention</a:t>
            </a:r>
          </a:p>
        </p:txBody>
      </p:sp>
      <p:sp>
        <p:nvSpPr>
          <p:cNvPr id="21" name="">
            <a:extLst xmlns:a="http://schemas.openxmlformats.org/drawingml/2006/main">
              <a:ext uri="{FF2B5EF4-FFF2-40B4-BE49-F238E27FC236}">
                <a16:creationId xmlns:a16="http://schemas.microsoft.com/office/drawing/2014/main" id="{F6211937-4B09-468D-9CF5-7DCB9E2436C4}"/>
              </a:ext>
            </a:extLst>
          </p:cNvPr>
          <p:cNvSpPr>
            <a:spLocks xmlns:a="http://schemas.openxmlformats.org/drawingml/2006/main" noGrp="1"/>
          </p:cNvSpPr>
          <p:nvPr/>
        </p:nvSpPr>
        <p:spPr>
          <a:xfrm xmlns:a="http://schemas.openxmlformats.org/drawingml/2006/main">
            <a:off x="6210300" y="3086100"/>
            <a:ext cx="152400" cy="152400"/>
          </a:xfrm>
          <a:prstGeom xmlns:a="http://schemas.openxmlformats.org/drawingml/2006/main" prst="ellipse">
            <a:avLst/>
          </a:prstGeom>
          <a:solidFill xmlns:a="http://schemas.openxmlformats.org/drawingml/2006/main">
            <a:srgbClr val="159B6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FCFF518-61CF-431D-AE5A-2C13F6B0830B}"/>
              </a:ext>
            </a:extLst>
          </p:cNvPr>
          <p:cNvSpPr>
            <a:spLocks xmlns:a="http://schemas.openxmlformats.org/drawingml/2006/main" noGrp="1"/>
          </p:cNvSpPr>
          <p:nvPr/>
        </p:nvSpPr>
        <p:spPr>
          <a:xfrm xmlns:a="http://schemas.openxmlformats.org/drawingml/2006/main">
            <a:off x="6496050" y="2933700"/>
            <a:ext cx="3000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2B"/>
                </a:solidFill>
              </a:defRPr>
            </a:pPr>
            <a:r>
              <a:rPr sz="1200" b="1">
                <a:solidFill>
                  <a:srgbClr val="17212B"/>
                </a:solidFill>
              </a:rPr>
              <a:t>Güncel ve yetkili kaynak filtresi</a:t>
            </a:r>
          </a:p>
        </p:txBody>
      </p:sp>
      <p:sp>
        <p:nvSpPr>
          <p:cNvPr id="23" name="">
            <a:extLst xmlns:a="http://schemas.openxmlformats.org/drawingml/2006/main">
              <a:ext uri="{FF2B5EF4-FFF2-40B4-BE49-F238E27FC236}">
                <a16:creationId xmlns:a16="http://schemas.microsoft.com/office/drawing/2014/main" id="{84C45BA2-B849-4FAF-B195-B467E0FDAAD5}"/>
              </a:ext>
            </a:extLst>
          </p:cNvPr>
          <p:cNvSpPr>
            <a:spLocks xmlns:a="http://schemas.openxmlformats.org/drawingml/2006/main" noGrp="1"/>
          </p:cNvSpPr>
          <p:nvPr/>
        </p:nvSpPr>
        <p:spPr>
          <a:xfrm xmlns:a="http://schemas.openxmlformats.org/drawingml/2006/main">
            <a:off x="9525000" y="2990850"/>
            <a:ext cx="1571625"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2BE556E-E061-4AEE-937E-E85CE0AD1D95}"/>
              </a:ext>
            </a:extLst>
          </p:cNvPr>
          <p:cNvSpPr>
            <a:spLocks xmlns:a="http://schemas.openxmlformats.org/drawingml/2006/main" noGrp="1"/>
          </p:cNvSpPr>
          <p:nvPr/>
        </p:nvSpPr>
        <p:spPr>
          <a:xfrm xmlns:a="http://schemas.openxmlformats.org/drawingml/2006/main">
            <a:off x="9620250" y="30099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D35D5"/>
                </a:solidFill>
              </a:defRPr>
            </a:pPr>
            <a:r>
              <a:rPr sz="975" b="1">
                <a:solidFill>
                  <a:srgbClr val="6D35D5"/>
                </a:solidFill>
              </a:rPr>
              <a:t>Governance</a:t>
            </a:r>
          </a:p>
        </p:txBody>
      </p:sp>
      <p:sp>
        <p:nvSpPr>
          <p:cNvPr id="25" name="">
            <a:extLst xmlns:a="http://schemas.openxmlformats.org/drawingml/2006/main">
              <a:ext uri="{FF2B5EF4-FFF2-40B4-BE49-F238E27FC236}">
                <a16:creationId xmlns:a16="http://schemas.microsoft.com/office/drawing/2014/main" id="{A49A32D2-154A-472A-8277-175874F0C4D3}"/>
              </a:ext>
            </a:extLst>
          </p:cNvPr>
          <p:cNvSpPr>
            <a:spLocks xmlns:a="http://schemas.openxmlformats.org/drawingml/2006/main" noGrp="1"/>
          </p:cNvSpPr>
          <p:nvPr/>
        </p:nvSpPr>
        <p:spPr>
          <a:xfrm xmlns:a="http://schemas.openxmlformats.org/drawingml/2006/main">
            <a:off x="6210300" y="3600450"/>
            <a:ext cx="152400" cy="152400"/>
          </a:xfrm>
          <a:prstGeom xmlns:a="http://schemas.openxmlformats.org/drawingml/2006/main" prst="ellipse">
            <a:avLst/>
          </a:prstGeom>
          <a:solidFill xmlns:a="http://schemas.openxmlformats.org/drawingml/2006/main">
            <a:srgbClr val="159B6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E919EC8-D942-4420-B45F-B38937F5E992}"/>
              </a:ext>
            </a:extLst>
          </p:cNvPr>
          <p:cNvSpPr>
            <a:spLocks xmlns:a="http://schemas.openxmlformats.org/drawingml/2006/main" noGrp="1"/>
          </p:cNvSpPr>
          <p:nvPr/>
        </p:nvSpPr>
        <p:spPr>
          <a:xfrm xmlns:a="http://schemas.openxmlformats.org/drawingml/2006/main">
            <a:off x="6496050" y="3448050"/>
            <a:ext cx="3000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2B"/>
                </a:solidFill>
              </a:defRPr>
            </a:pPr>
            <a:r>
              <a:rPr sz="1200" b="1">
                <a:solidFill>
                  <a:srgbClr val="17212B"/>
                </a:solidFill>
              </a:rPr>
              <a:t>Sayfa / koordinat gösterimi</a:t>
            </a:r>
          </a:p>
        </p:txBody>
      </p:sp>
      <p:sp>
        <p:nvSpPr>
          <p:cNvPr id="27" name="">
            <a:extLst xmlns:a="http://schemas.openxmlformats.org/drawingml/2006/main">
              <a:ext uri="{FF2B5EF4-FFF2-40B4-BE49-F238E27FC236}">
                <a16:creationId xmlns:a16="http://schemas.microsoft.com/office/drawing/2014/main" id="{816F39AB-5954-4128-BB48-75CB4029AACF}"/>
              </a:ext>
            </a:extLst>
          </p:cNvPr>
          <p:cNvSpPr>
            <a:spLocks xmlns:a="http://schemas.openxmlformats.org/drawingml/2006/main" noGrp="1"/>
          </p:cNvSpPr>
          <p:nvPr/>
        </p:nvSpPr>
        <p:spPr>
          <a:xfrm xmlns:a="http://schemas.openxmlformats.org/drawingml/2006/main">
            <a:off x="9525000" y="3505200"/>
            <a:ext cx="1571625"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435BFBA-65F6-4EE7-AE99-C7A2058AE14C}"/>
              </a:ext>
            </a:extLst>
          </p:cNvPr>
          <p:cNvSpPr>
            <a:spLocks xmlns:a="http://schemas.openxmlformats.org/drawingml/2006/main" noGrp="1"/>
          </p:cNvSpPr>
          <p:nvPr/>
        </p:nvSpPr>
        <p:spPr>
          <a:xfrm xmlns:a="http://schemas.openxmlformats.org/drawingml/2006/main">
            <a:off x="9620250" y="3524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D35D5"/>
                </a:solidFill>
              </a:defRPr>
            </a:pPr>
            <a:r>
              <a:rPr sz="975" b="1">
                <a:solidFill>
                  <a:srgbClr val="6D35D5"/>
                </a:solidFill>
              </a:rPr>
              <a:t>Traceability</a:t>
            </a:r>
          </a:p>
        </p:txBody>
      </p:sp>
      <p:sp>
        <p:nvSpPr>
          <p:cNvPr id="29" name="">
            <a:extLst xmlns:a="http://schemas.openxmlformats.org/drawingml/2006/main">
              <a:ext uri="{FF2B5EF4-FFF2-40B4-BE49-F238E27FC236}">
                <a16:creationId xmlns:a16="http://schemas.microsoft.com/office/drawing/2014/main" id="{36A1B82B-C60D-4D96-B7F9-983F974F50AF}"/>
              </a:ext>
            </a:extLst>
          </p:cNvPr>
          <p:cNvSpPr>
            <a:spLocks xmlns:a="http://schemas.openxmlformats.org/drawingml/2006/main" noGrp="1"/>
          </p:cNvSpPr>
          <p:nvPr/>
        </p:nvSpPr>
        <p:spPr>
          <a:xfrm xmlns:a="http://schemas.openxmlformats.org/drawingml/2006/main">
            <a:off x="6210300" y="4114800"/>
            <a:ext cx="152400" cy="152400"/>
          </a:xfrm>
          <a:prstGeom xmlns:a="http://schemas.openxmlformats.org/drawingml/2006/main" prst="ellipse">
            <a:avLst/>
          </a:prstGeom>
          <a:solidFill xmlns:a="http://schemas.openxmlformats.org/drawingml/2006/main">
            <a:srgbClr val="159B6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3C0DA94-9C08-413F-9190-BC6640A5A9AB}"/>
              </a:ext>
            </a:extLst>
          </p:cNvPr>
          <p:cNvSpPr>
            <a:spLocks xmlns:a="http://schemas.openxmlformats.org/drawingml/2006/main" noGrp="1"/>
          </p:cNvSpPr>
          <p:nvPr/>
        </p:nvSpPr>
        <p:spPr>
          <a:xfrm xmlns:a="http://schemas.openxmlformats.org/drawingml/2006/main">
            <a:off x="6496050" y="3962400"/>
            <a:ext cx="3000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2B"/>
                </a:solidFill>
              </a:defRPr>
            </a:pPr>
            <a:r>
              <a:rPr sz="1200" b="1">
                <a:solidFill>
                  <a:srgbClr val="17212B"/>
                </a:solidFill>
              </a:rPr>
              <a:t>Cevap sonrası kontrol</a:t>
            </a:r>
          </a:p>
        </p:txBody>
      </p:sp>
      <p:sp>
        <p:nvSpPr>
          <p:cNvPr id="31" name="">
            <a:extLst xmlns:a="http://schemas.openxmlformats.org/drawingml/2006/main">
              <a:ext uri="{FF2B5EF4-FFF2-40B4-BE49-F238E27FC236}">
                <a16:creationId xmlns:a16="http://schemas.microsoft.com/office/drawing/2014/main" id="{57FDB5D4-3B98-4E8F-980A-87CD78662788}"/>
              </a:ext>
            </a:extLst>
          </p:cNvPr>
          <p:cNvSpPr>
            <a:spLocks xmlns:a="http://schemas.openxmlformats.org/drawingml/2006/main" noGrp="1"/>
          </p:cNvSpPr>
          <p:nvPr/>
        </p:nvSpPr>
        <p:spPr>
          <a:xfrm xmlns:a="http://schemas.openxmlformats.org/drawingml/2006/main">
            <a:off x="9525000" y="4019550"/>
            <a:ext cx="1571625"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4DCCAC9-9B75-48FD-A0C5-4B90CFC4F218}"/>
              </a:ext>
            </a:extLst>
          </p:cNvPr>
          <p:cNvSpPr>
            <a:spLocks xmlns:a="http://schemas.openxmlformats.org/drawingml/2006/main" noGrp="1"/>
          </p:cNvSpPr>
          <p:nvPr/>
        </p:nvSpPr>
        <p:spPr>
          <a:xfrm xmlns:a="http://schemas.openxmlformats.org/drawingml/2006/main">
            <a:off x="9620250" y="40386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D35D5"/>
                </a:solidFill>
              </a:defRPr>
            </a:pPr>
            <a:r>
              <a:rPr sz="975" b="1">
                <a:solidFill>
                  <a:srgbClr val="6D35D5"/>
                </a:solidFill>
              </a:rPr>
              <a:t>Guardrail</a:t>
            </a:r>
          </a:p>
        </p:txBody>
      </p:sp>
      <p:sp>
        <p:nvSpPr>
          <p:cNvPr id="33" name="">
            <a:extLst xmlns:a="http://schemas.openxmlformats.org/drawingml/2006/main">
              <a:ext uri="{FF2B5EF4-FFF2-40B4-BE49-F238E27FC236}">
                <a16:creationId xmlns:a16="http://schemas.microsoft.com/office/drawing/2014/main" id="{418B5E0F-F98B-4FBE-8657-7B598E4DB5E9}"/>
              </a:ext>
            </a:extLst>
          </p:cNvPr>
          <p:cNvSpPr>
            <a:spLocks xmlns:a="http://schemas.openxmlformats.org/drawingml/2006/main" noGrp="1"/>
          </p:cNvSpPr>
          <p:nvPr/>
        </p:nvSpPr>
        <p:spPr>
          <a:xfrm xmlns:a="http://schemas.openxmlformats.org/drawingml/2006/main">
            <a:off x="6210300" y="4629150"/>
            <a:ext cx="152400" cy="152400"/>
          </a:xfrm>
          <a:prstGeom xmlns:a="http://schemas.openxmlformats.org/drawingml/2006/main" prst="ellipse">
            <a:avLst/>
          </a:prstGeom>
          <a:solidFill xmlns:a="http://schemas.openxmlformats.org/drawingml/2006/main">
            <a:srgbClr val="159B6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5D3EED9-23A3-4149-940B-49F66B27919E}"/>
              </a:ext>
            </a:extLst>
          </p:cNvPr>
          <p:cNvSpPr>
            <a:spLocks xmlns:a="http://schemas.openxmlformats.org/drawingml/2006/main" noGrp="1"/>
          </p:cNvSpPr>
          <p:nvPr/>
        </p:nvSpPr>
        <p:spPr>
          <a:xfrm xmlns:a="http://schemas.openxmlformats.org/drawingml/2006/main">
            <a:off x="6496050" y="4476750"/>
            <a:ext cx="3000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2B"/>
                </a:solidFill>
              </a:defRPr>
            </a:pPr>
            <a:r>
              <a:rPr sz="1200" b="1">
                <a:solidFill>
                  <a:srgbClr val="17212B"/>
                </a:solidFill>
              </a:rPr>
              <a:t>Kritik konuda insan onayı</a:t>
            </a:r>
          </a:p>
        </p:txBody>
      </p:sp>
      <p:sp>
        <p:nvSpPr>
          <p:cNvPr id="35" name="">
            <a:extLst xmlns:a="http://schemas.openxmlformats.org/drawingml/2006/main">
              <a:ext uri="{FF2B5EF4-FFF2-40B4-BE49-F238E27FC236}">
                <a16:creationId xmlns:a16="http://schemas.microsoft.com/office/drawing/2014/main" id="{C300159C-1974-48A1-8DD4-1ADE686EE806}"/>
              </a:ext>
            </a:extLst>
          </p:cNvPr>
          <p:cNvSpPr>
            <a:spLocks xmlns:a="http://schemas.openxmlformats.org/drawingml/2006/main" noGrp="1"/>
          </p:cNvSpPr>
          <p:nvPr/>
        </p:nvSpPr>
        <p:spPr>
          <a:xfrm xmlns:a="http://schemas.openxmlformats.org/drawingml/2006/main">
            <a:off x="9525000" y="4533900"/>
            <a:ext cx="1571625" cy="3048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09F09C2-60DA-4382-8DD1-AC7293DC2A79}"/>
              </a:ext>
            </a:extLst>
          </p:cNvPr>
          <p:cNvSpPr>
            <a:spLocks xmlns:a="http://schemas.openxmlformats.org/drawingml/2006/main" noGrp="1"/>
          </p:cNvSpPr>
          <p:nvPr/>
        </p:nvSpPr>
        <p:spPr>
          <a:xfrm xmlns:a="http://schemas.openxmlformats.org/drawingml/2006/main">
            <a:off x="9620250" y="45529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D35D5"/>
                </a:solidFill>
              </a:defRPr>
            </a:pPr>
            <a:r>
              <a:rPr sz="975" b="1">
                <a:solidFill>
                  <a:srgbClr val="6D35D5"/>
                </a:solidFill>
              </a:rPr>
              <a:t>Human-in-loop</a:t>
            </a:r>
          </a:p>
        </p:txBody>
      </p:sp>
      <p:sp>
        <p:nvSpPr>
          <p:cNvPr id="37" name="">
            <a:extLst xmlns:a="http://schemas.openxmlformats.org/drawingml/2006/main">
              <a:ext uri="{FF2B5EF4-FFF2-40B4-BE49-F238E27FC236}">
                <a16:creationId xmlns:a16="http://schemas.microsoft.com/office/drawing/2014/main" id="{C877E5A8-B09C-47BA-AFB3-2ECF99A34EAD}"/>
              </a:ext>
            </a:extLst>
          </p:cNvPr>
          <p:cNvSpPr>
            <a:spLocks xmlns:a="http://schemas.openxmlformats.org/drawingml/2006/main" noGrp="1"/>
          </p:cNvSpPr>
          <p:nvPr/>
        </p:nvSpPr>
        <p:spPr>
          <a:xfrm xmlns:a="http://schemas.openxmlformats.org/drawingml/2006/main">
            <a:off x="1181100" y="5686425"/>
            <a:ext cx="982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6D35D5"/>
                </a:solidFill>
              </a:defRPr>
            </a:pPr>
            <a:r>
              <a:rPr sz="1575" b="1">
                <a:solidFill>
                  <a:srgbClr val="6D35D5"/>
                </a:solidFill>
              </a:rPr>
              <a:t>Güven = iyi retrieval + kaynak izlenebilirliği + guardrail + doğru eskalasyon</a:t>
            </a:r>
          </a:p>
        </p:txBody>
      </p:sp>
      <p:sp>
        <p:nvSpPr>
          <p:cNvPr id="38" name="">
            <a:extLst xmlns:a="http://schemas.openxmlformats.org/drawingml/2006/main">
              <a:ext uri="{FF2B5EF4-FFF2-40B4-BE49-F238E27FC236}">
                <a16:creationId xmlns:a16="http://schemas.microsoft.com/office/drawing/2014/main" id="{F1FDCEF1-FE6A-4293-BD18-0264745186D8}"/>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87181"/>
                </a:solidFill>
              </a:defRPr>
            </a:pPr>
            <a:r>
              <a:rPr sz="750" b="0">
                <a:solidFill>
                  <a:srgbClr val="687181"/>
                </a:solidFill>
              </a:rPr>
              <a:t>Kaynak: Orbina Shared — Traceability and Grounding Technology</a:t>
            </a:r>
          </a:p>
        </p:txBody>
      </p:sp>
      <p:sp>
        <p:nvSpPr>
          <p:cNvPr id="39" name="">
            <a:extLst xmlns:a="http://schemas.openxmlformats.org/drawingml/2006/main">
              <a:ext uri="{FF2B5EF4-FFF2-40B4-BE49-F238E27FC236}">
                <a16:creationId xmlns:a16="http://schemas.microsoft.com/office/drawing/2014/main" id="{E7C97A95-8A2E-4F54-9302-3C9D80F7F077}"/>
              </a:ext>
            </a:extLst>
          </p:cNvPr>
          <p:cNvSpPr>
            <a:spLocks xmlns:a="http://schemas.openxmlformats.org/drawingml/2006/main" noGrp="1"/>
          </p:cNvSpPr>
          <p:nvPr/>
        </p:nvSpPr>
        <p:spPr>
          <a:xfrm xmlns:a="http://schemas.openxmlformats.org/drawingml/2006/main">
            <a:off x="10572750" y="6515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7212B"/>
                </a:solidFill>
              </a:defRPr>
            </a:pPr>
            <a:r>
              <a:rPr sz="900" b="1">
                <a:solidFill>
                  <a:srgbClr val="17212B"/>
                </a:solidFill>
              </a:rPr>
              <a:t>ORBINA</a:t>
            </a:r>
          </a:p>
        </p:txBody>
      </p:sp>
    </p:spTree>
    <p:extLst>
      <p:ext uri="{BB962C8B-B14F-4D97-AF65-F5344CB8AC3E}">
        <p14:creationId xmlns:p14="http://schemas.microsoft.com/office/powerpoint/2010/main" val="636996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34B7DD-490F-437F-AE3F-EEF0AA781E1E}"/>
              </a:ext>
            </a:extLst>
          </p:cNvPr>
          <p:cNvSpPr>
            <a:spLocks xmlns:a="http://schemas.openxmlformats.org/drawingml/2006/main" noGrp="1"/>
          </p:cNvSpPr>
          <p:nvPr/>
        </p:nvSpPr>
        <p:spPr>
          <a:xfrm xmlns:a="http://schemas.openxmlformats.org/drawingml/2006/main">
            <a:off x="609600" y="3619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35D5"/>
                </a:solidFill>
              </a:defRPr>
            </a:pPr>
            <a:r>
              <a:rPr sz="975" b="1">
                <a:solidFill>
                  <a:srgbClr val="6D35D5"/>
                </a:solidFill>
              </a:rPr>
              <a:t>GPUAAS KÖPRÜSÜ</a:t>
            </a:r>
          </a:p>
        </p:txBody>
      </p:sp>
      <p:sp>
        <p:nvSpPr>
          <p:cNvPr id="2" name="title-7">
            <a:extLst xmlns:a="http://schemas.openxmlformats.org/drawingml/2006/main">
              <a:ext uri="{FF2B5EF4-FFF2-40B4-BE49-F238E27FC236}">
                <a16:creationId xmlns:a16="http://schemas.microsoft.com/office/drawing/2014/main" id="{62A13425-9C56-40E1-A8C2-C7C390DE8EEB}"/>
              </a:ext>
            </a:extLst>
          </p:cNvPr>
          <p:cNvSpPr>
            <a:spLocks xmlns:a="http://schemas.openxmlformats.org/drawingml/2006/main" noGrp="1"/>
          </p:cNvSpPr>
          <p:nvPr/>
        </p:nvSpPr>
        <p:spPr>
          <a:xfrm xmlns:a="http://schemas.openxmlformats.org/drawingml/2006/main">
            <a:off x="609600" y="6667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7212B"/>
                </a:solidFill>
              </a:defRPr>
            </a:pPr>
            <a:r>
              <a:rPr sz="2700" b="1">
                <a:solidFill>
                  <a:srgbClr val="17212B"/>
                </a:solidFill>
              </a:rPr>
              <a:t>Bulut zorunluluk değil; kapasite ve işletim tercihidir.</a:t>
            </a:r>
          </a:p>
        </p:txBody>
      </p:sp>
      <p:sp>
        <p:nvSpPr>
          <p:cNvPr id="3" name="">
            <a:extLst xmlns:a="http://schemas.openxmlformats.org/drawingml/2006/main">
              <a:ext uri="{FF2B5EF4-FFF2-40B4-BE49-F238E27FC236}">
                <a16:creationId xmlns:a16="http://schemas.microsoft.com/office/drawing/2014/main" id="{5EB0BF7F-33AE-46F1-A1B2-84AF5C8078C1}"/>
              </a:ext>
            </a:extLst>
          </p:cNvPr>
          <p:cNvSpPr>
            <a:spLocks xmlns:a="http://schemas.openxmlformats.org/drawingml/2006/main" noGrp="1"/>
          </p:cNvSpPr>
          <p:nvPr/>
        </p:nvSpPr>
        <p:spPr>
          <a:xfrm xmlns:a="http://schemas.openxmlformats.org/drawingml/2006/main">
            <a:off x="11191875" y="419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1"/>
                </a:solidFill>
              </a:defRPr>
            </a:pPr>
            <a:r>
              <a:rPr sz="975" b="1">
                <a:solidFill>
                  <a:srgbClr val="687181"/>
                </a:solidFill>
              </a:rPr>
              <a:t>07</a:t>
            </a:r>
          </a:p>
        </p:txBody>
      </p:sp>
      <p:sp>
        <p:nvSpPr>
          <p:cNvPr id="4" name="">
            <a:extLst xmlns:a="http://schemas.openxmlformats.org/drawingml/2006/main">
              <a:ext uri="{FF2B5EF4-FFF2-40B4-BE49-F238E27FC236}">
                <a16:creationId xmlns:a16="http://schemas.microsoft.com/office/drawing/2014/main" id="{86ACB576-12D0-4270-8400-7DB2032C934F}"/>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EEE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DFFD8B-D949-491D-87FD-6370CAEF98E9}"/>
              </a:ext>
            </a:extLst>
          </p:cNvPr>
          <p:cNvSpPr>
            <a:spLocks xmlns:a="http://schemas.openxmlformats.org/drawingml/2006/main" noGrp="1"/>
          </p:cNvSpPr>
          <p:nvPr/>
        </p:nvSpPr>
        <p:spPr>
          <a:xfrm xmlns:a="http://schemas.openxmlformats.org/drawingml/2006/main">
            <a:off x="609600" y="1504950"/>
            <a:ext cx="1019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87181"/>
                </a:solidFill>
              </a:defRPr>
            </a:pPr>
            <a:r>
              <a:rPr sz="1575" b="0">
                <a:solidFill>
                  <a:srgbClr val="687181"/>
                </a:solidFill>
              </a:rPr>
              <a:t>Orbina orkestrasyon yazılımıdır. GPUaaS ise modelleri çalıştıran esnek hesaplama gücüdür.</a:t>
            </a:r>
          </a:p>
        </p:txBody>
      </p:sp>
      <p:sp>
        <p:nvSpPr>
          <p:cNvPr id="6" name="">
            <a:extLst xmlns:a="http://schemas.openxmlformats.org/drawingml/2006/main">
              <a:ext uri="{FF2B5EF4-FFF2-40B4-BE49-F238E27FC236}">
                <a16:creationId xmlns:a16="http://schemas.microsoft.com/office/drawing/2014/main" id="{AFE28FE0-E8FC-4A48-96DC-5F121974F02C}"/>
              </a:ext>
            </a:extLst>
          </p:cNvPr>
          <p:cNvSpPr>
            <a:spLocks xmlns:a="http://schemas.openxmlformats.org/drawingml/2006/main" noGrp="1"/>
          </p:cNvSpPr>
          <p:nvPr/>
        </p:nvSpPr>
        <p:spPr>
          <a:xfrm xmlns:a="http://schemas.openxmlformats.org/drawingml/2006/main">
            <a:off x="609600" y="2266950"/>
            <a:ext cx="3048000" cy="2495550"/>
          </a:xfrm>
          <a:prstGeom xmlns:a="http://schemas.openxmlformats.org/drawingml/2006/main" prst="roundRect">
            <a:avLst>
              <a:gd name="adj" fmla="val 6107"/>
            </a:avLst>
          </a:prstGeom>
          <a:solidFill xmlns:a="http://schemas.openxmlformats.org/drawingml/2006/main">
            <a:srgbClr val="F7F5FB"/>
          </a:solidFill>
          <a:ln xmlns:a="http://schemas.openxmlformats.org/drawingml/2006/main" w="9525">
            <a:solidFill>
              <a:srgbClr val="DCD7E7"/>
            </a:solidFill>
            <a:prstDash val="solid"/>
          </a:ln>
        </p:spPr>
      </p:sp>
      <p:sp>
        <p:nvSpPr>
          <p:cNvPr id="7" name="">
            <a:extLst xmlns:a="http://schemas.openxmlformats.org/drawingml/2006/main">
              <a:ext uri="{FF2B5EF4-FFF2-40B4-BE49-F238E27FC236}">
                <a16:creationId xmlns:a16="http://schemas.microsoft.com/office/drawing/2014/main" id="{85338521-D86E-4925-895F-8E162ECF7738}"/>
              </a:ext>
            </a:extLst>
          </p:cNvPr>
          <p:cNvSpPr>
            <a:spLocks xmlns:a="http://schemas.openxmlformats.org/drawingml/2006/main" noGrp="1"/>
          </p:cNvSpPr>
          <p:nvPr/>
        </p:nvSpPr>
        <p:spPr>
          <a:xfrm xmlns:a="http://schemas.openxmlformats.org/drawingml/2006/main">
            <a:off x="838200" y="2495550"/>
            <a:ext cx="2590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6D35D5"/>
                </a:solidFill>
              </a:defRPr>
            </a:pPr>
            <a:r>
              <a:rPr sz="1425" b="1">
                <a:solidFill>
                  <a:srgbClr val="6D35D5"/>
                </a:solidFill>
              </a:rPr>
              <a:t>ON-PREMISE</a:t>
            </a:r>
          </a:p>
        </p:txBody>
      </p:sp>
      <p:sp>
        <p:nvSpPr>
          <p:cNvPr id="8" name="">
            <a:extLst xmlns:a="http://schemas.openxmlformats.org/drawingml/2006/main">
              <a:ext uri="{FF2B5EF4-FFF2-40B4-BE49-F238E27FC236}">
                <a16:creationId xmlns:a16="http://schemas.microsoft.com/office/drawing/2014/main" id="{612CE597-3072-4EEB-8645-B52F9E308EC3}"/>
              </a:ext>
            </a:extLst>
          </p:cNvPr>
          <p:cNvSpPr>
            <a:spLocks xmlns:a="http://schemas.openxmlformats.org/drawingml/2006/main" noGrp="1"/>
          </p:cNvSpPr>
          <p:nvPr/>
        </p:nvSpPr>
        <p:spPr>
          <a:xfrm xmlns:a="http://schemas.openxmlformats.org/drawingml/2006/main">
            <a:off x="838200" y="3000375"/>
            <a:ext cx="2590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212B"/>
                </a:solidFill>
              </a:defRPr>
            </a:pPr>
            <a:r>
              <a:rPr sz="1650" b="1">
                <a:solidFill>
                  <a:srgbClr val="17212B"/>
                </a:solidFill>
              </a:rPr>
              <a:t>Kurumun sunucusu / GPU’su</a:t>
            </a:r>
          </a:p>
        </p:txBody>
      </p:sp>
      <p:sp>
        <p:nvSpPr>
          <p:cNvPr id="9" name="">
            <a:extLst xmlns:a="http://schemas.openxmlformats.org/drawingml/2006/main">
              <a:ext uri="{FF2B5EF4-FFF2-40B4-BE49-F238E27FC236}">
                <a16:creationId xmlns:a16="http://schemas.microsoft.com/office/drawing/2014/main" id="{BCFBEC16-D150-4A07-9D8C-832D1682FE11}"/>
              </a:ext>
            </a:extLst>
          </p:cNvPr>
          <p:cNvSpPr>
            <a:spLocks xmlns:a="http://schemas.openxmlformats.org/drawingml/2006/main" noGrp="1"/>
          </p:cNvSpPr>
          <p:nvPr/>
        </p:nvSpPr>
        <p:spPr>
          <a:xfrm xmlns:a="http://schemas.openxmlformats.org/drawingml/2006/main">
            <a:off x="838200" y="371475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En yüksek kontrol</a:t>
            </a:r>
          </a:p>
          <a:p xmlns:a="http://schemas.openxmlformats.org/drawingml/2006/main">
            <a:pPr algn="l">
              <a:defRPr sz="1275" b="0">
                <a:solidFill>
                  <a:srgbClr val="687181"/>
                </a:solidFill>
              </a:defRPr>
            </a:pPr>
            <a:r>
              <a:rPr sz="1275" b="0">
                <a:solidFill>
                  <a:srgbClr val="687181"/>
                </a:solidFill>
              </a:rPr>
              <a:t>Daha yüksek yatırım ve işletim yükü</a:t>
            </a:r>
          </a:p>
        </p:txBody>
      </p:sp>
      <p:sp>
        <p:nvSpPr>
          <p:cNvPr id="10" name="">
            <a:extLst xmlns:a="http://schemas.openxmlformats.org/drawingml/2006/main">
              <a:ext uri="{FF2B5EF4-FFF2-40B4-BE49-F238E27FC236}">
                <a16:creationId xmlns:a16="http://schemas.microsoft.com/office/drawing/2014/main" id="{FA188C5E-D643-4779-A9B1-58AD2087BB42}"/>
              </a:ext>
            </a:extLst>
          </p:cNvPr>
          <p:cNvSpPr>
            <a:spLocks xmlns:a="http://schemas.openxmlformats.org/drawingml/2006/main" noGrp="1"/>
          </p:cNvSpPr>
          <p:nvPr/>
        </p:nvSpPr>
        <p:spPr>
          <a:xfrm xmlns:a="http://schemas.openxmlformats.org/drawingml/2006/main">
            <a:off x="4267200" y="2266950"/>
            <a:ext cx="3048000" cy="2495550"/>
          </a:xfrm>
          <a:prstGeom xmlns:a="http://schemas.openxmlformats.org/drawingml/2006/main" prst="roundRect">
            <a:avLst>
              <a:gd name="adj" fmla="val 6107"/>
            </a:avLst>
          </a:prstGeom>
          <a:solidFill xmlns:a="http://schemas.openxmlformats.org/drawingml/2006/main">
            <a:srgbClr val="EEE7FF"/>
          </a:solidFill>
          <a:ln xmlns:a="http://schemas.openxmlformats.org/drawingml/2006/main" w="9525">
            <a:solidFill>
              <a:srgbClr val="8C4FE8"/>
            </a:solidFill>
            <a:prstDash val="solid"/>
          </a:ln>
        </p:spPr>
      </p:sp>
      <p:sp>
        <p:nvSpPr>
          <p:cNvPr id="11" name="">
            <a:extLst xmlns:a="http://schemas.openxmlformats.org/drawingml/2006/main">
              <a:ext uri="{FF2B5EF4-FFF2-40B4-BE49-F238E27FC236}">
                <a16:creationId xmlns:a16="http://schemas.microsoft.com/office/drawing/2014/main" id="{5E941DF1-05B5-4CDB-A23F-8AED75F9ABC9}"/>
              </a:ext>
            </a:extLst>
          </p:cNvPr>
          <p:cNvSpPr>
            <a:spLocks xmlns:a="http://schemas.openxmlformats.org/drawingml/2006/main" noGrp="1"/>
          </p:cNvSpPr>
          <p:nvPr/>
        </p:nvSpPr>
        <p:spPr>
          <a:xfrm xmlns:a="http://schemas.openxmlformats.org/drawingml/2006/main">
            <a:off x="4495800" y="2495550"/>
            <a:ext cx="2590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6D35D5"/>
                </a:solidFill>
              </a:defRPr>
            </a:pPr>
            <a:r>
              <a:rPr sz="1425" b="1">
                <a:solidFill>
                  <a:srgbClr val="6D35D5"/>
                </a:solidFill>
              </a:rPr>
              <a:t>PRIVATE / LOCAL CLOUD</a:t>
            </a:r>
          </a:p>
        </p:txBody>
      </p:sp>
      <p:sp>
        <p:nvSpPr>
          <p:cNvPr id="12" name="">
            <a:extLst xmlns:a="http://schemas.openxmlformats.org/drawingml/2006/main">
              <a:ext uri="{FF2B5EF4-FFF2-40B4-BE49-F238E27FC236}">
                <a16:creationId xmlns:a16="http://schemas.microsoft.com/office/drawing/2014/main" id="{895D9E1F-F903-4087-B067-C72E45F57AA4}"/>
              </a:ext>
            </a:extLst>
          </p:cNvPr>
          <p:cNvSpPr>
            <a:spLocks xmlns:a="http://schemas.openxmlformats.org/drawingml/2006/main" noGrp="1"/>
          </p:cNvSpPr>
          <p:nvPr/>
        </p:nvSpPr>
        <p:spPr>
          <a:xfrm xmlns:a="http://schemas.openxmlformats.org/drawingml/2006/main">
            <a:off x="4495800" y="3000375"/>
            <a:ext cx="2590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212B"/>
                </a:solidFill>
              </a:defRPr>
            </a:pPr>
            <a:r>
              <a:rPr sz="1650" b="1">
                <a:solidFill>
                  <a:srgbClr val="17212B"/>
                </a:solidFill>
              </a:rPr>
              <a:t>Yerli veya özel bulut</a:t>
            </a:r>
          </a:p>
        </p:txBody>
      </p:sp>
      <p:sp>
        <p:nvSpPr>
          <p:cNvPr id="13" name="">
            <a:extLst xmlns:a="http://schemas.openxmlformats.org/drawingml/2006/main">
              <a:ext uri="{FF2B5EF4-FFF2-40B4-BE49-F238E27FC236}">
                <a16:creationId xmlns:a16="http://schemas.microsoft.com/office/drawing/2014/main" id="{6A2A9FAC-05DE-42A7-B095-9C6838151506}"/>
              </a:ext>
            </a:extLst>
          </p:cNvPr>
          <p:cNvSpPr>
            <a:spLocks xmlns:a="http://schemas.openxmlformats.org/drawingml/2006/main" noGrp="1"/>
          </p:cNvSpPr>
          <p:nvPr/>
        </p:nvSpPr>
        <p:spPr>
          <a:xfrm xmlns:a="http://schemas.openxmlformats.org/drawingml/2006/main">
            <a:off x="4495800" y="371475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Veri egemenliği</a:t>
            </a:r>
          </a:p>
          <a:p xmlns:a="http://schemas.openxmlformats.org/drawingml/2006/main">
            <a:pPr algn="l">
              <a:defRPr sz="1275" b="0">
                <a:solidFill>
                  <a:srgbClr val="687181"/>
                </a:solidFill>
              </a:defRPr>
            </a:pPr>
            <a:r>
              <a:rPr sz="1275" b="0">
                <a:solidFill>
                  <a:srgbClr val="687181"/>
                </a:solidFill>
              </a:rPr>
              <a:t>Esnek kapasite ve düşük gecikme</a:t>
            </a:r>
          </a:p>
        </p:txBody>
      </p:sp>
      <p:sp>
        <p:nvSpPr>
          <p:cNvPr id="14" name="">
            <a:extLst xmlns:a="http://schemas.openxmlformats.org/drawingml/2006/main">
              <a:ext uri="{FF2B5EF4-FFF2-40B4-BE49-F238E27FC236}">
                <a16:creationId xmlns:a16="http://schemas.microsoft.com/office/drawing/2014/main" id="{57115671-AC01-4133-9DC9-9F77F85B9472}"/>
              </a:ext>
            </a:extLst>
          </p:cNvPr>
          <p:cNvSpPr>
            <a:spLocks xmlns:a="http://schemas.openxmlformats.org/drawingml/2006/main" noGrp="1"/>
          </p:cNvSpPr>
          <p:nvPr/>
        </p:nvSpPr>
        <p:spPr>
          <a:xfrm xmlns:a="http://schemas.openxmlformats.org/drawingml/2006/main">
            <a:off x="7924800" y="2266950"/>
            <a:ext cx="3048000" cy="2495550"/>
          </a:xfrm>
          <a:prstGeom xmlns:a="http://schemas.openxmlformats.org/drawingml/2006/main" prst="roundRect">
            <a:avLst>
              <a:gd name="adj" fmla="val 6107"/>
            </a:avLst>
          </a:prstGeom>
          <a:solidFill xmlns:a="http://schemas.openxmlformats.org/drawingml/2006/main">
            <a:srgbClr val="F7F5FB"/>
          </a:solidFill>
          <a:ln xmlns:a="http://schemas.openxmlformats.org/drawingml/2006/main" w="9525">
            <a:solidFill>
              <a:srgbClr val="DCD7E7"/>
            </a:solidFill>
            <a:prstDash val="solid"/>
          </a:ln>
        </p:spPr>
      </p:sp>
      <p:sp>
        <p:nvSpPr>
          <p:cNvPr id="15" name="">
            <a:extLst xmlns:a="http://schemas.openxmlformats.org/drawingml/2006/main">
              <a:ext uri="{FF2B5EF4-FFF2-40B4-BE49-F238E27FC236}">
                <a16:creationId xmlns:a16="http://schemas.microsoft.com/office/drawing/2014/main" id="{21BECB94-0C62-4677-B99B-D034F1916C21}"/>
              </a:ext>
            </a:extLst>
          </p:cNvPr>
          <p:cNvSpPr>
            <a:spLocks xmlns:a="http://schemas.openxmlformats.org/drawingml/2006/main" noGrp="1"/>
          </p:cNvSpPr>
          <p:nvPr/>
        </p:nvSpPr>
        <p:spPr>
          <a:xfrm xmlns:a="http://schemas.openxmlformats.org/drawingml/2006/main">
            <a:off x="8153400" y="2495550"/>
            <a:ext cx="2590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6D35D5"/>
                </a:solidFill>
              </a:defRPr>
            </a:pPr>
            <a:r>
              <a:rPr sz="1425" b="1">
                <a:solidFill>
                  <a:srgbClr val="6D35D5"/>
                </a:solidFill>
              </a:rPr>
              <a:t>GLOBAL CLOUD</a:t>
            </a:r>
          </a:p>
        </p:txBody>
      </p:sp>
      <p:sp>
        <p:nvSpPr>
          <p:cNvPr id="16" name="">
            <a:extLst xmlns:a="http://schemas.openxmlformats.org/drawingml/2006/main">
              <a:ext uri="{FF2B5EF4-FFF2-40B4-BE49-F238E27FC236}">
                <a16:creationId xmlns:a16="http://schemas.microsoft.com/office/drawing/2014/main" id="{291C75F3-9948-4365-AC9B-86784A095E94}"/>
              </a:ext>
            </a:extLst>
          </p:cNvPr>
          <p:cNvSpPr>
            <a:spLocks xmlns:a="http://schemas.openxmlformats.org/drawingml/2006/main" noGrp="1"/>
          </p:cNvSpPr>
          <p:nvPr/>
        </p:nvSpPr>
        <p:spPr>
          <a:xfrm xmlns:a="http://schemas.openxmlformats.org/drawingml/2006/main">
            <a:off x="8153400" y="3000375"/>
            <a:ext cx="2590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212B"/>
                </a:solidFill>
              </a:defRPr>
            </a:pPr>
            <a:r>
              <a:rPr sz="1650" b="1">
                <a:solidFill>
                  <a:srgbClr val="17212B"/>
                </a:solidFill>
              </a:rPr>
              <a:t>GPUaaS / LLM servisi</a:t>
            </a:r>
          </a:p>
        </p:txBody>
      </p:sp>
      <p:sp>
        <p:nvSpPr>
          <p:cNvPr id="17" name="">
            <a:extLst xmlns:a="http://schemas.openxmlformats.org/drawingml/2006/main">
              <a:ext uri="{FF2B5EF4-FFF2-40B4-BE49-F238E27FC236}">
                <a16:creationId xmlns:a16="http://schemas.microsoft.com/office/drawing/2014/main" id="{0D438630-38D2-4E37-B928-8529BD41D7A2}"/>
              </a:ext>
            </a:extLst>
          </p:cNvPr>
          <p:cNvSpPr>
            <a:spLocks xmlns:a="http://schemas.openxmlformats.org/drawingml/2006/main" noGrp="1"/>
          </p:cNvSpPr>
          <p:nvPr/>
        </p:nvSpPr>
        <p:spPr>
          <a:xfrm xmlns:a="http://schemas.openxmlformats.org/drawingml/2006/main">
            <a:off x="8153400" y="371475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Hızlı başlangıç</a:t>
            </a:r>
          </a:p>
          <a:p xmlns:a="http://schemas.openxmlformats.org/drawingml/2006/main">
            <a:pPr algn="l">
              <a:defRPr sz="1275" b="0">
                <a:solidFill>
                  <a:srgbClr val="687181"/>
                </a:solidFill>
              </a:defRPr>
            </a:pPr>
            <a:r>
              <a:rPr sz="1275" b="0">
                <a:solidFill>
                  <a:srgbClr val="687181"/>
                </a:solidFill>
              </a:rPr>
              <a:t>Talebe göre ölçekleme</a:t>
            </a:r>
          </a:p>
        </p:txBody>
      </p:sp>
      <p:sp>
        <p:nvSpPr>
          <p:cNvPr id="18" name="">
            <a:extLst xmlns:a="http://schemas.openxmlformats.org/drawingml/2006/main">
              <a:ext uri="{FF2B5EF4-FFF2-40B4-BE49-F238E27FC236}">
                <a16:creationId xmlns:a16="http://schemas.microsoft.com/office/drawing/2014/main" id="{093FF196-DD99-4818-A0D9-4A90FE320E4D}"/>
              </a:ext>
            </a:extLst>
          </p:cNvPr>
          <p:cNvSpPr>
            <a:spLocks xmlns:a="http://schemas.openxmlformats.org/drawingml/2006/main" noGrp="1"/>
          </p:cNvSpPr>
          <p:nvPr/>
        </p:nvSpPr>
        <p:spPr>
          <a:xfrm xmlns:a="http://schemas.openxmlformats.org/drawingml/2006/main">
            <a:off x="1562100" y="5124450"/>
            <a:ext cx="9067800" cy="876300"/>
          </a:xfrm>
          <a:prstGeom xmlns:a="http://schemas.openxmlformats.org/drawingml/2006/main" prst="roundRect">
            <a:avLst>
              <a:gd name="adj" fmla="val 13043"/>
            </a:avLst>
          </a:prstGeom>
          <a:solidFill xmlns:a="http://schemas.openxmlformats.org/drawingml/2006/main">
            <a:srgbClr val="1005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D9841E9-EFB4-432C-ACBF-2135EF8A0DB4}"/>
              </a:ext>
            </a:extLst>
          </p:cNvPr>
          <p:cNvSpPr>
            <a:spLocks xmlns:a="http://schemas.openxmlformats.org/drawingml/2006/main" noGrp="1"/>
          </p:cNvSpPr>
          <p:nvPr/>
        </p:nvSpPr>
        <p:spPr>
          <a:xfrm xmlns:a="http://schemas.openxmlformats.org/drawingml/2006/main">
            <a:off x="1809750" y="5238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CDBBEF"/>
                </a:solidFill>
              </a:defRPr>
            </a:pPr>
            <a:r>
              <a:rPr sz="1050" b="1">
                <a:solidFill>
                  <a:srgbClr val="CDBBEF"/>
                </a:solidFill>
              </a:rPr>
              <a:t>Satış cümlesi</a:t>
            </a:r>
          </a:p>
        </p:txBody>
      </p:sp>
      <p:sp>
        <p:nvSpPr>
          <p:cNvPr id="20" name="">
            <a:extLst xmlns:a="http://schemas.openxmlformats.org/drawingml/2006/main">
              <a:ext uri="{FF2B5EF4-FFF2-40B4-BE49-F238E27FC236}">
                <a16:creationId xmlns:a16="http://schemas.microsoft.com/office/drawing/2014/main" id="{DC1A6679-ED76-4005-98DD-1355D947C0FB}"/>
              </a:ext>
            </a:extLst>
          </p:cNvPr>
          <p:cNvSpPr>
            <a:spLocks xmlns:a="http://schemas.openxmlformats.org/drawingml/2006/main" noGrp="1"/>
          </p:cNvSpPr>
          <p:nvPr/>
        </p:nvSpPr>
        <p:spPr>
          <a:xfrm xmlns:a="http://schemas.openxmlformats.org/drawingml/2006/main">
            <a:off x="1809750" y="5467350"/>
            <a:ext cx="847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“Kendi GPU’nuz varsa on-premise; yoksa GPUaaS, ilk yatırımı azaltan en hızlı ve esnek yoldur.”</a:t>
            </a:r>
          </a:p>
        </p:txBody>
      </p:sp>
      <p:sp>
        <p:nvSpPr>
          <p:cNvPr id="21" name="">
            <a:extLst xmlns:a="http://schemas.openxmlformats.org/drawingml/2006/main">
              <a:ext uri="{FF2B5EF4-FFF2-40B4-BE49-F238E27FC236}">
                <a16:creationId xmlns:a16="http://schemas.microsoft.com/office/drawing/2014/main" id="{ED371C63-6054-4D2C-85D9-299829CE11B8}"/>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87181"/>
                </a:solidFill>
              </a:defRPr>
            </a:pPr>
            <a:r>
              <a:rPr sz="750" b="0">
                <a:solidFill>
                  <a:srgbClr val="687181"/>
                </a:solidFill>
              </a:rPr>
              <a:t>Orbina: public cloud, private cloud veya on-premise dağıtım</a:t>
            </a:r>
          </a:p>
        </p:txBody>
      </p:sp>
      <p:sp>
        <p:nvSpPr>
          <p:cNvPr id="22" name="">
            <a:extLst xmlns:a="http://schemas.openxmlformats.org/drawingml/2006/main">
              <a:ext uri="{FF2B5EF4-FFF2-40B4-BE49-F238E27FC236}">
                <a16:creationId xmlns:a16="http://schemas.microsoft.com/office/drawing/2014/main" id="{51CB478E-54F7-4868-B2AE-95516A6EFA3C}"/>
              </a:ext>
            </a:extLst>
          </p:cNvPr>
          <p:cNvSpPr>
            <a:spLocks xmlns:a="http://schemas.openxmlformats.org/drawingml/2006/main" noGrp="1"/>
          </p:cNvSpPr>
          <p:nvPr/>
        </p:nvSpPr>
        <p:spPr>
          <a:xfrm xmlns:a="http://schemas.openxmlformats.org/drawingml/2006/main">
            <a:off x="10572750" y="6515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7212B"/>
                </a:solidFill>
              </a:defRPr>
            </a:pPr>
            <a:r>
              <a:rPr sz="900" b="1">
                <a:solidFill>
                  <a:srgbClr val="17212B"/>
                </a:solidFill>
              </a:rPr>
              <a:t>ORBINA</a:t>
            </a:r>
          </a:p>
        </p:txBody>
      </p:sp>
    </p:spTree>
    <p:extLst>
      <p:ext uri="{BB962C8B-B14F-4D97-AF65-F5344CB8AC3E}">
        <p14:creationId xmlns:p14="http://schemas.microsoft.com/office/powerpoint/2010/main" val="11336119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900EEC-A584-40B5-AD93-0CA741986650}"/>
              </a:ext>
            </a:extLst>
          </p:cNvPr>
          <p:cNvSpPr>
            <a:spLocks xmlns:a="http://schemas.openxmlformats.org/drawingml/2006/main" noGrp="1"/>
          </p:cNvSpPr>
          <p:nvPr/>
        </p:nvSpPr>
        <p:spPr>
          <a:xfrm xmlns:a="http://schemas.openxmlformats.org/drawingml/2006/main">
            <a:off x="609600" y="3619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35D5"/>
                </a:solidFill>
              </a:defRPr>
            </a:pPr>
            <a:r>
              <a:rPr sz="975" b="1">
                <a:solidFill>
                  <a:srgbClr val="6D35D5"/>
                </a:solidFill>
              </a:rPr>
              <a:t>INTERCOM / ZENDESK / ORBINA</a:t>
            </a:r>
          </a:p>
        </p:txBody>
      </p:sp>
      <p:sp>
        <p:nvSpPr>
          <p:cNvPr id="2" name="title-8">
            <a:extLst xmlns:a="http://schemas.openxmlformats.org/drawingml/2006/main">
              <a:ext uri="{FF2B5EF4-FFF2-40B4-BE49-F238E27FC236}">
                <a16:creationId xmlns:a16="http://schemas.microsoft.com/office/drawing/2014/main" id="{6CA5BEA6-5661-44EC-B80D-F5AD581200E7}"/>
              </a:ext>
            </a:extLst>
          </p:cNvPr>
          <p:cNvSpPr>
            <a:spLocks xmlns:a="http://schemas.openxmlformats.org/drawingml/2006/main" noGrp="1"/>
          </p:cNvSpPr>
          <p:nvPr/>
        </p:nvSpPr>
        <p:spPr>
          <a:xfrm xmlns:a="http://schemas.openxmlformats.org/drawingml/2006/main">
            <a:off x="609600" y="6667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7212B"/>
                </a:solidFill>
              </a:defRPr>
            </a:pPr>
            <a:r>
              <a:rPr sz="2700" b="1">
                <a:solidFill>
                  <a:srgbClr val="17212B"/>
                </a:solidFill>
              </a:rPr>
              <a:t>Rakipleri küçümsemeden, Orbina’nın seçim gerekçesini netleştirin.</a:t>
            </a:r>
          </a:p>
        </p:txBody>
      </p:sp>
      <p:sp>
        <p:nvSpPr>
          <p:cNvPr id="3" name="">
            <a:extLst xmlns:a="http://schemas.openxmlformats.org/drawingml/2006/main">
              <a:ext uri="{FF2B5EF4-FFF2-40B4-BE49-F238E27FC236}">
                <a16:creationId xmlns:a16="http://schemas.microsoft.com/office/drawing/2014/main" id="{09B5F7FE-A0DB-48E4-B79E-32BBDB80F694}"/>
              </a:ext>
            </a:extLst>
          </p:cNvPr>
          <p:cNvSpPr>
            <a:spLocks xmlns:a="http://schemas.openxmlformats.org/drawingml/2006/main" noGrp="1"/>
          </p:cNvSpPr>
          <p:nvPr/>
        </p:nvSpPr>
        <p:spPr>
          <a:xfrm xmlns:a="http://schemas.openxmlformats.org/drawingml/2006/main">
            <a:off x="11191875" y="419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1"/>
                </a:solidFill>
              </a:defRPr>
            </a:pPr>
            <a:r>
              <a:rPr sz="975" b="1">
                <a:solidFill>
                  <a:srgbClr val="687181"/>
                </a:solidFill>
              </a:rPr>
              <a:t>08</a:t>
            </a:r>
          </a:p>
        </p:txBody>
      </p:sp>
      <p:sp>
        <p:nvSpPr>
          <p:cNvPr id="4" name="">
            <a:extLst xmlns:a="http://schemas.openxmlformats.org/drawingml/2006/main">
              <a:ext uri="{FF2B5EF4-FFF2-40B4-BE49-F238E27FC236}">
                <a16:creationId xmlns:a16="http://schemas.microsoft.com/office/drawing/2014/main" id="{B334F501-0EC9-473F-A911-D3102020C646}"/>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EEE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1D2A104-B223-4F8A-A5BB-543C516B0F61}"/>
              </a:ext>
            </a:extLst>
          </p:cNvPr>
          <p:cNvSpPr>
            <a:spLocks xmlns:a="http://schemas.openxmlformats.org/drawingml/2006/main" noGrp="1"/>
          </p:cNvSpPr>
          <p:nvPr/>
        </p:nvSpPr>
        <p:spPr>
          <a:xfrm xmlns:a="http://schemas.openxmlformats.org/drawingml/2006/main">
            <a:off x="609600" y="1619250"/>
            <a:ext cx="10972800" cy="666750"/>
          </a:xfrm>
          <a:prstGeom xmlns:a="http://schemas.openxmlformats.org/drawingml/2006/main" prst="roundRect">
            <a:avLst>
              <a:gd name="adj" fmla="val 17143"/>
            </a:avLst>
          </a:prstGeom>
          <a:solidFill xmlns:a="http://schemas.openxmlformats.org/drawingml/2006/main">
            <a:srgbClr val="FFF1D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21357-09AA-4D03-A8FD-F67C262E5B21}"/>
              </a:ext>
            </a:extLst>
          </p:cNvPr>
          <p:cNvSpPr>
            <a:spLocks xmlns:a="http://schemas.openxmlformats.org/drawingml/2006/main" noGrp="1"/>
          </p:cNvSpPr>
          <p:nvPr/>
        </p:nvSpPr>
        <p:spPr>
          <a:xfrm xmlns:a="http://schemas.openxmlformats.org/drawingml/2006/main">
            <a:off x="857250" y="1752600"/>
            <a:ext cx="1045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A86600"/>
                </a:solidFill>
              </a:defRPr>
            </a:pPr>
            <a:r>
              <a:rPr sz="1350" b="1">
                <a:solidFill>
                  <a:srgbClr val="A86600"/>
                </a:solidFill>
              </a:rPr>
              <a:t>Haziran 2026 itibarıyla Intercom ve Zendesk de API aksiyonları ve çok adımlı AI süreçleri sunuyor.</a:t>
            </a:r>
          </a:p>
        </p:txBody>
      </p:sp>
      <p:sp>
        <p:nvSpPr>
          <p:cNvPr id="7" name="">
            <a:extLst xmlns:a="http://schemas.openxmlformats.org/drawingml/2006/main">
              <a:ext uri="{FF2B5EF4-FFF2-40B4-BE49-F238E27FC236}">
                <a16:creationId xmlns:a16="http://schemas.microsoft.com/office/drawing/2014/main" id="{5E8E2B4E-68D3-4576-B3D0-DC2F1030D52D}"/>
              </a:ext>
            </a:extLst>
          </p:cNvPr>
          <p:cNvSpPr>
            <a:spLocks xmlns:a="http://schemas.openxmlformats.org/drawingml/2006/main" noGrp="1"/>
          </p:cNvSpPr>
          <p:nvPr/>
        </p:nvSpPr>
        <p:spPr>
          <a:xfrm xmlns:a="http://schemas.openxmlformats.org/drawingml/2006/main">
            <a:off x="609600" y="2533650"/>
            <a:ext cx="2343150" cy="514350"/>
          </a:xfrm>
          <a:prstGeom xmlns:a="http://schemas.openxmlformats.org/drawingml/2006/main" prst="rect">
            <a:avLst/>
          </a:prstGeom>
          <a:solidFill xmlns:a="http://schemas.openxmlformats.org/drawingml/2006/main">
            <a:srgbClr val="1005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EBD3AD2-0D71-4AD2-ACD2-4B3D0C4C1F1D}"/>
              </a:ext>
            </a:extLst>
          </p:cNvPr>
          <p:cNvSpPr>
            <a:spLocks xmlns:a="http://schemas.openxmlformats.org/drawingml/2006/main" noGrp="1"/>
          </p:cNvSpPr>
          <p:nvPr/>
        </p:nvSpPr>
        <p:spPr>
          <a:xfrm xmlns:a="http://schemas.openxmlformats.org/drawingml/2006/main">
            <a:off x="723900" y="26289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KARŞILAŞTIRMA</a:t>
            </a:r>
          </a:p>
        </p:txBody>
      </p:sp>
      <p:sp>
        <p:nvSpPr>
          <p:cNvPr id="9" name="">
            <a:extLst xmlns:a="http://schemas.openxmlformats.org/drawingml/2006/main">
              <a:ext uri="{FF2B5EF4-FFF2-40B4-BE49-F238E27FC236}">
                <a16:creationId xmlns:a16="http://schemas.microsoft.com/office/drawing/2014/main" id="{5EFE8281-38A3-4240-83EE-052578B4509F}"/>
              </a:ext>
            </a:extLst>
          </p:cNvPr>
          <p:cNvSpPr>
            <a:spLocks xmlns:a="http://schemas.openxmlformats.org/drawingml/2006/main" noGrp="1"/>
          </p:cNvSpPr>
          <p:nvPr/>
        </p:nvSpPr>
        <p:spPr>
          <a:xfrm xmlns:a="http://schemas.openxmlformats.org/drawingml/2006/main">
            <a:off x="2952750" y="2533650"/>
            <a:ext cx="2876550" cy="514350"/>
          </a:xfrm>
          <a:prstGeom xmlns:a="http://schemas.openxmlformats.org/drawingml/2006/main" prst="rect">
            <a:avLst/>
          </a:prstGeom>
          <a:solidFill xmlns:a="http://schemas.openxmlformats.org/drawingml/2006/main">
            <a:srgbClr val="10051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D7AECE0-1AB5-4877-9399-C060E474FCFE}"/>
              </a:ext>
            </a:extLst>
          </p:cNvPr>
          <p:cNvSpPr>
            <a:spLocks xmlns:a="http://schemas.openxmlformats.org/drawingml/2006/main" noGrp="1"/>
          </p:cNvSpPr>
          <p:nvPr/>
        </p:nvSpPr>
        <p:spPr>
          <a:xfrm xmlns:a="http://schemas.openxmlformats.org/drawingml/2006/main">
            <a:off x="3067050" y="26289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INTERCOM FIN</a:t>
            </a:r>
          </a:p>
        </p:txBody>
      </p:sp>
      <p:sp>
        <p:nvSpPr>
          <p:cNvPr id="11" name="">
            <a:extLst xmlns:a="http://schemas.openxmlformats.org/drawingml/2006/main">
              <a:ext uri="{FF2B5EF4-FFF2-40B4-BE49-F238E27FC236}">
                <a16:creationId xmlns:a16="http://schemas.microsoft.com/office/drawing/2014/main" id="{3E3637D0-8333-401B-A582-C951395A36F0}"/>
              </a:ext>
            </a:extLst>
          </p:cNvPr>
          <p:cNvSpPr>
            <a:spLocks xmlns:a="http://schemas.openxmlformats.org/drawingml/2006/main" noGrp="1"/>
          </p:cNvSpPr>
          <p:nvPr/>
        </p:nvSpPr>
        <p:spPr>
          <a:xfrm xmlns:a="http://schemas.openxmlformats.org/drawingml/2006/main">
            <a:off x="5829300" y="2533650"/>
            <a:ext cx="2876550" cy="514350"/>
          </a:xfrm>
          <a:prstGeom xmlns:a="http://schemas.openxmlformats.org/drawingml/2006/main" prst="rect">
            <a:avLst/>
          </a:prstGeom>
          <a:solidFill xmlns:a="http://schemas.openxmlformats.org/drawingml/2006/main">
            <a:srgbClr val="10051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4FB7FC3-8301-43DD-A768-32F84D77D4F0}"/>
              </a:ext>
            </a:extLst>
          </p:cNvPr>
          <p:cNvSpPr>
            <a:spLocks xmlns:a="http://schemas.openxmlformats.org/drawingml/2006/main" noGrp="1"/>
          </p:cNvSpPr>
          <p:nvPr/>
        </p:nvSpPr>
        <p:spPr>
          <a:xfrm xmlns:a="http://schemas.openxmlformats.org/drawingml/2006/main">
            <a:off x="5943600" y="26289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ZENDESK AI</a:t>
            </a:r>
          </a:p>
        </p:txBody>
      </p:sp>
      <p:sp>
        <p:nvSpPr>
          <p:cNvPr id="13" name="">
            <a:extLst xmlns:a="http://schemas.openxmlformats.org/drawingml/2006/main">
              <a:ext uri="{FF2B5EF4-FFF2-40B4-BE49-F238E27FC236}">
                <a16:creationId xmlns:a16="http://schemas.microsoft.com/office/drawing/2014/main" id="{CEAFE3FB-9D01-4DCC-A90A-EDE8D0454B9C}"/>
              </a:ext>
            </a:extLst>
          </p:cNvPr>
          <p:cNvSpPr>
            <a:spLocks xmlns:a="http://schemas.openxmlformats.org/drawingml/2006/main" noGrp="1"/>
          </p:cNvSpPr>
          <p:nvPr/>
        </p:nvSpPr>
        <p:spPr>
          <a:xfrm xmlns:a="http://schemas.openxmlformats.org/drawingml/2006/main">
            <a:off x="8705850" y="2533650"/>
            <a:ext cx="2876550" cy="514350"/>
          </a:xfrm>
          <a:prstGeom xmlns:a="http://schemas.openxmlformats.org/drawingml/2006/main" prst="rect">
            <a:avLst/>
          </a:prstGeom>
          <a:solidFill xmlns:a="http://schemas.openxmlformats.org/drawingml/2006/main">
            <a:srgbClr val="6D35D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62AE683-D991-45F5-828B-A18F0259E04F}"/>
              </a:ext>
            </a:extLst>
          </p:cNvPr>
          <p:cNvSpPr>
            <a:spLocks xmlns:a="http://schemas.openxmlformats.org/drawingml/2006/main" noGrp="1"/>
          </p:cNvSpPr>
          <p:nvPr/>
        </p:nvSpPr>
        <p:spPr>
          <a:xfrm xmlns:a="http://schemas.openxmlformats.org/drawingml/2006/main">
            <a:off x="8820150" y="26289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ORBINA</a:t>
            </a:r>
          </a:p>
        </p:txBody>
      </p:sp>
      <p:sp>
        <p:nvSpPr>
          <p:cNvPr id="15" name="">
            <a:extLst xmlns:a="http://schemas.openxmlformats.org/drawingml/2006/main">
              <a:ext uri="{FF2B5EF4-FFF2-40B4-BE49-F238E27FC236}">
                <a16:creationId xmlns:a16="http://schemas.microsoft.com/office/drawing/2014/main" id="{B1FF7961-619C-49FC-BA78-939BF7B36253}"/>
              </a:ext>
            </a:extLst>
          </p:cNvPr>
          <p:cNvSpPr>
            <a:spLocks xmlns:a="http://schemas.openxmlformats.org/drawingml/2006/main" noGrp="1"/>
          </p:cNvSpPr>
          <p:nvPr/>
        </p:nvSpPr>
        <p:spPr>
          <a:xfrm xmlns:a="http://schemas.openxmlformats.org/drawingml/2006/main">
            <a:off x="609600" y="3048000"/>
            <a:ext cx="2343150" cy="685800"/>
          </a:xfrm>
          <a:prstGeom xmlns:a="http://schemas.openxmlformats.org/drawingml/2006/main" prst="rect">
            <a:avLst/>
          </a:prstGeom>
          <a:solidFill xmlns:a="http://schemas.openxmlformats.org/drawingml/2006/main">
            <a:srgbClr val="F7F5FB"/>
          </a:solidFill>
          <a:ln xmlns:a="http://schemas.openxmlformats.org/drawingml/2006/main" w="9525">
            <a:solidFill>
              <a:srgbClr val="DCD7E7"/>
            </a:solidFill>
            <a:prstDash val="solid"/>
          </a:ln>
        </p:spPr>
      </p:sp>
      <p:sp>
        <p:nvSpPr>
          <p:cNvPr id="16" name="">
            <a:extLst xmlns:a="http://schemas.openxmlformats.org/drawingml/2006/main">
              <a:ext uri="{FF2B5EF4-FFF2-40B4-BE49-F238E27FC236}">
                <a16:creationId xmlns:a16="http://schemas.microsoft.com/office/drawing/2014/main" id="{1D4AA17B-0C4C-4515-86C9-CAAB0529C880}"/>
              </a:ext>
            </a:extLst>
          </p:cNvPr>
          <p:cNvSpPr>
            <a:spLocks xmlns:a="http://schemas.openxmlformats.org/drawingml/2006/main" noGrp="1"/>
          </p:cNvSpPr>
          <p:nvPr/>
        </p:nvSpPr>
        <p:spPr>
          <a:xfrm xmlns:a="http://schemas.openxmlformats.org/drawingml/2006/main">
            <a:off x="723900" y="3114675"/>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2B"/>
                </a:solidFill>
              </a:defRPr>
            </a:pPr>
            <a:r>
              <a:rPr sz="1200" b="1">
                <a:solidFill>
                  <a:srgbClr val="17212B"/>
                </a:solidFill>
              </a:rPr>
              <a:t>Ana merkez</a:t>
            </a:r>
          </a:p>
        </p:txBody>
      </p:sp>
      <p:sp>
        <p:nvSpPr>
          <p:cNvPr id="17" name="">
            <a:extLst xmlns:a="http://schemas.openxmlformats.org/drawingml/2006/main">
              <a:ext uri="{FF2B5EF4-FFF2-40B4-BE49-F238E27FC236}">
                <a16:creationId xmlns:a16="http://schemas.microsoft.com/office/drawing/2014/main" id="{0E8D4E9C-603E-4B7C-905B-FF0702759C44}"/>
              </a:ext>
            </a:extLst>
          </p:cNvPr>
          <p:cNvSpPr>
            <a:spLocks xmlns:a="http://schemas.openxmlformats.org/drawingml/2006/main" noGrp="1"/>
          </p:cNvSpPr>
          <p:nvPr/>
        </p:nvSpPr>
        <p:spPr>
          <a:xfrm xmlns:a="http://schemas.openxmlformats.org/drawingml/2006/main">
            <a:off x="2952750" y="3048000"/>
            <a:ext cx="2876550" cy="685800"/>
          </a:xfrm>
          <a:prstGeom xmlns:a="http://schemas.openxmlformats.org/drawingml/2006/main" prst="rect">
            <a:avLst/>
          </a:prstGeom>
          <a:solidFill xmlns:a="http://schemas.openxmlformats.org/drawingml/2006/main">
            <a:srgbClr val="F7F5FB"/>
          </a:solidFill>
          <a:ln xmlns:a="http://schemas.openxmlformats.org/drawingml/2006/main" w="9525">
            <a:solidFill>
              <a:srgbClr val="DCD7E7"/>
            </a:solidFill>
            <a:prstDash val="solid"/>
          </a:ln>
        </p:spPr>
      </p:sp>
      <p:sp>
        <p:nvSpPr>
          <p:cNvPr id="18" name="">
            <a:extLst xmlns:a="http://schemas.openxmlformats.org/drawingml/2006/main">
              <a:ext uri="{FF2B5EF4-FFF2-40B4-BE49-F238E27FC236}">
                <a16:creationId xmlns:a16="http://schemas.microsoft.com/office/drawing/2014/main" id="{B59D7145-B32F-4884-8430-8255AFDE07D3}"/>
              </a:ext>
            </a:extLst>
          </p:cNvPr>
          <p:cNvSpPr>
            <a:spLocks xmlns:a="http://schemas.openxmlformats.org/drawingml/2006/main" noGrp="1"/>
          </p:cNvSpPr>
          <p:nvPr/>
        </p:nvSpPr>
        <p:spPr>
          <a:xfrm xmlns:a="http://schemas.openxmlformats.org/drawingml/2006/main">
            <a:off x="3067050" y="31146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87181"/>
                </a:solidFill>
              </a:defRPr>
            </a:pPr>
            <a:r>
              <a:rPr sz="1200" b="0">
                <a:solidFill>
                  <a:srgbClr val="687181"/>
                </a:solidFill>
              </a:rPr>
              <a:t>Helpdesk / CX ürünü</a:t>
            </a:r>
          </a:p>
        </p:txBody>
      </p:sp>
      <p:sp>
        <p:nvSpPr>
          <p:cNvPr id="19" name="">
            <a:extLst xmlns:a="http://schemas.openxmlformats.org/drawingml/2006/main">
              <a:ext uri="{FF2B5EF4-FFF2-40B4-BE49-F238E27FC236}">
                <a16:creationId xmlns:a16="http://schemas.microsoft.com/office/drawing/2014/main" id="{C81CDA15-1184-49CF-8532-94B5957F59AE}"/>
              </a:ext>
            </a:extLst>
          </p:cNvPr>
          <p:cNvSpPr>
            <a:spLocks xmlns:a="http://schemas.openxmlformats.org/drawingml/2006/main" noGrp="1"/>
          </p:cNvSpPr>
          <p:nvPr/>
        </p:nvSpPr>
        <p:spPr>
          <a:xfrm xmlns:a="http://schemas.openxmlformats.org/drawingml/2006/main">
            <a:off x="5829300" y="3048000"/>
            <a:ext cx="2876550" cy="685800"/>
          </a:xfrm>
          <a:prstGeom xmlns:a="http://schemas.openxmlformats.org/drawingml/2006/main" prst="rect">
            <a:avLst/>
          </a:prstGeom>
          <a:solidFill xmlns:a="http://schemas.openxmlformats.org/drawingml/2006/main">
            <a:srgbClr val="F7F5FB"/>
          </a:solidFill>
          <a:ln xmlns:a="http://schemas.openxmlformats.org/drawingml/2006/main" w="9525">
            <a:solidFill>
              <a:srgbClr val="DCD7E7"/>
            </a:solidFill>
            <a:prstDash val="solid"/>
          </a:ln>
        </p:spPr>
      </p:sp>
      <p:sp>
        <p:nvSpPr>
          <p:cNvPr id="20" name="">
            <a:extLst xmlns:a="http://schemas.openxmlformats.org/drawingml/2006/main">
              <a:ext uri="{FF2B5EF4-FFF2-40B4-BE49-F238E27FC236}">
                <a16:creationId xmlns:a16="http://schemas.microsoft.com/office/drawing/2014/main" id="{FFB2869E-C605-4D74-ABBC-B253FA7AF6FA}"/>
              </a:ext>
            </a:extLst>
          </p:cNvPr>
          <p:cNvSpPr>
            <a:spLocks xmlns:a="http://schemas.openxmlformats.org/drawingml/2006/main" noGrp="1"/>
          </p:cNvSpPr>
          <p:nvPr/>
        </p:nvSpPr>
        <p:spPr>
          <a:xfrm xmlns:a="http://schemas.openxmlformats.org/drawingml/2006/main">
            <a:off x="5943600" y="31146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87181"/>
                </a:solidFill>
              </a:defRPr>
            </a:pPr>
            <a:r>
              <a:rPr sz="1200" b="0">
                <a:solidFill>
                  <a:srgbClr val="687181"/>
                </a:solidFill>
              </a:rPr>
              <a:t>Service &amp; ticketing platformu</a:t>
            </a:r>
          </a:p>
        </p:txBody>
      </p:sp>
      <p:sp>
        <p:nvSpPr>
          <p:cNvPr id="21" name="">
            <a:extLst xmlns:a="http://schemas.openxmlformats.org/drawingml/2006/main">
              <a:ext uri="{FF2B5EF4-FFF2-40B4-BE49-F238E27FC236}">
                <a16:creationId xmlns:a16="http://schemas.microsoft.com/office/drawing/2014/main" id="{4F43F6F9-7AB2-4686-9748-D5D4C1DD4DE6}"/>
              </a:ext>
            </a:extLst>
          </p:cNvPr>
          <p:cNvSpPr>
            <a:spLocks xmlns:a="http://schemas.openxmlformats.org/drawingml/2006/main" noGrp="1"/>
          </p:cNvSpPr>
          <p:nvPr/>
        </p:nvSpPr>
        <p:spPr>
          <a:xfrm xmlns:a="http://schemas.openxmlformats.org/drawingml/2006/main">
            <a:off x="8705850" y="3048000"/>
            <a:ext cx="2876550" cy="685800"/>
          </a:xfrm>
          <a:prstGeom xmlns:a="http://schemas.openxmlformats.org/drawingml/2006/main" prst="rect">
            <a:avLst/>
          </a:prstGeom>
          <a:solidFill xmlns:a="http://schemas.openxmlformats.org/drawingml/2006/main">
            <a:srgbClr val="EEE7FF"/>
          </a:solidFill>
          <a:ln xmlns:a="http://schemas.openxmlformats.org/drawingml/2006/main" w="9525">
            <a:solidFill>
              <a:srgbClr val="DCD7E7"/>
            </a:solidFill>
            <a:prstDash val="solid"/>
          </a:ln>
        </p:spPr>
      </p:sp>
      <p:sp>
        <p:nvSpPr>
          <p:cNvPr id="22" name="">
            <a:extLst xmlns:a="http://schemas.openxmlformats.org/drawingml/2006/main">
              <a:ext uri="{FF2B5EF4-FFF2-40B4-BE49-F238E27FC236}">
                <a16:creationId xmlns:a16="http://schemas.microsoft.com/office/drawing/2014/main" id="{1DCA3191-AE6E-4E61-B1A6-4F97F9A5A89E}"/>
              </a:ext>
            </a:extLst>
          </p:cNvPr>
          <p:cNvSpPr>
            <a:spLocks xmlns:a="http://schemas.openxmlformats.org/drawingml/2006/main" noGrp="1"/>
          </p:cNvSpPr>
          <p:nvPr/>
        </p:nvSpPr>
        <p:spPr>
          <a:xfrm xmlns:a="http://schemas.openxmlformats.org/drawingml/2006/main">
            <a:off x="8820150" y="31146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181"/>
                </a:solidFill>
              </a:defRPr>
            </a:pPr>
            <a:r>
              <a:rPr sz="1200" b="1">
                <a:solidFill>
                  <a:srgbClr val="687181"/>
                </a:solidFill>
              </a:rPr>
              <a:t>AI orkestrasyon katmanı</a:t>
            </a:r>
          </a:p>
        </p:txBody>
      </p:sp>
      <p:sp>
        <p:nvSpPr>
          <p:cNvPr id="23" name="">
            <a:extLst xmlns:a="http://schemas.openxmlformats.org/drawingml/2006/main">
              <a:ext uri="{FF2B5EF4-FFF2-40B4-BE49-F238E27FC236}">
                <a16:creationId xmlns:a16="http://schemas.microsoft.com/office/drawing/2014/main" id="{AD1FBA6B-0F76-4558-8FEF-CBCA256BE4FA}"/>
              </a:ext>
            </a:extLst>
          </p:cNvPr>
          <p:cNvSpPr>
            <a:spLocks xmlns:a="http://schemas.openxmlformats.org/drawingml/2006/main" noGrp="1"/>
          </p:cNvSpPr>
          <p:nvPr/>
        </p:nvSpPr>
        <p:spPr>
          <a:xfrm xmlns:a="http://schemas.openxmlformats.org/drawingml/2006/main">
            <a:off x="609600" y="3733800"/>
            <a:ext cx="23431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CD7E7"/>
            </a:solidFill>
            <a:prstDash val="solid"/>
          </a:ln>
        </p:spPr>
      </p:sp>
      <p:sp>
        <p:nvSpPr>
          <p:cNvPr id="24" name="">
            <a:extLst xmlns:a="http://schemas.openxmlformats.org/drawingml/2006/main">
              <a:ext uri="{FF2B5EF4-FFF2-40B4-BE49-F238E27FC236}">
                <a16:creationId xmlns:a16="http://schemas.microsoft.com/office/drawing/2014/main" id="{3286FD79-8B8A-4E53-BC0B-7EB6B50028CA}"/>
              </a:ext>
            </a:extLst>
          </p:cNvPr>
          <p:cNvSpPr>
            <a:spLocks xmlns:a="http://schemas.openxmlformats.org/drawingml/2006/main" noGrp="1"/>
          </p:cNvSpPr>
          <p:nvPr/>
        </p:nvSpPr>
        <p:spPr>
          <a:xfrm xmlns:a="http://schemas.openxmlformats.org/drawingml/2006/main">
            <a:off x="723900" y="3800475"/>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2B"/>
                </a:solidFill>
              </a:defRPr>
            </a:pPr>
            <a:r>
              <a:rPr sz="1200" b="1">
                <a:solidFill>
                  <a:srgbClr val="17212B"/>
                </a:solidFill>
              </a:rPr>
              <a:t>Aksiyon</a:t>
            </a:r>
          </a:p>
        </p:txBody>
      </p:sp>
      <p:sp>
        <p:nvSpPr>
          <p:cNvPr id="25" name="">
            <a:extLst xmlns:a="http://schemas.openxmlformats.org/drawingml/2006/main">
              <a:ext uri="{FF2B5EF4-FFF2-40B4-BE49-F238E27FC236}">
                <a16:creationId xmlns:a16="http://schemas.microsoft.com/office/drawing/2014/main" id="{58E41394-A381-405B-81BC-80529D354E17}"/>
              </a:ext>
            </a:extLst>
          </p:cNvPr>
          <p:cNvSpPr>
            <a:spLocks xmlns:a="http://schemas.openxmlformats.org/drawingml/2006/main" noGrp="1"/>
          </p:cNvSpPr>
          <p:nvPr/>
        </p:nvSpPr>
        <p:spPr>
          <a:xfrm xmlns:a="http://schemas.openxmlformats.org/drawingml/2006/main">
            <a:off x="2952750" y="3733800"/>
            <a:ext cx="28765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CD7E7"/>
            </a:solidFill>
            <a:prstDash val="solid"/>
          </a:ln>
        </p:spPr>
      </p:sp>
      <p:sp>
        <p:nvSpPr>
          <p:cNvPr id="26" name="">
            <a:extLst xmlns:a="http://schemas.openxmlformats.org/drawingml/2006/main">
              <a:ext uri="{FF2B5EF4-FFF2-40B4-BE49-F238E27FC236}">
                <a16:creationId xmlns:a16="http://schemas.microsoft.com/office/drawing/2014/main" id="{F0DAD1B3-38DF-45D3-BF42-09092243CF1B}"/>
              </a:ext>
            </a:extLst>
          </p:cNvPr>
          <p:cNvSpPr>
            <a:spLocks xmlns:a="http://schemas.openxmlformats.org/drawingml/2006/main" noGrp="1"/>
          </p:cNvSpPr>
          <p:nvPr/>
        </p:nvSpPr>
        <p:spPr>
          <a:xfrm xmlns:a="http://schemas.openxmlformats.org/drawingml/2006/main">
            <a:off x="3067050" y="38004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87181"/>
                </a:solidFill>
              </a:defRPr>
            </a:pPr>
            <a:r>
              <a:rPr sz="1200" b="0">
                <a:solidFill>
                  <a:srgbClr val="687181"/>
                </a:solidFill>
              </a:rPr>
              <a:t>API, MCP ve procedures</a:t>
            </a:r>
          </a:p>
        </p:txBody>
      </p:sp>
      <p:sp>
        <p:nvSpPr>
          <p:cNvPr id="27" name="">
            <a:extLst xmlns:a="http://schemas.openxmlformats.org/drawingml/2006/main">
              <a:ext uri="{FF2B5EF4-FFF2-40B4-BE49-F238E27FC236}">
                <a16:creationId xmlns:a16="http://schemas.microsoft.com/office/drawing/2014/main" id="{9A234794-0950-49D5-BAEB-5403707A132E}"/>
              </a:ext>
            </a:extLst>
          </p:cNvPr>
          <p:cNvSpPr>
            <a:spLocks xmlns:a="http://schemas.openxmlformats.org/drawingml/2006/main" noGrp="1"/>
          </p:cNvSpPr>
          <p:nvPr/>
        </p:nvSpPr>
        <p:spPr>
          <a:xfrm xmlns:a="http://schemas.openxmlformats.org/drawingml/2006/main">
            <a:off x="5829300" y="3733800"/>
            <a:ext cx="28765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CD7E7"/>
            </a:solidFill>
            <a:prstDash val="solid"/>
          </a:ln>
        </p:spPr>
      </p:sp>
      <p:sp>
        <p:nvSpPr>
          <p:cNvPr id="28" name="">
            <a:extLst xmlns:a="http://schemas.openxmlformats.org/drawingml/2006/main">
              <a:ext uri="{FF2B5EF4-FFF2-40B4-BE49-F238E27FC236}">
                <a16:creationId xmlns:a16="http://schemas.microsoft.com/office/drawing/2014/main" id="{57C5288E-7510-4221-9946-BBD9FDB58740}"/>
              </a:ext>
            </a:extLst>
          </p:cNvPr>
          <p:cNvSpPr>
            <a:spLocks xmlns:a="http://schemas.openxmlformats.org/drawingml/2006/main" noGrp="1"/>
          </p:cNvSpPr>
          <p:nvPr/>
        </p:nvSpPr>
        <p:spPr>
          <a:xfrm xmlns:a="http://schemas.openxmlformats.org/drawingml/2006/main">
            <a:off x="5943600" y="38004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87181"/>
                </a:solidFill>
              </a:defRPr>
            </a:pPr>
            <a:r>
              <a:rPr sz="1200" b="0">
                <a:solidFill>
                  <a:srgbClr val="687181"/>
                </a:solidFill>
              </a:rPr>
              <a:t>Sistemler arası agent actions</a:t>
            </a:r>
          </a:p>
        </p:txBody>
      </p:sp>
      <p:sp>
        <p:nvSpPr>
          <p:cNvPr id="29" name="">
            <a:extLst xmlns:a="http://schemas.openxmlformats.org/drawingml/2006/main">
              <a:ext uri="{FF2B5EF4-FFF2-40B4-BE49-F238E27FC236}">
                <a16:creationId xmlns:a16="http://schemas.microsoft.com/office/drawing/2014/main" id="{9223E7B2-E8FF-499B-963A-C70C6B236E64}"/>
              </a:ext>
            </a:extLst>
          </p:cNvPr>
          <p:cNvSpPr>
            <a:spLocks xmlns:a="http://schemas.openxmlformats.org/drawingml/2006/main" noGrp="1"/>
          </p:cNvSpPr>
          <p:nvPr/>
        </p:nvSpPr>
        <p:spPr>
          <a:xfrm xmlns:a="http://schemas.openxmlformats.org/drawingml/2006/main">
            <a:off x="8705850" y="3733800"/>
            <a:ext cx="2876550" cy="685800"/>
          </a:xfrm>
          <a:prstGeom xmlns:a="http://schemas.openxmlformats.org/drawingml/2006/main" prst="rect">
            <a:avLst/>
          </a:prstGeom>
          <a:solidFill xmlns:a="http://schemas.openxmlformats.org/drawingml/2006/main">
            <a:srgbClr val="EEE7FF"/>
          </a:solidFill>
          <a:ln xmlns:a="http://schemas.openxmlformats.org/drawingml/2006/main" w="9525">
            <a:solidFill>
              <a:srgbClr val="DCD7E7"/>
            </a:solidFill>
            <a:prstDash val="solid"/>
          </a:ln>
        </p:spPr>
      </p:sp>
      <p:sp>
        <p:nvSpPr>
          <p:cNvPr id="30" name="">
            <a:extLst xmlns:a="http://schemas.openxmlformats.org/drawingml/2006/main">
              <a:ext uri="{FF2B5EF4-FFF2-40B4-BE49-F238E27FC236}">
                <a16:creationId xmlns:a16="http://schemas.microsoft.com/office/drawing/2014/main" id="{875CF92F-8AD8-4578-95A3-D3E041C2EEEB}"/>
              </a:ext>
            </a:extLst>
          </p:cNvPr>
          <p:cNvSpPr>
            <a:spLocks xmlns:a="http://schemas.openxmlformats.org/drawingml/2006/main" noGrp="1"/>
          </p:cNvSpPr>
          <p:nvPr/>
        </p:nvSpPr>
        <p:spPr>
          <a:xfrm xmlns:a="http://schemas.openxmlformats.org/drawingml/2006/main">
            <a:off x="8820150" y="38004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181"/>
                </a:solidFill>
              </a:defRPr>
            </a:pPr>
            <a:r>
              <a:rPr sz="1200" b="1">
                <a:solidFill>
                  <a:srgbClr val="687181"/>
                </a:solidFill>
              </a:rPr>
              <a:t>Çoklu uzman ajan + business logic</a:t>
            </a:r>
          </a:p>
        </p:txBody>
      </p:sp>
      <p:sp>
        <p:nvSpPr>
          <p:cNvPr id="31" name="">
            <a:extLst xmlns:a="http://schemas.openxmlformats.org/drawingml/2006/main">
              <a:ext uri="{FF2B5EF4-FFF2-40B4-BE49-F238E27FC236}">
                <a16:creationId xmlns:a16="http://schemas.microsoft.com/office/drawing/2014/main" id="{D46439F1-393C-4BF5-8332-BE4AC2E6EC7E}"/>
              </a:ext>
            </a:extLst>
          </p:cNvPr>
          <p:cNvSpPr>
            <a:spLocks xmlns:a="http://schemas.openxmlformats.org/drawingml/2006/main" noGrp="1"/>
          </p:cNvSpPr>
          <p:nvPr/>
        </p:nvSpPr>
        <p:spPr>
          <a:xfrm xmlns:a="http://schemas.openxmlformats.org/drawingml/2006/main">
            <a:off x="609600" y="4419600"/>
            <a:ext cx="2343150" cy="685800"/>
          </a:xfrm>
          <a:prstGeom xmlns:a="http://schemas.openxmlformats.org/drawingml/2006/main" prst="rect">
            <a:avLst/>
          </a:prstGeom>
          <a:solidFill xmlns:a="http://schemas.openxmlformats.org/drawingml/2006/main">
            <a:srgbClr val="F7F5FB"/>
          </a:solidFill>
          <a:ln xmlns:a="http://schemas.openxmlformats.org/drawingml/2006/main" w="9525">
            <a:solidFill>
              <a:srgbClr val="DCD7E7"/>
            </a:solidFill>
            <a:prstDash val="solid"/>
          </a:ln>
        </p:spPr>
      </p:sp>
      <p:sp>
        <p:nvSpPr>
          <p:cNvPr id="32" name="">
            <a:extLst xmlns:a="http://schemas.openxmlformats.org/drawingml/2006/main">
              <a:ext uri="{FF2B5EF4-FFF2-40B4-BE49-F238E27FC236}">
                <a16:creationId xmlns:a16="http://schemas.microsoft.com/office/drawing/2014/main" id="{27E984FF-9B41-4328-946D-76DAD003D5F7}"/>
              </a:ext>
            </a:extLst>
          </p:cNvPr>
          <p:cNvSpPr>
            <a:spLocks xmlns:a="http://schemas.openxmlformats.org/drawingml/2006/main" noGrp="1"/>
          </p:cNvSpPr>
          <p:nvPr/>
        </p:nvSpPr>
        <p:spPr>
          <a:xfrm xmlns:a="http://schemas.openxmlformats.org/drawingml/2006/main">
            <a:off x="723900" y="4486275"/>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2B"/>
                </a:solidFill>
              </a:defRPr>
            </a:pPr>
            <a:r>
              <a:rPr sz="1200" b="1">
                <a:solidFill>
                  <a:srgbClr val="17212B"/>
                </a:solidFill>
              </a:rPr>
              <a:t>Dağıtım</a:t>
            </a:r>
          </a:p>
        </p:txBody>
      </p:sp>
      <p:sp>
        <p:nvSpPr>
          <p:cNvPr id="33" name="">
            <a:extLst xmlns:a="http://schemas.openxmlformats.org/drawingml/2006/main">
              <a:ext uri="{FF2B5EF4-FFF2-40B4-BE49-F238E27FC236}">
                <a16:creationId xmlns:a16="http://schemas.microsoft.com/office/drawing/2014/main" id="{8958072E-4935-4A96-9D69-7967C30E29D0}"/>
              </a:ext>
            </a:extLst>
          </p:cNvPr>
          <p:cNvSpPr>
            <a:spLocks xmlns:a="http://schemas.openxmlformats.org/drawingml/2006/main" noGrp="1"/>
          </p:cNvSpPr>
          <p:nvPr/>
        </p:nvSpPr>
        <p:spPr>
          <a:xfrm xmlns:a="http://schemas.openxmlformats.org/drawingml/2006/main">
            <a:off x="2952750" y="4419600"/>
            <a:ext cx="2876550" cy="685800"/>
          </a:xfrm>
          <a:prstGeom xmlns:a="http://schemas.openxmlformats.org/drawingml/2006/main" prst="rect">
            <a:avLst/>
          </a:prstGeom>
          <a:solidFill xmlns:a="http://schemas.openxmlformats.org/drawingml/2006/main">
            <a:srgbClr val="F7F5FB"/>
          </a:solidFill>
          <a:ln xmlns:a="http://schemas.openxmlformats.org/drawingml/2006/main" w="9525">
            <a:solidFill>
              <a:srgbClr val="DCD7E7"/>
            </a:solidFill>
            <a:prstDash val="solid"/>
          </a:ln>
        </p:spPr>
      </p:sp>
      <p:sp>
        <p:nvSpPr>
          <p:cNvPr id="34" name="">
            <a:extLst xmlns:a="http://schemas.openxmlformats.org/drawingml/2006/main">
              <a:ext uri="{FF2B5EF4-FFF2-40B4-BE49-F238E27FC236}">
                <a16:creationId xmlns:a16="http://schemas.microsoft.com/office/drawing/2014/main" id="{2CABA908-866C-497D-8126-21FDA6B4109D}"/>
              </a:ext>
            </a:extLst>
          </p:cNvPr>
          <p:cNvSpPr>
            <a:spLocks xmlns:a="http://schemas.openxmlformats.org/drawingml/2006/main" noGrp="1"/>
          </p:cNvSpPr>
          <p:nvPr/>
        </p:nvSpPr>
        <p:spPr>
          <a:xfrm xmlns:a="http://schemas.openxmlformats.org/drawingml/2006/main">
            <a:off x="3067050" y="44862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87181"/>
                </a:solidFill>
              </a:defRPr>
            </a:pPr>
            <a:r>
              <a:rPr sz="1200" b="0">
                <a:solidFill>
                  <a:srgbClr val="687181"/>
                </a:solidFill>
              </a:rPr>
              <a:t>SaaS / bölgesel hosting</a:t>
            </a:r>
          </a:p>
        </p:txBody>
      </p:sp>
      <p:sp>
        <p:nvSpPr>
          <p:cNvPr id="35" name="">
            <a:extLst xmlns:a="http://schemas.openxmlformats.org/drawingml/2006/main">
              <a:ext uri="{FF2B5EF4-FFF2-40B4-BE49-F238E27FC236}">
                <a16:creationId xmlns:a16="http://schemas.microsoft.com/office/drawing/2014/main" id="{91738AD6-1016-4D2B-B70F-C8C87E933548}"/>
              </a:ext>
            </a:extLst>
          </p:cNvPr>
          <p:cNvSpPr>
            <a:spLocks xmlns:a="http://schemas.openxmlformats.org/drawingml/2006/main" noGrp="1"/>
          </p:cNvSpPr>
          <p:nvPr/>
        </p:nvSpPr>
        <p:spPr>
          <a:xfrm xmlns:a="http://schemas.openxmlformats.org/drawingml/2006/main">
            <a:off x="5829300" y="4419600"/>
            <a:ext cx="2876550" cy="685800"/>
          </a:xfrm>
          <a:prstGeom xmlns:a="http://schemas.openxmlformats.org/drawingml/2006/main" prst="rect">
            <a:avLst/>
          </a:prstGeom>
          <a:solidFill xmlns:a="http://schemas.openxmlformats.org/drawingml/2006/main">
            <a:srgbClr val="F7F5FB"/>
          </a:solidFill>
          <a:ln xmlns:a="http://schemas.openxmlformats.org/drawingml/2006/main" w="9525">
            <a:solidFill>
              <a:srgbClr val="DCD7E7"/>
            </a:solidFill>
            <a:prstDash val="solid"/>
          </a:ln>
        </p:spPr>
      </p:sp>
      <p:sp>
        <p:nvSpPr>
          <p:cNvPr id="36" name="">
            <a:extLst xmlns:a="http://schemas.openxmlformats.org/drawingml/2006/main">
              <a:ext uri="{FF2B5EF4-FFF2-40B4-BE49-F238E27FC236}">
                <a16:creationId xmlns:a16="http://schemas.microsoft.com/office/drawing/2014/main" id="{6797D0B2-BAF5-409A-BF14-C54ED4A31495}"/>
              </a:ext>
            </a:extLst>
          </p:cNvPr>
          <p:cNvSpPr>
            <a:spLocks xmlns:a="http://schemas.openxmlformats.org/drawingml/2006/main" noGrp="1"/>
          </p:cNvSpPr>
          <p:nvPr/>
        </p:nvSpPr>
        <p:spPr>
          <a:xfrm xmlns:a="http://schemas.openxmlformats.org/drawingml/2006/main">
            <a:off x="5943600" y="44862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87181"/>
                </a:solidFill>
              </a:defRPr>
            </a:pPr>
            <a:r>
              <a:rPr sz="1200" b="0">
                <a:solidFill>
                  <a:srgbClr val="687181"/>
                </a:solidFill>
              </a:rPr>
              <a:t>SaaS ağırlıklı</a:t>
            </a:r>
          </a:p>
        </p:txBody>
      </p:sp>
      <p:sp>
        <p:nvSpPr>
          <p:cNvPr id="37" name="">
            <a:extLst xmlns:a="http://schemas.openxmlformats.org/drawingml/2006/main">
              <a:ext uri="{FF2B5EF4-FFF2-40B4-BE49-F238E27FC236}">
                <a16:creationId xmlns:a16="http://schemas.microsoft.com/office/drawing/2014/main" id="{47A2B4F6-211A-46DF-8F93-9D2BBE8519C7}"/>
              </a:ext>
            </a:extLst>
          </p:cNvPr>
          <p:cNvSpPr>
            <a:spLocks xmlns:a="http://schemas.openxmlformats.org/drawingml/2006/main" noGrp="1"/>
          </p:cNvSpPr>
          <p:nvPr/>
        </p:nvSpPr>
        <p:spPr>
          <a:xfrm xmlns:a="http://schemas.openxmlformats.org/drawingml/2006/main">
            <a:off x="8705850" y="4419600"/>
            <a:ext cx="2876550" cy="685800"/>
          </a:xfrm>
          <a:prstGeom xmlns:a="http://schemas.openxmlformats.org/drawingml/2006/main" prst="rect">
            <a:avLst/>
          </a:prstGeom>
          <a:solidFill xmlns:a="http://schemas.openxmlformats.org/drawingml/2006/main">
            <a:srgbClr val="EEE7FF"/>
          </a:solidFill>
          <a:ln xmlns:a="http://schemas.openxmlformats.org/drawingml/2006/main" w="9525">
            <a:solidFill>
              <a:srgbClr val="DCD7E7"/>
            </a:solidFill>
            <a:prstDash val="solid"/>
          </a:ln>
        </p:spPr>
      </p:sp>
      <p:sp>
        <p:nvSpPr>
          <p:cNvPr id="38" name="">
            <a:extLst xmlns:a="http://schemas.openxmlformats.org/drawingml/2006/main">
              <a:ext uri="{FF2B5EF4-FFF2-40B4-BE49-F238E27FC236}">
                <a16:creationId xmlns:a16="http://schemas.microsoft.com/office/drawing/2014/main" id="{C131E915-D79C-4FD5-8FC0-45D10B4C8546}"/>
              </a:ext>
            </a:extLst>
          </p:cNvPr>
          <p:cNvSpPr>
            <a:spLocks xmlns:a="http://schemas.openxmlformats.org/drawingml/2006/main" noGrp="1"/>
          </p:cNvSpPr>
          <p:nvPr/>
        </p:nvSpPr>
        <p:spPr>
          <a:xfrm xmlns:a="http://schemas.openxmlformats.org/drawingml/2006/main">
            <a:off x="8820150" y="44862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181"/>
                </a:solidFill>
              </a:defRPr>
            </a:pPr>
            <a:r>
              <a:rPr sz="1200" b="1">
                <a:solidFill>
                  <a:srgbClr val="687181"/>
                </a:solidFill>
              </a:rPr>
              <a:t>Public, private cloud, on-premise</a:t>
            </a:r>
          </a:p>
        </p:txBody>
      </p:sp>
      <p:sp>
        <p:nvSpPr>
          <p:cNvPr id="39" name="">
            <a:extLst xmlns:a="http://schemas.openxmlformats.org/drawingml/2006/main">
              <a:ext uri="{FF2B5EF4-FFF2-40B4-BE49-F238E27FC236}">
                <a16:creationId xmlns:a16="http://schemas.microsoft.com/office/drawing/2014/main" id="{B33BD235-1292-4B45-801C-DAB8675F4DCB}"/>
              </a:ext>
            </a:extLst>
          </p:cNvPr>
          <p:cNvSpPr>
            <a:spLocks xmlns:a="http://schemas.openxmlformats.org/drawingml/2006/main" noGrp="1"/>
          </p:cNvSpPr>
          <p:nvPr/>
        </p:nvSpPr>
        <p:spPr>
          <a:xfrm xmlns:a="http://schemas.openxmlformats.org/drawingml/2006/main">
            <a:off x="609600" y="5105400"/>
            <a:ext cx="23431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CD7E7"/>
            </a:solidFill>
            <a:prstDash val="solid"/>
          </a:ln>
        </p:spPr>
      </p:sp>
      <p:sp>
        <p:nvSpPr>
          <p:cNvPr id="40" name="">
            <a:extLst xmlns:a="http://schemas.openxmlformats.org/drawingml/2006/main">
              <a:ext uri="{FF2B5EF4-FFF2-40B4-BE49-F238E27FC236}">
                <a16:creationId xmlns:a16="http://schemas.microsoft.com/office/drawing/2014/main" id="{DA598F97-8DF9-40A2-9A6A-6297252E371B}"/>
              </a:ext>
            </a:extLst>
          </p:cNvPr>
          <p:cNvSpPr>
            <a:spLocks xmlns:a="http://schemas.openxmlformats.org/drawingml/2006/main" noGrp="1"/>
          </p:cNvSpPr>
          <p:nvPr/>
        </p:nvSpPr>
        <p:spPr>
          <a:xfrm xmlns:a="http://schemas.openxmlformats.org/drawingml/2006/main">
            <a:off x="723900" y="5172075"/>
            <a:ext cx="2114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2B"/>
                </a:solidFill>
              </a:defRPr>
            </a:pPr>
            <a:r>
              <a:rPr sz="1200" b="1">
                <a:solidFill>
                  <a:srgbClr val="17212B"/>
                </a:solidFill>
              </a:rPr>
              <a:t>Öne çıkan seçim gerekçesi</a:t>
            </a:r>
          </a:p>
        </p:txBody>
      </p:sp>
      <p:sp>
        <p:nvSpPr>
          <p:cNvPr id="41" name="">
            <a:extLst xmlns:a="http://schemas.openxmlformats.org/drawingml/2006/main">
              <a:ext uri="{FF2B5EF4-FFF2-40B4-BE49-F238E27FC236}">
                <a16:creationId xmlns:a16="http://schemas.microsoft.com/office/drawing/2014/main" id="{165F56C3-9D43-4AB6-9037-605D20665C25}"/>
              </a:ext>
            </a:extLst>
          </p:cNvPr>
          <p:cNvSpPr>
            <a:spLocks xmlns:a="http://schemas.openxmlformats.org/drawingml/2006/main" noGrp="1"/>
          </p:cNvSpPr>
          <p:nvPr/>
        </p:nvSpPr>
        <p:spPr>
          <a:xfrm xmlns:a="http://schemas.openxmlformats.org/drawingml/2006/main">
            <a:off x="2952750" y="5105400"/>
            <a:ext cx="28765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CD7E7"/>
            </a:solidFill>
            <a:prstDash val="solid"/>
          </a:ln>
        </p:spPr>
      </p:sp>
      <p:sp>
        <p:nvSpPr>
          <p:cNvPr id="42" name="">
            <a:extLst xmlns:a="http://schemas.openxmlformats.org/drawingml/2006/main">
              <a:ext uri="{FF2B5EF4-FFF2-40B4-BE49-F238E27FC236}">
                <a16:creationId xmlns:a16="http://schemas.microsoft.com/office/drawing/2014/main" id="{792A35BA-326C-4832-90B1-1A2A1513239C}"/>
              </a:ext>
            </a:extLst>
          </p:cNvPr>
          <p:cNvSpPr>
            <a:spLocks xmlns:a="http://schemas.openxmlformats.org/drawingml/2006/main" noGrp="1"/>
          </p:cNvSpPr>
          <p:nvPr/>
        </p:nvSpPr>
        <p:spPr>
          <a:xfrm xmlns:a="http://schemas.openxmlformats.org/drawingml/2006/main">
            <a:off x="3067050" y="51720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87181"/>
                </a:solidFill>
              </a:defRPr>
            </a:pPr>
            <a:r>
              <a:rPr sz="1200" b="0">
                <a:solidFill>
                  <a:srgbClr val="687181"/>
                </a:solidFill>
              </a:rPr>
              <a:t>Hızlı CX kurulumu</a:t>
            </a:r>
          </a:p>
        </p:txBody>
      </p:sp>
      <p:sp>
        <p:nvSpPr>
          <p:cNvPr id="43" name="">
            <a:extLst xmlns:a="http://schemas.openxmlformats.org/drawingml/2006/main">
              <a:ext uri="{FF2B5EF4-FFF2-40B4-BE49-F238E27FC236}">
                <a16:creationId xmlns:a16="http://schemas.microsoft.com/office/drawing/2014/main" id="{23542EA0-CF0C-47FE-9A20-A06951550867}"/>
              </a:ext>
            </a:extLst>
          </p:cNvPr>
          <p:cNvSpPr>
            <a:spLocks xmlns:a="http://schemas.openxmlformats.org/drawingml/2006/main" noGrp="1"/>
          </p:cNvSpPr>
          <p:nvPr/>
        </p:nvSpPr>
        <p:spPr>
          <a:xfrm xmlns:a="http://schemas.openxmlformats.org/drawingml/2006/main">
            <a:off x="5829300" y="5105400"/>
            <a:ext cx="28765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CD7E7"/>
            </a:solidFill>
            <a:prstDash val="solid"/>
          </a:ln>
        </p:spPr>
      </p:sp>
      <p:sp>
        <p:nvSpPr>
          <p:cNvPr id="44" name="">
            <a:extLst xmlns:a="http://schemas.openxmlformats.org/drawingml/2006/main">
              <a:ext uri="{FF2B5EF4-FFF2-40B4-BE49-F238E27FC236}">
                <a16:creationId xmlns:a16="http://schemas.microsoft.com/office/drawing/2014/main" id="{DEC0F4A1-230E-4FAF-B6EF-01EFB3E78898}"/>
              </a:ext>
            </a:extLst>
          </p:cNvPr>
          <p:cNvSpPr>
            <a:spLocks xmlns:a="http://schemas.openxmlformats.org/drawingml/2006/main" noGrp="1"/>
          </p:cNvSpPr>
          <p:nvPr/>
        </p:nvSpPr>
        <p:spPr>
          <a:xfrm xmlns:a="http://schemas.openxmlformats.org/drawingml/2006/main">
            <a:off x="5943600" y="51720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87181"/>
                </a:solidFill>
              </a:defRPr>
            </a:pPr>
            <a:r>
              <a:rPr sz="1200" b="0">
                <a:solidFill>
                  <a:srgbClr val="687181"/>
                </a:solidFill>
              </a:rPr>
              <a:t>Güçlü servis operasyonu</a:t>
            </a:r>
          </a:p>
        </p:txBody>
      </p:sp>
      <p:sp>
        <p:nvSpPr>
          <p:cNvPr id="45" name="">
            <a:extLst xmlns:a="http://schemas.openxmlformats.org/drawingml/2006/main">
              <a:ext uri="{FF2B5EF4-FFF2-40B4-BE49-F238E27FC236}">
                <a16:creationId xmlns:a16="http://schemas.microsoft.com/office/drawing/2014/main" id="{5D353390-9A6E-4AF1-BBFF-1DA56517A85C}"/>
              </a:ext>
            </a:extLst>
          </p:cNvPr>
          <p:cNvSpPr>
            <a:spLocks xmlns:a="http://schemas.openxmlformats.org/drawingml/2006/main" noGrp="1"/>
          </p:cNvSpPr>
          <p:nvPr/>
        </p:nvSpPr>
        <p:spPr>
          <a:xfrm xmlns:a="http://schemas.openxmlformats.org/drawingml/2006/main">
            <a:off x="8705850" y="5105400"/>
            <a:ext cx="2876550" cy="685800"/>
          </a:xfrm>
          <a:prstGeom xmlns:a="http://schemas.openxmlformats.org/drawingml/2006/main" prst="rect">
            <a:avLst/>
          </a:prstGeom>
          <a:solidFill xmlns:a="http://schemas.openxmlformats.org/drawingml/2006/main">
            <a:srgbClr val="EEE7FF"/>
          </a:solidFill>
          <a:ln xmlns:a="http://schemas.openxmlformats.org/drawingml/2006/main" w="9525">
            <a:solidFill>
              <a:srgbClr val="DCD7E7"/>
            </a:solidFill>
            <a:prstDash val="solid"/>
          </a:ln>
        </p:spPr>
      </p:sp>
      <p:sp>
        <p:nvSpPr>
          <p:cNvPr id="46" name="">
            <a:extLst xmlns:a="http://schemas.openxmlformats.org/drawingml/2006/main">
              <a:ext uri="{FF2B5EF4-FFF2-40B4-BE49-F238E27FC236}">
                <a16:creationId xmlns:a16="http://schemas.microsoft.com/office/drawing/2014/main" id="{EAD15931-4406-4109-937E-53A1ABD61401}"/>
              </a:ext>
            </a:extLst>
          </p:cNvPr>
          <p:cNvSpPr>
            <a:spLocks xmlns:a="http://schemas.openxmlformats.org/drawingml/2006/main" noGrp="1"/>
          </p:cNvSpPr>
          <p:nvPr/>
        </p:nvSpPr>
        <p:spPr>
          <a:xfrm xmlns:a="http://schemas.openxmlformats.org/drawingml/2006/main">
            <a:off x="8820150" y="5172075"/>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687181"/>
                </a:solidFill>
              </a:defRPr>
            </a:pPr>
            <a:r>
              <a:rPr sz="1200" b="1">
                <a:solidFill>
                  <a:srgbClr val="687181"/>
                </a:solidFill>
              </a:rPr>
              <a:t>Model, sistem ve dağıtım esnekliği</a:t>
            </a:r>
          </a:p>
        </p:txBody>
      </p:sp>
      <p:sp>
        <p:nvSpPr>
          <p:cNvPr id="47" name="">
            <a:extLst xmlns:a="http://schemas.openxmlformats.org/drawingml/2006/main">
              <a:ext uri="{FF2B5EF4-FFF2-40B4-BE49-F238E27FC236}">
                <a16:creationId xmlns:a16="http://schemas.microsoft.com/office/drawing/2014/main" id="{E003476D-FDC4-4D0D-9B22-1CBCD126E55A}"/>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87181"/>
                </a:solidFill>
              </a:defRPr>
            </a:pPr>
            <a:r>
              <a:rPr sz="750" b="0">
                <a:solidFill>
                  <a:srgbClr val="687181"/>
                </a:solidFill>
              </a:rPr>
              <a:t>Kaynak: Intercom Fin, Zendesk AI ve Orbina resmi ürün sayfaları — Haziran 2026</a:t>
            </a:r>
          </a:p>
        </p:txBody>
      </p:sp>
      <p:sp>
        <p:nvSpPr>
          <p:cNvPr id="48" name="">
            <a:extLst xmlns:a="http://schemas.openxmlformats.org/drawingml/2006/main">
              <a:ext uri="{FF2B5EF4-FFF2-40B4-BE49-F238E27FC236}">
                <a16:creationId xmlns:a16="http://schemas.microsoft.com/office/drawing/2014/main" id="{0EB41B73-AB05-447E-88B8-028BD6FC903E}"/>
              </a:ext>
            </a:extLst>
          </p:cNvPr>
          <p:cNvSpPr>
            <a:spLocks xmlns:a="http://schemas.openxmlformats.org/drawingml/2006/main" noGrp="1"/>
          </p:cNvSpPr>
          <p:nvPr/>
        </p:nvSpPr>
        <p:spPr>
          <a:xfrm xmlns:a="http://schemas.openxmlformats.org/drawingml/2006/main">
            <a:off x="10572750" y="6515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7212B"/>
                </a:solidFill>
              </a:defRPr>
            </a:pPr>
            <a:r>
              <a:rPr sz="900" b="1">
                <a:solidFill>
                  <a:srgbClr val="17212B"/>
                </a:solidFill>
              </a:rPr>
              <a:t>ORBINA</a:t>
            </a:r>
          </a:p>
        </p:txBody>
      </p:sp>
    </p:spTree>
    <p:extLst>
      <p:ext uri="{BB962C8B-B14F-4D97-AF65-F5344CB8AC3E}">
        <p14:creationId xmlns:p14="http://schemas.microsoft.com/office/powerpoint/2010/main" val="4728096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3CF6C3-9EE3-4AB4-9C1F-298803E43D76}"/>
              </a:ext>
            </a:extLst>
          </p:cNvPr>
          <p:cNvSpPr>
            <a:spLocks xmlns:a="http://schemas.openxmlformats.org/drawingml/2006/main" noGrp="1"/>
          </p:cNvSpPr>
          <p:nvPr/>
        </p:nvSpPr>
        <p:spPr>
          <a:xfrm xmlns:a="http://schemas.openxmlformats.org/drawingml/2006/main">
            <a:off x="609600" y="3619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35D5"/>
                </a:solidFill>
              </a:defRPr>
            </a:pPr>
            <a:r>
              <a:rPr sz="975" b="1">
                <a:solidFill>
                  <a:srgbClr val="6D35D5"/>
                </a:solidFill>
              </a:rPr>
              <a:t>30 SANIYELIK KONUŞMA METNI</a:t>
            </a:r>
          </a:p>
        </p:txBody>
      </p:sp>
      <p:sp>
        <p:nvSpPr>
          <p:cNvPr id="2" name="title-9">
            <a:extLst xmlns:a="http://schemas.openxmlformats.org/drawingml/2006/main">
              <a:ext uri="{FF2B5EF4-FFF2-40B4-BE49-F238E27FC236}">
                <a16:creationId xmlns:a16="http://schemas.microsoft.com/office/drawing/2014/main" id="{E848726F-FFD1-4EAB-A9CF-EB9ADD7654FF}"/>
              </a:ext>
            </a:extLst>
          </p:cNvPr>
          <p:cNvSpPr>
            <a:spLocks xmlns:a="http://schemas.openxmlformats.org/drawingml/2006/main" noGrp="1"/>
          </p:cNvSpPr>
          <p:nvPr/>
        </p:nvSpPr>
        <p:spPr>
          <a:xfrm xmlns:a="http://schemas.openxmlformats.org/drawingml/2006/main">
            <a:off x="609600" y="6667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7212B"/>
                </a:solidFill>
              </a:defRPr>
            </a:pPr>
            <a:r>
              <a:rPr sz="2700" b="1">
                <a:solidFill>
                  <a:srgbClr val="17212B"/>
                </a:solidFill>
              </a:rPr>
              <a:t>Müşteriye tek nefeste nasıl anlatılır?</a:t>
            </a:r>
          </a:p>
        </p:txBody>
      </p:sp>
      <p:sp>
        <p:nvSpPr>
          <p:cNvPr id="3" name="">
            <a:extLst xmlns:a="http://schemas.openxmlformats.org/drawingml/2006/main">
              <a:ext uri="{FF2B5EF4-FFF2-40B4-BE49-F238E27FC236}">
                <a16:creationId xmlns:a16="http://schemas.microsoft.com/office/drawing/2014/main" id="{F1841D61-0B9C-458D-B365-23B0F183DCAE}"/>
              </a:ext>
            </a:extLst>
          </p:cNvPr>
          <p:cNvSpPr>
            <a:spLocks xmlns:a="http://schemas.openxmlformats.org/drawingml/2006/main" noGrp="1"/>
          </p:cNvSpPr>
          <p:nvPr/>
        </p:nvSpPr>
        <p:spPr>
          <a:xfrm xmlns:a="http://schemas.openxmlformats.org/drawingml/2006/main">
            <a:off x="11191875" y="419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1"/>
                </a:solidFill>
              </a:defRPr>
            </a:pPr>
            <a:r>
              <a:rPr sz="975" b="1">
                <a:solidFill>
                  <a:srgbClr val="687181"/>
                </a:solidFill>
              </a:rPr>
              <a:t>09</a:t>
            </a:r>
          </a:p>
        </p:txBody>
      </p:sp>
      <p:sp>
        <p:nvSpPr>
          <p:cNvPr id="4" name="">
            <a:extLst xmlns:a="http://schemas.openxmlformats.org/drawingml/2006/main">
              <a:ext uri="{FF2B5EF4-FFF2-40B4-BE49-F238E27FC236}">
                <a16:creationId xmlns:a16="http://schemas.microsoft.com/office/drawing/2014/main" id="{561EA23C-204D-42F6-830C-8DA430E6E3EF}"/>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EEE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405819B-2F71-4018-967C-A47A4BC9056B}"/>
              </a:ext>
            </a:extLst>
          </p:cNvPr>
          <p:cNvSpPr>
            <a:spLocks xmlns:a="http://schemas.openxmlformats.org/drawingml/2006/main" noGrp="1"/>
          </p:cNvSpPr>
          <p:nvPr/>
        </p:nvSpPr>
        <p:spPr>
          <a:xfrm xmlns:a="http://schemas.openxmlformats.org/drawingml/2006/main">
            <a:off x="800100" y="1657350"/>
            <a:ext cx="10591800" cy="2476500"/>
          </a:xfrm>
          <a:prstGeom xmlns:a="http://schemas.openxmlformats.org/drawingml/2006/main" prst="roundRect">
            <a:avLst>
              <a:gd name="adj" fmla="val 6154"/>
            </a:avLst>
          </a:prstGeom>
          <a:solidFill xmlns:a="http://schemas.openxmlformats.org/drawingml/2006/main">
            <a:srgbClr val="10051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7E5C0C-4822-4AE4-B1E8-E832A1877E7C}"/>
              </a:ext>
            </a:extLst>
          </p:cNvPr>
          <p:cNvSpPr>
            <a:spLocks xmlns:a="http://schemas.openxmlformats.org/drawingml/2006/main" noGrp="1"/>
          </p:cNvSpPr>
          <p:nvPr/>
        </p:nvSpPr>
        <p:spPr>
          <a:xfrm xmlns:a="http://schemas.openxmlformats.org/drawingml/2006/main">
            <a:off x="1181100" y="1952625"/>
            <a:ext cx="98298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“Orbina, müşteriye yalnızca cevap veren bir bot değil; CRM, ERP, doküman ve operasyon sistemlerinin üzerinde çalışan bir AI orkestrasyon katmanıdır. Primary Orchestrator ne yapılacağına karar verir, Data Agent doğru veriyi toplar, Action Agent işlemi gerçekleştirir. RAG cevabı kurumun onaylı kaynaklarına dayandırır. Çözüm kendi altyapınızda da çalışabilir; GPUaaS yalnızca ihtiyaç duyduğunuz hesaplama kapasitesini esnek biçimde sağlar.”</a:t>
            </a:r>
          </a:p>
        </p:txBody>
      </p:sp>
      <p:sp>
        <p:nvSpPr>
          <p:cNvPr id="7" name="">
            <a:extLst xmlns:a="http://schemas.openxmlformats.org/drawingml/2006/main">
              <a:ext uri="{FF2B5EF4-FFF2-40B4-BE49-F238E27FC236}">
                <a16:creationId xmlns:a16="http://schemas.microsoft.com/office/drawing/2014/main" id="{C9417DF9-D1CB-4D2D-9712-712EBEBDD55D}"/>
              </a:ext>
            </a:extLst>
          </p:cNvPr>
          <p:cNvSpPr>
            <a:spLocks xmlns:a="http://schemas.openxmlformats.org/drawingml/2006/main" noGrp="1"/>
          </p:cNvSpPr>
          <p:nvPr/>
        </p:nvSpPr>
        <p:spPr>
          <a:xfrm xmlns:a="http://schemas.openxmlformats.org/drawingml/2006/main">
            <a:off x="800100" y="4648200"/>
            <a:ext cx="342900" cy="34290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9D1E98-8405-40DC-A1AF-2899466A7F8A}"/>
              </a:ext>
            </a:extLst>
          </p:cNvPr>
          <p:cNvSpPr>
            <a:spLocks xmlns:a="http://schemas.openxmlformats.org/drawingml/2006/main" noGrp="1"/>
          </p:cNvSpPr>
          <p:nvPr/>
        </p:nvSpPr>
        <p:spPr>
          <a:xfrm xmlns:a="http://schemas.openxmlformats.org/drawingml/2006/main">
            <a:off x="800100" y="46482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1</a:t>
            </a:r>
          </a:p>
        </p:txBody>
      </p:sp>
      <p:sp>
        <p:nvSpPr>
          <p:cNvPr id="9" name="">
            <a:extLst xmlns:a="http://schemas.openxmlformats.org/drawingml/2006/main">
              <a:ext uri="{FF2B5EF4-FFF2-40B4-BE49-F238E27FC236}">
                <a16:creationId xmlns:a16="http://schemas.microsoft.com/office/drawing/2014/main" id="{B5D49132-C5E1-4724-B426-E9A00A90A239}"/>
              </a:ext>
            </a:extLst>
          </p:cNvPr>
          <p:cNvSpPr>
            <a:spLocks xmlns:a="http://schemas.openxmlformats.org/drawingml/2006/main" noGrp="1"/>
          </p:cNvSpPr>
          <p:nvPr/>
        </p:nvSpPr>
        <p:spPr>
          <a:xfrm xmlns:a="http://schemas.openxmlformats.org/drawingml/2006/main">
            <a:off x="1295400" y="4514850"/>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7212B"/>
                </a:solidFill>
              </a:defRPr>
            </a:pPr>
            <a:r>
              <a:rPr sz="1275" b="1">
                <a:solidFill>
                  <a:srgbClr val="17212B"/>
                </a:solidFill>
              </a:rPr>
              <a:t>Hangi müşteri sürecini uçtan uca çözmek istiyoruz?</a:t>
            </a:r>
          </a:p>
        </p:txBody>
      </p:sp>
      <p:sp>
        <p:nvSpPr>
          <p:cNvPr id="10" name="">
            <a:extLst xmlns:a="http://schemas.openxmlformats.org/drawingml/2006/main">
              <a:ext uri="{FF2B5EF4-FFF2-40B4-BE49-F238E27FC236}">
                <a16:creationId xmlns:a16="http://schemas.microsoft.com/office/drawing/2014/main" id="{EA3273BA-6A6B-4A82-9D58-2B57CD3FCE9F}"/>
              </a:ext>
            </a:extLst>
          </p:cNvPr>
          <p:cNvSpPr>
            <a:spLocks xmlns:a="http://schemas.openxmlformats.org/drawingml/2006/main" noGrp="1"/>
          </p:cNvSpPr>
          <p:nvPr/>
        </p:nvSpPr>
        <p:spPr>
          <a:xfrm xmlns:a="http://schemas.openxmlformats.org/drawingml/2006/main">
            <a:off x="4343400" y="4648200"/>
            <a:ext cx="342900" cy="34290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F0C650-8E7B-4069-8599-370ADBB6A809}"/>
              </a:ext>
            </a:extLst>
          </p:cNvPr>
          <p:cNvSpPr>
            <a:spLocks xmlns:a="http://schemas.openxmlformats.org/drawingml/2006/main" noGrp="1"/>
          </p:cNvSpPr>
          <p:nvPr/>
        </p:nvSpPr>
        <p:spPr>
          <a:xfrm xmlns:a="http://schemas.openxmlformats.org/drawingml/2006/main">
            <a:off x="4343400" y="46482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2</a:t>
            </a:r>
          </a:p>
        </p:txBody>
      </p:sp>
      <p:sp>
        <p:nvSpPr>
          <p:cNvPr id="12" name="">
            <a:extLst xmlns:a="http://schemas.openxmlformats.org/drawingml/2006/main">
              <a:ext uri="{FF2B5EF4-FFF2-40B4-BE49-F238E27FC236}">
                <a16:creationId xmlns:a16="http://schemas.microsoft.com/office/drawing/2014/main" id="{2B08F0D9-B0E4-4672-AA13-F73B606AC4AC}"/>
              </a:ext>
            </a:extLst>
          </p:cNvPr>
          <p:cNvSpPr>
            <a:spLocks xmlns:a="http://schemas.openxmlformats.org/drawingml/2006/main" noGrp="1"/>
          </p:cNvSpPr>
          <p:nvPr/>
        </p:nvSpPr>
        <p:spPr>
          <a:xfrm xmlns:a="http://schemas.openxmlformats.org/drawingml/2006/main">
            <a:off x="4838700" y="4514850"/>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7212B"/>
                </a:solidFill>
              </a:defRPr>
            </a:pPr>
            <a:r>
              <a:rPr sz="1275" b="1">
                <a:solidFill>
                  <a:srgbClr val="17212B"/>
                </a:solidFill>
              </a:rPr>
              <a:t>Hangi sistemlerden veri okuyup hangilerinde aksiyon alacağız?</a:t>
            </a:r>
          </a:p>
        </p:txBody>
      </p:sp>
      <p:sp>
        <p:nvSpPr>
          <p:cNvPr id="13" name="">
            <a:extLst xmlns:a="http://schemas.openxmlformats.org/drawingml/2006/main">
              <a:ext uri="{FF2B5EF4-FFF2-40B4-BE49-F238E27FC236}">
                <a16:creationId xmlns:a16="http://schemas.microsoft.com/office/drawing/2014/main" id="{32321CC5-04FB-48FF-AEAC-6CBADB027A4D}"/>
              </a:ext>
            </a:extLst>
          </p:cNvPr>
          <p:cNvSpPr>
            <a:spLocks xmlns:a="http://schemas.openxmlformats.org/drawingml/2006/main" noGrp="1"/>
          </p:cNvSpPr>
          <p:nvPr/>
        </p:nvSpPr>
        <p:spPr>
          <a:xfrm xmlns:a="http://schemas.openxmlformats.org/drawingml/2006/main">
            <a:off x="7886700" y="4648200"/>
            <a:ext cx="342900" cy="34290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BA02573-CD5E-4C97-9A10-D07701D30B9A}"/>
              </a:ext>
            </a:extLst>
          </p:cNvPr>
          <p:cNvSpPr>
            <a:spLocks xmlns:a="http://schemas.openxmlformats.org/drawingml/2006/main" noGrp="1"/>
          </p:cNvSpPr>
          <p:nvPr/>
        </p:nvSpPr>
        <p:spPr>
          <a:xfrm xmlns:a="http://schemas.openxmlformats.org/drawingml/2006/main">
            <a:off x="7886700" y="46482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3</a:t>
            </a:r>
          </a:p>
        </p:txBody>
      </p:sp>
      <p:sp>
        <p:nvSpPr>
          <p:cNvPr id="15" name="">
            <a:extLst xmlns:a="http://schemas.openxmlformats.org/drawingml/2006/main">
              <a:ext uri="{FF2B5EF4-FFF2-40B4-BE49-F238E27FC236}">
                <a16:creationId xmlns:a16="http://schemas.microsoft.com/office/drawing/2014/main" id="{2304DE23-C7FB-449A-896F-FCD60C95E841}"/>
              </a:ext>
            </a:extLst>
          </p:cNvPr>
          <p:cNvSpPr>
            <a:spLocks xmlns:a="http://schemas.openxmlformats.org/drawingml/2006/main" noGrp="1"/>
          </p:cNvSpPr>
          <p:nvPr/>
        </p:nvSpPr>
        <p:spPr>
          <a:xfrm xmlns:a="http://schemas.openxmlformats.org/drawingml/2006/main">
            <a:off x="8382000" y="4514850"/>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7212B"/>
                </a:solidFill>
              </a:defRPr>
            </a:pPr>
            <a:r>
              <a:rPr sz="1275" b="1">
                <a:solidFill>
                  <a:srgbClr val="17212B"/>
                </a:solidFill>
              </a:rPr>
              <a:t>Hangi işlemler otomatik, hangileri insan onaylı olacak?</a:t>
            </a:r>
          </a:p>
        </p:txBody>
      </p:sp>
      <p:sp>
        <p:nvSpPr>
          <p:cNvPr id="16" name="">
            <a:extLst xmlns:a="http://schemas.openxmlformats.org/drawingml/2006/main">
              <a:ext uri="{FF2B5EF4-FFF2-40B4-BE49-F238E27FC236}">
                <a16:creationId xmlns:a16="http://schemas.microsoft.com/office/drawing/2014/main" id="{06C1DDD9-A269-4CD8-B0E3-ACB06619386E}"/>
              </a:ext>
            </a:extLst>
          </p:cNvPr>
          <p:cNvSpPr>
            <a:spLocks xmlns:a="http://schemas.openxmlformats.org/drawingml/2006/main" noGrp="1"/>
          </p:cNvSpPr>
          <p:nvPr/>
        </p:nvSpPr>
        <p:spPr>
          <a:xfrm xmlns:a="http://schemas.openxmlformats.org/drawingml/2006/main">
            <a:off x="800100" y="5695950"/>
            <a:ext cx="1059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6D35D5"/>
                </a:solidFill>
              </a:defRPr>
            </a:pPr>
            <a:r>
              <a:rPr sz="1575" b="1">
                <a:solidFill>
                  <a:srgbClr val="6D35D5"/>
                </a:solidFill>
              </a:rPr>
              <a:t>Doğru demo, özellik listesinden değil bu üç sorudan başlar.</a:t>
            </a:r>
          </a:p>
        </p:txBody>
      </p:sp>
      <p:sp>
        <p:nvSpPr>
          <p:cNvPr id="17" name="">
            <a:extLst xmlns:a="http://schemas.openxmlformats.org/drawingml/2006/main">
              <a:ext uri="{FF2B5EF4-FFF2-40B4-BE49-F238E27FC236}">
                <a16:creationId xmlns:a16="http://schemas.microsoft.com/office/drawing/2014/main" id="{7F80A123-8892-47C6-AC18-114B0D333EDC}"/>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87181"/>
                </a:solidFill>
              </a:defRPr>
            </a:pPr>
            <a:r>
              <a:rPr sz="750" b="0">
                <a:solidFill>
                  <a:srgbClr val="687181"/>
                </a:solidFill>
              </a:rPr>
              <a:t>Amaç: chatbot demosu değil, sonuçlandırılan iş süreci göstermek</a:t>
            </a:r>
          </a:p>
        </p:txBody>
      </p:sp>
      <p:sp>
        <p:nvSpPr>
          <p:cNvPr id="18" name="">
            <a:extLst xmlns:a="http://schemas.openxmlformats.org/drawingml/2006/main">
              <a:ext uri="{FF2B5EF4-FFF2-40B4-BE49-F238E27FC236}">
                <a16:creationId xmlns:a16="http://schemas.microsoft.com/office/drawing/2014/main" id="{43D35EA3-DEF7-4AB7-9747-A930DA7ECB2D}"/>
              </a:ext>
            </a:extLst>
          </p:cNvPr>
          <p:cNvSpPr>
            <a:spLocks xmlns:a="http://schemas.openxmlformats.org/drawingml/2006/main" noGrp="1"/>
          </p:cNvSpPr>
          <p:nvPr/>
        </p:nvSpPr>
        <p:spPr>
          <a:xfrm xmlns:a="http://schemas.openxmlformats.org/drawingml/2006/main">
            <a:off x="10572750" y="6515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7212B"/>
                </a:solidFill>
              </a:defRPr>
            </a:pPr>
            <a:r>
              <a:rPr sz="900" b="1">
                <a:solidFill>
                  <a:srgbClr val="17212B"/>
                </a:solidFill>
              </a:rPr>
              <a:t>ORBINA</a:t>
            </a:r>
          </a:p>
        </p:txBody>
      </p:sp>
    </p:spTree>
    <p:extLst>
      <p:ext uri="{BB962C8B-B14F-4D97-AF65-F5344CB8AC3E}">
        <p14:creationId xmlns:p14="http://schemas.microsoft.com/office/powerpoint/2010/main" val="15459118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B94132-0D2D-430D-9BBD-77A54CC629D1}"/>
              </a:ext>
            </a:extLst>
          </p:cNvPr>
          <p:cNvSpPr>
            <a:spLocks xmlns:a="http://schemas.openxmlformats.org/drawingml/2006/main" noGrp="1"/>
          </p:cNvSpPr>
          <p:nvPr/>
        </p:nvSpPr>
        <p:spPr>
          <a:xfrm xmlns:a="http://schemas.openxmlformats.org/drawingml/2006/main">
            <a:off x="609600" y="3619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35D5"/>
                </a:solidFill>
              </a:defRPr>
            </a:pPr>
            <a:r>
              <a:rPr sz="975" b="1">
                <a:solidFill>
                  <a:srgbClr val="6D35D5"/>
                </a:solidFill>
              </a:rPr>
              <a:t>REFERANS</a:t>
            </a:r>
          </a:p>
        </p:txBody>
      </p:sp>
      <p:sp>
        <p:nvSpPr>
          <p:cNvPr id="2" name="title-10">
            <a:extLst xmlns:a="http://schemas.openxmlformats.org/drawingml/2006/main">
              <a:ext uri="{FF2B5EF4-FFF2-40B4-BE49-F238E27FC236}">
                <a16:creationId xmlns:a16="http://schemas.microsoft.com/office/drawing/2014/main" id="{C84AF4AE-4A82-4EBF-9435-F87E37FCC821}"/>
              </a:ext>
            </a:extLst>
          </p:cNvPr>
          <p:cNvSpPr>
            <a:spLocks xmlns:a="http://schemas.openxmlformats.org/drawingml/2006/main" noGrp="1"/>
          </p:cNvSpPr>
          <p:nvPr/>
        </p:nvSpPr>
        <p:spPr>
          <a:xfrm xmlns:a="http://schemas.openxmlformats.org/drawingml/2006/main">
            <a:off x="609600" y="66675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7212B"/>
                </a:solidFill>
              </a:defRPr>
            </a:pPr>
            <a:r>
              <a:rPr sz="2700" b="1">
                <a:solidFill>
                  <a:srgbClr val="17212B"/>
                </a:solidFill>
              </a:rPr>
              <a:t>Kaynaklar ve kullanım notu</a:t>
            </a:r>
          </a:p>
        </p:txBody>
      </p:sp>
      <p:sp>
        <p:nvSpPr>
          <p:cNvPr id="3" name="">
            <a:extLst xmlns:a="http://schemas.openxmlformats.org/drawingml/2006/main">
              <a:ext uri="{FF2B5EF4-FFF2-40B4-BE49-F238E27FC236}">
                <a16:creationId xmlns:a16="http://schemas.microsoft.com/office/drawing/2014/main" id="{D25F5448-2E77-4667-A0D6-09D8667AD6B8}"/>
              </a:ext>
            </a:extLst>
          </p:cNvPr>
          <p:cNvSpPr>
            <a:spLocks xmlns:a="http://schemas.openxmlformats.org/drawingml/2006/main" noGrp="1"/>
          </p:cNvSpPr>
          <p:nvPr/>
        </p:nvSpPr>
        <p:spPr>
          <a:xfrm xmlns:a="http://schemas.openxmlformats.org/drawingml/2006/main">
            <a:off x="11191875" y="4191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687181"/>
                </a:solidFill>
              </a:defRPr>
            </a:pPr>
            <a:r>
              <a:rPr sz="975" b="1">
                <a:solidFill>
                  <a:srgbClr val="687181"/>
                </a:solidFill>
              </a:rPr>
              <a:t>10</a:t>
            </a:r>
          </a:p>
        </p:txBody>
      </p:sp>
      <p:sp>
        <p:nvSpPr>
          <p:cNvPr id="4" name="">
            <a:extLst xmlns:a="http://schemas.openxmlformats.org/drawingml/2006/main">
              <a:ext uri="{FF2B5EF4-FFF2-40B4-BE49-F238E27FC236}">
                <a16:creationId xmlns:a16="http://schemas.microsoft.com/office/drawing/2014/main" id="{517586A8-219D-4E86-ADA5-EC1071A24571}"/>
              </a:ext>
            </a:extLst>
          </p:cNvPr>
          <p:cNvSpPr>
            <a:spLocks xmlns:a="http://schemas.openxmlformats.org/drawingml/2006/main" noGrp="1"/>
          </p:cNvSpPr>
          <p:nvPr/>
        </p:nvSpPr>
        <p:spPr>
          <a:xfrm xmlns:a="http://schemas.openxmlformats.org/drawingml/2006/main">
            <a:off x="609600" y="1333500"/>
            <a:ext cx="10972800" cy="19050"/>
          </a:xfrm>
          <a:prstGeom xmlns:a="http://schemas.openxmlformats.org/drawingml/2006/main" prst="rect">
            <a:avLst/>
          </a:prstGeom>
          <a:solidFill xmlns:a="http://schemas.openxmlformats.org/drawingml/2006/main">
            <a:srgbClr val="EEE7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96EFE6D-9EB6-4F1C-95F0-17CCF3B1537A}"/>
              </a:ext>
            </a:extLst>
          </p:cNvPr>
          <p:cNvSpPr>
            <a:spLocks xmlns:a="http://schemas.openxmlformats.org/drawingml/2006/main" noGrp="1"/>
          </p:cNvSpPr>
          <p:nvPr/>
        </p:nvSpPr>
        <p:spPr>
          <a:xfrm xmlns:a="http://schemas.openxmlformats.org/drawingml/2006/main">
            <a:off x="609600" y="16764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212B"/>
                </a:solidFill>
              </a:defRPr>
            </a:pPr>
            <a:r>
              <a:rPr sz="1800" b="1">
                <a:solidFill>
                  <a:srgbClr val="17212B"/>
                </a:solidFill>
              </a:rPr>
              <a:t>Orbina kaynakları</a:t>
            </a:r>
          </a:p>
        </p:txBody>
      </p:sp>
      <p:sp>
        <p:nvSpPr>
          <p:cNvPr id="6" name="">
            <a:extLst xmlns:a="http://schemas.openxmlformats.org/drawingml/2006/main">
              <a:ext uri="{FF2B5EF4-FFF2-40B4-BE49-F238E27FC236}">
                <a16:creationId xmlns:a16="http://schemas.microsoft.com/office/drawing/2014/main" id="{AE4D18F8-4E02-472E-A10A-4E81A555B3C2}"/>
              </a:ext>
            </a:extLst>
          </p:cNvPr>
          <p:cNvSpPr>
            <a:spLocks xmlns:a="http://schemas.openxmlformats.org/drawingml/2006/main" noGrp="1"/>
          </p:cNvSpPr>
          <p:nvPr/>
        </p:nvSpPr>
        <p:spPr>
          <a:xfrm xmlns:a="http://schemas.openxmlformats.org/drawingml/2006/main">
            <a:off x="685800" y="2247900"/>
            <a:ext cx="114300" cy="11430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75E653E-6375-4D9A-83EC-23A2E07FAD50}"/>
              </a:ext>
            </a:extLst>
          </p:cNvPr>
          <p:cNvSpPr>
            <a:spLocks xmlns:a="http://schemas.openxmlformats.org/drawingml/2006/main" noGrp="1"/>
          </p:cNvSpPr>
          <p:nvPr/>
        </p:nvSpPr>
        <p:spPr>
          <a:xfrm xmlns:a="http://schemas.openxmlformats.org/drawingml/2006/main">
            <a:off x="933450" y="20955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Orbina CXOS · Sektörel Sunum.pdf</a:t>
            </a:r>
          </a:p>
        </p:txBody>
      </p:sp>
      <p:sp>
        <p:nvSpPr>
          <p:cNvPr id="8" name="">
            <a:extLst xmlns:a="http://schemas.openxmlformats.org/drawingml/2006/main">
              <a:ext uri="{FF2B5EF4-FFF2-40B4-BE49-F238E27FC236}">
                <a16:creationId xmlns:a16="http://schemas.microsoft.com/office/drawing/2014/main" id="{FD46DC0F-6677-4E18-9C5A-1DE3729FB50D}"/>
              </a:ext>
            </a:extLst>
          </p:cNvPr>
          <p:cNvSpPr>
            <a:spLocks xmlns:a="http://schemas.openxmlformats.org/drawingml/2006/main" noGrp="1"/>
          </p:cNvSpPr>
          <p:nvPr/>
        </p:nvSpPr>
        <p:spPr>
          <a:xfrm xmlns:a="http://schemas.openxmlformats.org/drawingml/2006/main">
            <a:off x="685800" y="2743200"/>
            <a:ext cx="114300" cy="11430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BE601B-9C8F-4009-877C-AF6478B95676}"/>
              </a:ext>
            </a:extLst>
          </p:cNvPr>
          <p:cNvSpPr>
            <a:spLocks xmlns:a="http://schemas.openxmlformats.org/drawingml/2006/main" noGrp="1"/>
          </p:cNvSpPr>
          <p:nvPr/>
        </p:nvSpPr>
        <p:spPr>
          <a:xfrm xmlns:a="http://schemas.openxmlformats.org/drawingml/2006/main">
            <a:off x="933450" y="25908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Orbina Shared.pdf</a:t>
            </a:r>
          </a:p>
        </p:txBody>
      </p:sp>
      <p:sp>
        <p:nvSpPr>
          <p:cNvPr id="10" name="">
            <a:extLst xmlns:a="http://schemas.openxmlformats.org/drawingml/2006/main">
              <a:ext uri="{FF2B5EF4-FFF2-40B4-BE49-F238E27FC236}">
                <a16:creationId xmlns:a16="http://schemas.microsoft.com/office/drawing/2014/main" id="{8312A1A1-F07F-491E-9E72-8FEDC7E0D8E7}"/>
              </a:ext>
            </a:extLst>
          </p:cNvPr>
          <p:cNvSpPr>
            <a:spLocks xmlns:a="http://schemas.openxmlformats.org/drawingml/2006/main" noGrp="1"/>
          </p:cNvSpPr>
          <p:nvPr/>
        </p:nvSpPr>
        <p:spPr>
          <a:xfrm xmlns:a="http://schemas.openxmlformats.org/drawingml/2006/main">
            <a:off x="685800" y="3238500"/>
            <a:ext cx="114300" cy="11430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5EF5D77-D77D-4BE2-A468-9DC98EE42696}"/>
              </a:ext>
            </a:extLst>
          </p:cNvPr>
          <p:cNvSpPr>
            <a:spLocks xmlns:a="http://schemas.openxmlformats.org/drawingml/2006/main" noGrp="1"/>
          </p:cNvSpPr>
          <p:nvPr/>
        </p:nvSpPr>
        <p:spPr>
          <a:xfrm xmlns:a="http://schemas.openxmlformats.org/drawingml/2006/main">
            <a:off x="933450" y="30861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Orbina Ürünleri İçin Müşteri Analizi-1.docx</a:t>
            </a:r>
          </a:p>
        </p:txBody>
      </p:sp>
      <p:sp>
        <p:nvSpPr>
          <p:cNvPr id="12" name="">
            <a:extLst xmlns:a="http://schemas.openxmlformats.org/drawingml/2006/main">
              <a:ext uri="{FF2B5EF4-FFF2-40B4-BE49-F238E27FC236}">
                <a16:creationId xmlns:a16="http://schemas.microsoft.com/office/drawing/2014/main" id="{C3E43E4D-EEF7-4D71-A1BE-30E539B23E58}"/>
              </a:ext>
            </a:extLst>
          </p:cNvPr>
          <p:cNvSpPr>
            <a:spLocks xmlns:a="http://schemas.openxmlformats.org/drawingml/2006/main" noGrp="1"/>
          </p:cNvSpPr>
          <p:nvPr/>
        </p:nvSpPr>
        <p:spPr>
          <a:xfrm xmlns:a="http://schemas.openxmlformats.org/drawingml/2006/main">
            <a:off x="685800" y="3733800"/>
            <a:ext cx="114300" cy="11430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62B00D0-2264-4A35-923D-435E480092A8}"/>
              </a:ext>
            </a:extLst>
          </p:cNvPr>
          <p:cNvSpPr>
            <a:spLocks xmlns:a="http://schemas.openxmlformats.org/drawingml/2006/main" noGrp="1"/>
          </p:cNvSpPr>
          <p:nvPr/>
        </p:nvSpPr>
        <p:spPr>
          <a:xfrm xmlns:a="http://schemas.openxmlformats.org/drawingml/2006/main">
            <a:off x="933450" y="35814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87181"/>
                </a:solidFill>
              </a:defRPr>
            </a:pPr>
            <a:r>
              <a:rPr sz="1275" b="1">
                <a:solidFill>
                  <a:srgbClr val="687181"/>
                </a:solidFill>
              </a:rPr>
              <a:t>orbina.ai — Platform Capabilities</a:t>
            </a:r>
          </a:p>
        </p:txBody>
      </p:sp>
      <p:sp>
        <p:nvSpPr>
          <p:cNvPr id="14" name="">
            <a:extLst xmlns:a="http://schemas.openxmlformats.org/drawingml/2006/main">
              <a:ext uri="{FF2B5EF4-FFF2-40B4-BE49-F238E27FC236}">
                <a16:creationId xmlns:a16="http://schemas.microsoft.com/office/drawing/2014/main" id="{8CDAAC01-5342-4209-B934-D7F08C098A62}"/>
              </a:ext>
            </a:extLst>
          </p:cNvPr>
          <p:cNvSpPr>
            <a:spLocks xmlns:a="http://schemas.openxmlformats.org/drawingml/2006/main" noGrp="1"/>
          </p:cNvSpPr>
          <p:nvPr/>
        </p:nvSpPr>
        <p:spPr>
          <a:xfrm xmlns:a="http://schemas.openxmlformats.org/drawingml/2006/main">
            <a:off x="6324600" y="16764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212B"/>
                </a:solidFill>
              </a:defRPr>
            </a:pPr>
            <a:r>
              <a:rPr sz="1800" b="1">
                <a:solidFill>
                  <a:srgbClr val="17212B"/>
                </a:solidFill>
              </a:rPr>
              <a:t>Rakip doğrulaması</a:t>
            </a:r>
          </a:p>
        </p:txBody>
      </p:sp>
      <p:sp>
        <p:nvSpPr>
          <p:cNvPr id="15" name="">
            <a:extLst xmlns:a="http://schemas.openxmlformats.org/drawingml/2006/main">
              <a:ext uri="{FF2B5EF4-FFF2-40B4-BE49-F238E27FC236}">
                <a16:creationId xmlns:a16="http://schemas.microsoft.com/office/drawing/2014/main" id="{4E557732-B9BE-408E-B7B6-079AC1815E57}"/>
              </a:ext>
            </a:extLst>
          </p:cNvPr>
          <p:cNvSpPr>
            <a:spLocks xmlns:a="http://schemas.openxmlformats.org/drawingml/2006/main" noGrp="1"/>
          </p:cNvSpPr>
          <p:nvPr/>
        </p:nvSpPr>
        <p:spPr>
          <a:xfrm xmlns:a="http://schemas.openxmlformats.org/drawingml/2006/main">
            <a:off x="6400800" y="2247900"/>
            <a:ext cx="114300" cy="11430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3F35C1B-473B-41BB-822F-7301D44DD513}"/>
              </a:ext>
            </a:extLst>
          </p:cNvPr>
          <p:cNvSpPr>
            <a:spLocks xmlns:a="http://schemas.openxmlformats.org/drawingml/2006/main" noGrp="1"/>
          </p:cNvSpPr>
          <p:nvPr/>
        </p:nvSpPr>
        <p:spPr>
          <a:xfrm xmlns:a="http://schemas.openxmlformats.org/drawingml/2006/main">
            <a:off x="6648450" y="209550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fin.ai — resmi Fin ürün sayfası</a:t>
            </a:r>
          </a:p>
        </p:txBody>
      </p:sp>
      <p:sp>
        <p:nvSpPr>
          <p:cNvPr id="17" name="">
            <a:extLst xmlns:a="http://schemas.openxmlformats.org/drawingml/2006/main">
              <a:ext uri="{FF2B5EF4-FFF2-40B4-BE49-F238E27FC236}">
                <a16:creationId xmlns:a16="http://schemas.microsoft.com/office/drawing/2014/main" id="{5B108A92-C4B3-4829-93DB-457811F24552}"/>
              </a:ext>
            </a:extLst>
          </p:cNvPr>
          <p:cNvSpPr>
            <a:spLocks xmlns:a="http://schemas.openxmlformats.org/drawingml/2006/main" noGrp="1"/>
          </p:cNvSpPr>
          <p:nvPr/>
        </p:nvSpPr>
        <p:spPr>
          <a:xfrm xmlns:a="http://schemas.openxmlformats.org/drawingml/2006/main">
            <a:off x="6400800" y="2743200"/>
            <a:ext cx="114300" cy="114300"/>
          </a:xfrm>
          <a:prstGeom xmlns:a="http://schemas.openxmlformats.org/drawingml/2006/main" prst="ellipse">
            <a:avLst/>
          </a:prstGeom>
          <a:solidFill xmlns:a="http://schemas.openxmlformats.org/drawingml/2006/main">
            <a:srgbClr val="6D35D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3894A93-22E2-40EF-8B97-74E481F0BE9A}"/>
              </a:ext>
            </a:extLst>
          </p:cNvPr>
          <p:cNvSpPr>
            <a:spLocks xmlns:a="http://schemas.openxmlformats.org/drawingml/2006/main" noGrp="1"/>
          </p:cNvSpPr>
          <p:nvPr/>
        </p:nvSpPr>
        <p:spPr>
          <a:xfrm xmlns:a="http://schemas.openxmlformats.org/drawingml/2006/main">
            <a:off x="6648450" y="259080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87181"/>
                </a:solidFill>
              </a:defRPr>
            </a:pPr>
            <a:r>
              <a:rPr sz="1275" b="0">
                <a:solidFill>
                  <a:srgbClr val="687181"/>
                </a:solidFill>
              </a:rPr>
              <a:t>zendesk.com/service/ai — resmi Zendesk AI sayfası</a:t>
            </a:r>
          </a:p>
        </p:txBody>
      </p:sp>
      <p:sp>
        <p:nvSpPr>
          <p:cNvPr id="19" name="">
            <a:extLst xmlns:a="http://schemas.openxmlformats.org/drawingml/2006/main">
              <a:ext uri="{FF2B5EF4-FFF2-40B4-BE49-F238E27FC236}">
                <a16:creationId xmlns:a16="http://schemas.microsoft.com/office/drawing/2014/main" id="{EED7625A-CE9E-43D8-92D8-C4CC9AB42919}"/>
              </a:ext>
            </a:extLst>
          </p:cNvPr>
          <p:cNvSpPr>
            <a:spLocks xmlns:a="http://schemas.openxmlformats.org/drawingml/2006/main" noGrp="1"/>
          </p:cNvSpPr>
          <p:nvPr/>
        </p:nvSpPr>
        <p:spPr>
          <a:xfrm xmlns:a="http://schemas.openxmlformats.org/drawingml/2006/main">
            <a:off x="6400800" y="3238500"/>
            <a:ext cx="114300" cy="114300"/>
          </a:xfrm>
          <a:prstGeom xmlns:a="http://schemas.openxmlformats.org/drawingml/2006/main" prst="ellipse">
            <a:avLst/>
          </a:prstGeom>
          <a:solidFill xmlns:a="http://schemas.openxmlformats.org/drawingml/2006/main">
            <a:srgbClr val="159B6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552151F-4120-47D1-A085-D2E5AE619DE2}"/>
              </a:ext>
            </a:extLst>
          </p:cNvPr>
          <p:cNvSpPr>
            <a:spLocks xmlns:a="http://schemas.openxmlformats.org/drawingml/2006/main" noGrp="1"/>
          </p:cNvSpPr>
          <p:nvPr/>
        </p:nvSpPr>
        <p:spPr>
          <a:xfrm xmlns:a="http://schemas.openxmlformats.org/drawingml/2006/main">
            <a:off x="6648450" y="308610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87181"/>
                </a:solidFill>
              </a:defRPr>
            </a:pPr>
            <a:r>
              <a:rPr sz="1275" b="1">
                <a:solidFill>
                  <a:srgbClr val="687181"/>
                </a:solidFill>
              </a:rPr>
              <a:t>Karşılaştırma ürün kategorisi ve dağıtım odağı düzeyindedir.</a:t>
            </a:r>
          </a:p>
        </p:txBody>
      </p:sp>
      <p:sp>
        <p:nvSpPr>
          <p:cNvPr id="21" name="">
            <a:extLst xmlns:a="http://schemas.openxmlformats.org/drawingml/2006/main">
              <a:ext uri="{FF2B5EF4-FFF2-40B4-BE49-F238E27FC236}">
                <a16:creationId xmlns:a16="http://schemas.microsoft.com/office/drawing/2014/main" id="{21089647-6C75-4AD5-AEB8-65B2DB27A839}"/>
              </a:ext>
            </a:extLst>
          </p:cNvPr>
          <p:cNvSpPr>
            <a:spLocks xmlns:a="http://schemas.openxmlformats.org/drawingml/2006/main" noGrp="1"/>
          </p:cNvSpPr>
          <p:nvPr/>
        </p:nvSpPr>
        <p:spPr>
          <a:xfrm xmlns:a="http://schemas.openxmlformats.org/drawingml/2006/main">
            <a:off x="609600" y="4495800"/>
            <a:ext cx="10972800" cy="1123950"/>
          </a:xfrm>
          <a:prstGeom xmlns:a="http://schemas.openxmlformats.org/drawingml/2006/main" prst="roundRect">
            <a:avLst>
              <a:gd name="adj" fmla="val 10169"/>
            </a:avLst>
          </a:prstGeom>
          <a:solidFill xmlns:a="http://schemas.openxmlformats.org/drawingml/2006/main">
            <a:srgbClr val="EEE7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63505B6-9919-45FF-8269-32F3844C319B}"/>
              </a:ext>
            </a:extLst>
          </p:cNvPr>
          <p:cNvSpPr>
            <a:spLocks xmlns:a="http://schemas.openxmlformats.org/drawingml/2006/main" noGrp="1"/>
          </p:cNvSpPr>
          <p:nvPr/>
        </p:nvSpPr>
        <p:spPr>
          <a:xfrm xmlns:a="http://schemas.openxmlformats.org/drawingml/2006/main">
            <a:off x="857250" y="46672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35D5"/>
                </a:solidFill>
              </a:defRPr>
            </a:pPr>
            <a:r>
              <a:rPr sz="1200" b="1">
                <a:solidFill>
                  <a:srgbClr val="6D35D5"/>
                </a:solidFill>
              </a:rPr>
              <a:t>Not</a:t>
            </a:r>
          </a:p>
        </p:txBody>
      </p:sp>
      <p:sp>
        <p:nvSpPr>
          <p:cNvPr id="23" name="">
            <a:extLst xmlns:a="http://schemas.openxmlformats.org/drawingml/2006/main">
              <a:ext uri="{FF2B5EF4-FFF2-40B4-BE49-F238E27FC236}">
                <a16:creationId xmlns:a16="http://schemas.microsoft.com/office/drawing/2014/main" id="{68645C68-41A3-4288-B4F1-F96E68CC78CC}"/>
              </a:ext>
            </a:extLst>
          </p:cNvPr>
          <p:cNvSpPr>
            <a:spLocks xmlns:a="http://schemas.openxmlformats.org/drawingml/2006/main" noGrp="1"/>
          </p:cNvSpPr>
          <p:nvPr/>
        </p:nvSpPr>
        <p:spPr>
          <a:xfrm xmlns:a="http://schemas.openxmlformats.org/drawingml/2006/main">
            <a:off x="857250" y="495300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212B"/>
                </a:solidFill>
              </a:defRPr>
            </a:pPr>
            <a:r>
              <a:rPr sz="1350" b="1">
                <a:solidFill>
                  <a:srgbClr val="17212B"/>
                </a:solidFill>
              </a:rPr>
              <a:t>Teknik mimari ve ürün yetenekleri zamanla değişebilir. Müşteri teklifinde dağıtım, sertifikasyon ve entegrasyon kapsamı ayrıca doğrulanmalıdır.</a:t>
            </a:r>
          </a:p>
        </p:txBody>
      </p:sp>
      <p:sp>
        <p:nvSpPr>
          <p:cNvPr id="24" name="">
            <a:extLst xmlns:a="http://schemas.openxmlformats.org/drawingml/2006/main">
              <a:ext uri="{FF2B5EF4-FFF2-40B4-BE49-F238E27FC236}">
                <a16:creationId xmlns:a16="http://schemas.microsoft.com/office/drawing/2014/main" id="{FBC8D2F3-5415-43FE-9932-57302BC45D6D}"/>
              </a:ext>
            </a:extLst>
          </p:cNvPr>
          <p:cNvSpPr>
            <a:spLocks xmlns:a="http://schemas.openxmlformats.org/drawingml/2006/main" noGrp="1"/>
          </p:cNvSpPr>
          <p:nvPr/>
        </p:nvSpPr>
        <p:spPr>
          <a:xfrm xmlns:a="http://schemas.openxmlformats.org/drawingml/2006/main">
            <a:off x="609600" y="65341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87181"/>
                </a:solidFill>
              </a:defRPr>
            </a:pPr>
            <a:r>
              <a:rPr sz="750" b="0">
                <a:solidFill>
                  <a:srgbClr val="687181"/>
                </a:solidFill>
              </a:rPr>
              <a:t>Hazırlanma tarihi: 25 Haziran 2026</a:t>
            </a:r>
          </a:p>
        </p:txBody>
      </p:sp>
      <p:sp>
        <p:nvSpPr>
          <p:cNvPr id="25" name="">
            <a:extLst xmlns:a="http://schemas.openxmlformats.org/drawingml/2006/main">
              <a:ext uri="{FF2B5EF4-FFF2-40B4-BE49-F238E27FC236}">
                <a16:creationId xmlns:a16="http://schemas.microsoft.com/office/drawing/2014/main" id="{91A53464-6D7A-4861-B8CB-6A63613BF589}"/>
              </a:ext>
            </a:extLst>
          </p:cNvPr>
          <p:cNvSpPr>
            <a:spLocks xmlns:a="http://schemas.openxmlformats.org/drawingml/2006/main" noGrp="1"/>
          </p:cNvSpPr>
          <p:nvPr/>
        </p:nvSpPr>
        <p:spPr>
          <a:xfrm xmlns:a="http://schemas.openxmlformats.org/drawingml/2006/main">
            <a:off x="10572750" y="651510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17212B"/>
                </a:solidFill>
              </a:defRPr>
            </a:pPr>
            <a:r>
              <a:rPr sz="900" b="1">
                <a:solidFill>
                  <a:srgbClr val="17212B"/>
                </a:solidFill>
              </a:rPr>
              <a:t>ORBINA</a:t>
            </a:r>
          </a:p>
        </p:txBody>
      </p:sp>
    </p:spTree>
    <p:extLst>
      <p:ext uri="{BB962C8B-B14F-4D97-AF65-F5344CB8AC3E}">
        <p14:creationId xmlns:p14="http://schemas.microsoft.com/office/powerpoint/2010/main" val="18809347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2026-06-25T12:39:09.5790000Z</dcterms:created>
  <dcterms:modified xsi:type="dcterms:W3CDTF">2026-06-25T12:39:09.5790000Z</dcterms:modified>
</coreProperties>
</file>